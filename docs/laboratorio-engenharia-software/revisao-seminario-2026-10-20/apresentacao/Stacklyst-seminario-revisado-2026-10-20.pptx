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1e64aebea94b5c" /><Relationship Type="http://schemas.openxmlformats.org/officeDocument/2006/relationships/extended-properties" Target="/docProps/app.xml" Id="Rec7d4f49a03c483b" /><Relationship Type="http://schemas.openxmlformats.org/officeDocument/2006/relationships/officeDocument" Target="/ppt/presentation.xml" Id="R8499ec06dbd940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5bb325fb134634"/>
  </p:sldMasterIdLst>
  <p:notesMasterIdLst>
    <p:notesMasterId xmlns:r="http://schemas.openxmlformats.org/officeDocument/2006/relationships" r:id="R30675a9243b04dda"/>
  </p:notesMasterIdLst>
  <p:sldIdLst>
    <p:sldId xmlns:r="http://schemas.openxmlformats.org/officeDocument/2006/relationships" id="256" r:id="Rf476fd1d9727468d"/>
    <p:sldId xmlns:r="http://schemas.openxmlformats.org/officeDocument/2006/relationships" id="257" r:id="R6aa46526609b4805"/>
    <p:sldId xmlns:r="http://schemas.openxmlformats.org/officeDocument/2006/relationships" id="258" r:id="R98ad346f125b4e63"/>
    <p:sldId xmlns:r="http://schemas.openxmlformats.org/officeDocument/2006/relationships" id="259" r:id="R3c82d6fa50bc457d"/>
    <p:sldId xmlns:r="http://schemas.openxmlformats.org/officeDocument/2006/relationships" id="260" r:id="R853ae8a0b21b4705"/>
    <p:sldId xmlns:r="http://schemas.openxmlformats.org/officeDocument/2006/relationships" id="261" r:id="Re909be7416894e2f"/>
    <p:sldId xmlns:r="http://schemas.openxmlformats.org/officeDocument/2006/relationships" id="262" r:id="Rcf26085c923c483c"/>
    <p:sldId xmlns:r="http://schemas.openxmlformats.org/officeDocument/2006/relationships" id="263" r:id="R4dfe49db0e694005"/>
    <p:sldId xmlns:r="http://schemas.openxmlformats.org/officeDocument/2006/relationships" id="264" r:id="R367113ec882c479e"/>
    <p:sldId xmlns:r="http://schemas.openxmlformats.org/officeDocument/2006/relationships" id="265" r:id="R3c055239cd224b7c"/>
    <p:sldId xmlns:r="http://schemas.openxmlformats.org/officeDocument/2006/relationships" id="266" r:id="Rf13487e8547c492d"/>
    <p:sldId xmlns:r="http://schemas.openxmlformats.org/officeDocument/2006/relationships" id="267" r:id="R7412907ce49146d1"/>
    <p:sldId xmlns:r="http://schemas.openxmlformats.org/officeDocument/2006/relationships" id="268" r:id="R229f60c28d534e13"/>
    <p:sldId xmlns:r="http://schemas.openxmlformats.org/officeDocument/2006/relationships" id="269" r:id="Rcadb875f251c4227"/>
    <p:sldId xmlns:r="http://schemas.openxmlformats.org/officeDocument/2006/relationships" id="270" r:id="Rae3cd62c08524eb0"/>
    <p:sldId xmlns:r="http://schemas.openxmlformats.org/officeDocument/2006/relationships" id="271" r:id="R7f3a56e6c83c4c82"/>
    <p:sldId xmlns:r="http://schemas.openxmlformats.org/officeDocument/2006/relationships" id="272" r:id="Rc41f74546d1648d8"/>
    <p:sldId xmlns:r="http://schemas.openxmlformats.org/officeDocument/2006/relationships" id="273" r:id="Rad7fadd1904b4b64"/>
    <p:sldId xmlns:r="http://schemas.openxmlformats.org/officeDocument/2006/relationships" id="274" r:id="R4efc6c016f1d4e46"/>
    <p:sldId xmlns:r="http://schemas.openxmlformats.org/officeDocument/2006/relationships" id="275" r:id="R5295fc6cc6e3486b"/>
    <p:sldId xmlns:r="http://schemas.openxmlformats.org/officeDocument/2006/relationships" id="276" r:id="R6c5271d84db74929"/>
    <p:sldId xmlns:r="http://schemas.openxmlformats.org/officeDocument/2006/relationships" id="277" r:id="Re03068852ec64d50"/>
    <p:sldId xmlns:r="http://schemas.openxmlformats.org/officeDocument/2006/relationships" id="278" r:id="R1ea6ca3900864424"/>
    <p:sldId xmlns:r="http://schemas.openxmlformats.org/officeDocument/2006/relationships" id="279" r:id="R262ca4e4b4b9430e"/>
    <p:sldId xmlns:r="http://schemas.openxmlformats.org/officeDocument/2006/relationships" id="280" r:id="R9189b231d7074ce5"/>
    <p:sldId xmlns:r="http://schemas.openxmlformats.org/officeDocument/2006/relationships" id="281" r:id="Rbca3fcb1651c40fc"/>
    <p:sldId xmlns:r="http://schemas.openxmlformats.org/officeDocument/2006/relationships" id="282" r:id="Rf1d4a5165f3f49cf"/>
    <p:sldId xmlns:r="http://schemas.openxmlformats.org/officeDocument/2006/relationships" id="283" r:id="R15167b80c8dd4345"/>
    <p:sldId xmlns:r="http://schemas.openxmlformats.org/officeDocument/2006/relationships" id="284" r:id="Rcba034d0bda545d6"/>
    <p:sldId xmlns:r="http://schemas.openxmlformats.org/officeDocument/2006/relationships" id="285" r:id="R1872b6008ff7465f"/>
    <p:sldId xmlns:r="http://schemas.openxmlformats.org/officeDocument/2006/relationships" id="286" r:id="Rec1fec0926b84e95"/>
    <p:sldId xmlns:r="http://schemas.openxmlformats.org/officeDocument/2006/relationships" id="287" r:id="Rd3374d90f4ca477a"/>
    <p:sldId xmlns:r="http://schemas.openxmlformats.org/officeDocument/2006/relationships" id="288" r:id="R55845ce525234b88"/>
    <p:sldId xmlns:r="http://schemas.openxmlformats.org/officeDocument/2006/relationships" id="289" r:id="R94905b6513a44b4c"/>
    <p:sldId xmlns:r="http://schemas.openxmlformats.org/officeDocument/2006/relationships" id="290" r:id="R9b8413859c914f54"/>
    <p:sldId xmlns:r="http://schemas.openxmlformats.org/officeDocument/2006/relationships" id="291" r:id="R9ba1ee30d44c47b6"/>
    <p:sldId xmlns:r="http://schemas.openxmlformats.org/officeDocument/2006/relationships" id="292" r:id="Rcf546c28fa494fd7"/>
    <p:sldId xmlns:r="http://schemas.openxmlformats.org/officeDocument/2006/relationships" id="293" r:id="R11bfd852a97a4a3b"/>
    <p:sldId xmlns:r="http://schemas.openxmlformats.org/officeDocument/2006/relationships" id="294" r:id="Ra700ad41ff924755"/>
    <p:sldId xmlns:r="http://schemas.openxmlformats.org/officeDocument/2006/relationships" id="295" r:id="R38c4338cf4ce417d"/>
    <p:sldId xmlns:r="http://schemas.openxmlformats.org/officeDocument/2006/relationships" id="296" r:id="R97320ad2cb41442c"/>
    <p:sldId xmlns:r="http://schemas.openxmlformats.org/officeDocument/2006/relationships" id="297" r:id="Rdcc1a2e3e0b4452e"/>
    <p:sldId xmlns:r="http://schemas.openxmlformats.org/officeDocument/2006/relationships" id="298" r:id="R1b245c0f81cf4252"/>
    <p:sldId xmlns:r="http://schemas.openxmlformats.org/officeDocument/2006/relationships" id="299" r:id="R1456d1f877f44372"/>
    <p:sldId xmlns:r="http://schemas.openxmlformats.org/officeDocument/2006/relationships" id="300" r:id="Rf4f0045fa1e54b75"/>
    <p:sldId xmlns:r="http://schemas.openxmlformats.org/officeDocument/2006/relationships" id="301" r:id="Ra7ae7ce9d6a149a0"/>
    <p:sldId xmlns:r="http://schemas.openxmlformats.org/officeDocument/2006/relationships" id="302" r:id="Rd0b05f5f19d14df8"/>
    <p:sldId xmlns:r="http://schemas.openxmlformats.org/officeDocument/2006/relationships" id="303" r:id="R7ad6e57e38744c32"/>
    <p:sldId xmlns:r="http://schemas.openxmlformats.org/officeDocument/2006/relationships" id="304" r:id="R163a801222bb4259"/>
    <p:sldId xmlns:r="http://schemas.openxmlformats.org/officeDocument/2006/relationships" id="305" r:id="R944c8a1ed8fb4ba8"/>
    <p:sldId xmlns:r="http://schemas.openxmlformats.org/officeDocument/2006/relationships" id="306" r:id="R6b019f29315140ba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37e2cf2bd44cd4" /><Relationship Type="http://schemas.openxmlformats.org/officeDocument/2006/relationships/slideMaster" Target="/ppt/slideMasters/slideMaster1.xml" Id="R525bb325fb134634" /><Relationship Type="http://schemas.openxmlformats.org/officeDocument/2006/relationships/notesMaster" Target="/ppt/notesMasters/notesMaster1.xml" Id="R30675a9243b04dda" /><Relationship Type="http://schemas.openxmlformats.org/officeDocument/2006/relationships/presProps" Target="/ppt/presProps.xml" Id="R9b1671faecb94b83" /><Relationship Type="http://schemas.openxmlformats.org/officeDocument/2006/relationships/tableStyles" Target="/ppt/tableStyles.xml" Id="Rba8ba433113945c6" /><Relationship Type="http://schemas.openxmlformats.org/officeDocument/2006/relationships/slide" Target="/ppt/slides/slide1.xml" Id="Rf476fd1d9727468d" /><Relationship Type="http://schemas.openxmlformats.org/officeDocument/2006/relationships/slide" Target="/ppt/slides/slide2.xml" Id="R6aa46526609b4805" /><Relationship Type="http://schemas.openxmlformats.org/officeDocument/2006/relationships/slide" Target="/ppt/slides/slide3.xml" Id="R98ad346f125b4e63" /><Relationship Type="http://schemas.openxmlformats.org/officeDocument/2006/relationships/slide" Target="/ppt/slides/slide4.xml" Id="R3c82d6fa50bc457d" /><Relationship Type="http://schemas.openxmlformats.org/officeDocument/2006/relationships/slide" Target="/ppt/slides/slide5.xml" Id="R853ae8a0b21b4705" /><Relationship Type="http://schemas.openxmlformats.org/officeDocument/2006/relationships/slide" Target="/ppt/slides/slide6.xml" Id="Re909be7416894e2f" /><Relationship Type="http://schemas.openxmlformats.org/officeDocument/2006/relationships/slide" Target="/ppt/slides/slide7.xml" Id="Rcf26085c923c483c" /><Relationship Type="http://schemas.openxmlformats.org/officeDocument/2006/relationships/slide" Target="/ppt/slides/slide8.xml" Id="R4dfe49db0e694005" /><Relationship Type="http://schemas.openxmlformats.org/officeDocument/2006/relationships/slide" Target="/ppt/slides/slide9.xml" Id="R367113ec882c479e" /><Relationship Type="http://schemas.openxmlformats.org/officeDocument/2006/relationships/slide" Target="/ppt/slides/slide10.xml" Id="R3c055239cd224b7c" /><Relationship Type="http://schemas.openxmlformats.org/officeDocument/2006/relationships/slide" Target="/ppt/slides/slide11.xml" Id="Rf13487e8547c492d" /><Relationship Type="http://schemas.openxmlformats.org/officeDocument/2006/relationships/slide" Target="/ppt/slides/slide12.xml" Id="R7412907ce49146d1" /><Relationship Type="http://schemas.openxmlformats.org/officeDocument/2006/relationships/slide" Target="/ppt/slides/slide13.xml" Id="R229f60c28d534e13" /><Relationship Type="http://schemas.openxmlformats.org/officeDocument/2006/relationships/slide" Target="/ppt/slides/slide14.xml" Id="Rcadb875f251c4227" /><Relationship Type="http://schemas.openxmlformats.org/officeDocument/2006/relationships/slide" Target="/ppt/slides/slide15.xml" Id="Rae3cd62c08524eb0" /><Relationship Type="http://schemas.openxmlformats.org/officeDocument/2006/relationships/slide" Target="/ppt/slides/slide16.xml" Id="R7f3a56e6c83c4c82" /><Relationship Type="http://schemas.openxmlformats.org/officeDocument/2006/relationships/slide" Target="/ppt/slides/slide17.xml" Id="Rc41f74546d1648d8" /><Relationship Type="http://schemas.openxmlformats.org/officeDocument/2006/relationships/slide" Target="/ppt/slides/slide18.xml" Id="Rad7fadd1904b4b64" /><Relationship Type="http://schemas.openxmlformats.org/officeDocument/2006/relationships/slide" Target="/ppt/slides/slide19.xml" Id="R4efc6c016f1d4e46" /><Relationship Type="http://schemas.openxmlformats.org/officeDocument/2006/relationships/slide" Target="/ppt/slides/slide20.xml" Id="R5295fc6cc6e3486b" /><Relationship Type="http://schemas.openxmlformats.org/officeDocument/2006/relationships/slide" Target="/ppt/slides/slide21.xml" Id="R6c5271d84db74929" /><Relationship Type="http://schemas.openxmlformats.org/officeDocument/2006/relationships/slide" Target="/ppt/slides/slide22.xml" Id="Re03068852ec64d50" /><Relationship Type="http://schemas.openxmlformats.org/officeDocument/2006/relationships/slide" Target="/ppt/slides/slide23.xml" Id="R1ea6ca3900864424" /><Relationship Type="http://schemas.openxmlformats.org/officeDocument/2006/relationships/slide" Target="/ppt/slides/slide24.xml" Id="R262ca4e4b4b9430e" /><Relationship Type="http://schemas.openxmlformats.org/officeDocument/2006/relationships/slide" Target="/ppt/slides/slide25.xml" Id="R9189b231d7074ce5" /><Relationship Type="http://schemas.openxmlformats.org/officeDocument/2006/relationships/slide" Target="/ppt/slides/slide26.xml" Id="Rbca3fcb1651c40fc" /><Relationship Type="http://schemas.openxmlformats.org/officeDocument/2006/relationships/slide" Target="/ppt/slides/slide27.xml" Id="Rf1d4a5165f3f49cf" /><Relationship Type="http://schemas.openxmlformats.org/officeDocument/2006/relationships/slide" Target="/ppt/slides/slide28.xml" Id="R15167b80c8dd4345" /><Relationship Type="http://schemas.openxmlformats.org/officeDocument/2006/relationships/slide" Target="/ppt/slides/slide29.xml" Id="Rcba034d0bda545d6" /><Relationship Type="http://schemas.openxmlformats.org/officeDocument/2006/relationships/slide" Target="/ppt/slides/slide30.xml" Id="R1872b6008ff7465f" /><Relationship Type="http://schemas.openxmlformats.org/officeDocument/2006/relationships/slide" Target="/ppt/slides/slide31.xml" Id="Rec1fec0926b84e95" /><Relationship Type="http://schemas.openxmlformats.org/officeDocument/2006/relationships/slide" Target="/ppt/slides/slide32.xml" Id="Rd3374d90f4ca477a" /><Relationship Type="http://schemas.openxmlformats.org/officeDocument/2006/relationships/slide" Target="/ppt/slides/slide33.xml" Id="R55845ce525234b88" /><Relationship Type="http://schemas.openxmlformats.org/officeDocument/2006/relationships/slide" Target="/ppt/slides/slide34.xml" Id="R94905b6513a44b4c" /><Relationship Type="http://schemas.openxmlformats.org/officeDocument/2006/relationships/slide" Target="/ppt/slides/slide35.xml" Id="R9b8413859c914f54" /><Relationship Type="http://schemas.openxmlformats.org/officeDocument/2006/relationships/slide" Target="/ppt/slides/slide36.xml" Id="R9ba1ee30d44c47b6" /><Relationship Type="http://schemas.openxmlformats.org/officeDocument/2006/relationships/slide" Target="/ppt/slides/slide37.xml" Id="Rcf546c28fa494fd7" /><Relationship Type="http://schemas.openxmlformats.org/officeDocument/2006/relationships/slide" Target="/ppt/slides/slide38.xml" Id="R11bfd852a97a4a3b" /><Relationship Type="http://schemas.openxmlformats.org/officeDocument/2006/relationships/slide" Target="/ppt/slides/slide39.xml" Id="Ra700ad41ff924755" /><Relationship Type="http://schemas.openxmlformats.org/officeDocument/2006/relationships/slide" Target="/ppt/slides/slide40.xml" Id="R38c4338cf4ce417d" /><Relationship Type="http://schemas.openxmlformats.org/officeDocument/2006/relationships/slide" Target="/ppt/slides/slide41.xml" Id="R97320ad2cb41442c" /><Relationship Type="http://schemas.openxmlformats.org/officeDocument/2006/relationships/slide" Target="/ppt/slides/slide42.xml" Id="Rdcc1a2e3e0b4452e" /><Relationship Type="http://schemas.openxmlformats.org/officeDocument/2006/relationships/slide" Target="/ppt/slides/slide43.xml" Id="R1b245c0f81cf4252" /><Relationship Type="http://schemas.openxmlformats.org/officeDocument/2006/relationships/slide" Target="/ppt/slides/slide44.xml" Id="R1456d1f877f44372" /><Relationship Type="http://schemas.openxmlformats.org/officeDocument/2006/relationships/slide" Target="/ppt/slides/slide45.xml" Id="Rf4f0045fa1e54b75" /><Relationship Type="http://schemas.openxmlformats.org/officeDocument/2006/relationships/slide" Target="/ppt/slides/slide46.xml" Id="Ra7ae7ce9d6a149a0" /><Relationship Type="http://schemas.openxmlformats.org/officeDocument/2006/relationships/slide" Target="/ppt/slides/slide47.xml" Id="Rd0b05f5f19d14df8" /><Relationship Type="http://schemas.openxmlformats.org/officeDocument/2006/relationships/slide" Target="/ppt/slides/slide48.xml" Id="R7ad6e57e38744c32" /><Relationship Type="http://schemas.openxmlformats.org/officeDocument/2006/relationships/slide" Target="/ppt/slides/slide49.xml" Id="R163a801222bb4259" /><Relationship Type="http://schemas.openxmlformats.org/officeDocument/2006/relationships/slide" Target="/ppt/slides/slide50.xml" Id="R944c8a1ed8fb4ba8" /><Relationship Type="http://schemas.openxmlformats.org/officeDocument/2006/relationships/slide" Target="/ppt/slides/slide51.xml" Id="R6b019f29315140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98e13035ed4e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fc73af0c334f68" /><Relationship Type="http://schemas.openxmlformats.org/officeDocument/2006/relationships/notesMaster" Target="/ppt/notesMasters/notesMaster1.xml" Id="Rb3c169ee1d1e44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60e52ac4914b24" /><Relationship Type="http://schemas.openxmlformats.org/officeDocument/2006/relationships/notesMaster" Target="/ppt/notesMasters/notesMaster1.xml" Id="R87c57d7b71ca4c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4a1467258d442a" /><Relationship Type="http://schemas.openxmlformats.org/officeDocument/2006/relationships/notesMaster" Target="/ppt/notesMasters/notesMaster1.xml" Id="R942b4b5495cf49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39e84bb85949bd" /><Relationship Type="http://schemas.openxmlformats.org/officeDocument/2006/relationships/notesMaster" Target="/ppt/notesMasters/notesMaster1.xml" Id="R30b65caa41ff4a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25f9f8ea3a483b" /><Relationship Type="http://schemas.openxmlformats.org/officeDocument/2006/relationships/notesMaster" Target="/ppt/notesMasters/notesMaster1.xml" Id="Rcbf6118cb1554c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c81c83b317464b" /><Relationship Type="http://schemas.openxmlformats.org/officeDocument/2006/relationships/notesMaster" Target="/ppt/notesMasters/notesMaster1.xml" Id="R2f0fd998fc7840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beaca87e184eb8" /><Relationship Type="http://schemas.openxmlformats.org/officeDocument/2006/relationships/notesMaster" Target="/ppt/notesMasters/notesMaster1.xml" Id="R75d5d2dc75e543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8f39c615e3486a" /><Relationship Type="http://schemas.openxmlformats.org/officeDocument/2006/relationships/notesMaster" Target="/ppt/notesMasters/notesMaster1.xml" Id="Rbe9622e48d224b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84ac591e0b469e" /><Relationship Type="http://schemas.openxmlformats.org/officeDocument/2006/relationships/notesMaster" Target="/ppt/notesMasters/notesMaster1.xml" Id="R97faa7a6fe884e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a37b7033f84a2e" /><Relationship Type="http://schemas.openxmlformats.org/officeDocument/2006/relationships/notesMaster" Target="/ppt/notesMasters/notesMaster1.xml" Id="R97cece7a20ae45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db2de689444cff" /><Relationship Type="http://schemas.openxmlformats.org/officeDocument/2006/relationships/notesMaster" Target="/ppt/notesMasters/notesMaster1.xml" Id="R97fce84fdab541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595042b0a54a83" /><Relationship Type="http://schemas.openxmlformats.org/officeDocument/2006/relationships/notesMaster" Target="/ppt/notesMasters/notesMaster1.xml" Id="Ra729fb582b01488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5d0abb37ff84b9b" /><Relationship Type="http://schemas.openxmlformats.org/officeDocument/2006/relationships/notesMaster" Target="/ppt/notesMasters/notesMaster1.xml" Id="Ra1dc4e431fc845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e9a16e27709476c" /><Relationship Type="http://schemas.openxmlformats.org/officeDocument/2006/relationships/notesMaster" Target="/ppt/notesMasters/notesMaster1.xml" Id="R4dd0ad43cd3f455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4263238c5f4533" /><Relationship Type="http://schemas.openxmlformats.org/officeDocument/2006/relationships/notesMaster" Target="/ppt/notesMasters/notesMaster1.xml" Id="R6285f10f9a964dc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1bd8fdda3bd4154" /><Relationship Type="http://schemas.openxmlformats.org/officeDocument/2006/relationships/notesMaster" Target="/ppt/notesMasters/notesMaster1.xml" Id="Rd9eb32cfdb84494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16c3e51101342a1" /><Relationship Type="http://schemas.openxmlformats.org/officeDocument/2006/relationships/notesMaster" Target="/ppt/notesMasters/notesMaster1.xml" Id="R070789072db546b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a87699788f242c5" /><Relationship Type="http://schemas.openxmlformats.org/officeDocument/2006/relationships/notesMaster" Target="/ppt/notesMasters/notesMaster1.xml" Id="R8e08318e219043b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d597a1df8f541bc" /><Relationship Type="http://schemas.openxmlformats.org/officeDocument/2006/relationships/notesMaster" Target="/ppt/notesMasters/notesMaster1.xml" Id="Rf22ad816095d4e6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8ffae6751b540d8" /><Relationship Type="http://schemas.openxmlformats.org/officeDocument/2006/relationships/notesMaster" Target="/ppt/notesMasters/notesMaster1.xml" Id="R2d974add8605495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8718270bca94c1a" /><Relationship Type="http://schemas.openxmlformats.org/officeDocument/2006/relationships/notesMaster" Target="/ppt/notesMasters/notesMaster1.xml" Id="Rb021e6191347448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c35d2ecb06f453f" /><Relationship Type="http://schemas.openxmlformats.org/officeDocument/2006/relationships/notesMaster" Target="/ppt/notesMasters/notesMaster1.xml" Id="R3f08820564674e2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9f6149a9c274547" /><Relationship Type="http://schemas.openxmlformats.org/officeDocument/2006/relationships/notesMaster" Target="/ppt/notesMasters/notesMaster1.xml" Id="Raf5f88e769a1498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0af3716df35435d" /><Relationship Type="http://schemas.openxmlformats.org/officeDocument/2006/relationships/notesMaster" Target="/ppt/notesMasters/notesMaster1.xml" Id="Rb3d60bdd6b6b4ed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b267a2c5d3a4235" /><Relationship Type="http://schemas.openxmlformats.org/officeDocument/2006/relationships/notesMaster" Target="/ppt/notesMasters/notesMaster1.xml" Id="R355138359ae743c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f0e9faab98e4aaf" /><Relationship Type="http://schemas.openxmlformats.org/officeDocument/2006/relationships/notesMaster" Target="/ppt/notesMasters/notesMaster1.xml" Id="R03946f1022ef4a3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39f9639e0404eaa" /><Relationship Type="http://schemas.openxmlformats.org/officeDocument/2006/relationships/notesMaster" Target="/ppt/notesMasters/notesMaster1.xml" Id="Rdf47ec245b87449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de213099e0b4925" /><Relationship Type="http://schemas.openxmlformats.org/officeDocument/2006/relationships/notesMaster" Target="/ppt/notesMasters/notesMaster1.xml" Id="Rf0e304fd534e432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cec8375660b4c90" /><Relationship Type="http://schemas.openxmlformats.org/officeDocument/2006/relationships/notesMaster" Target="/ppt/notesMasters/notesMaster1.xml" Id="R55f49a7c3fa64c0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bbbce0f75334124" /><Relationship Type="http://schemas.openxmlformats.org/officeDocument/2006/relationships/notesMaster" Target="/ppt/notesMasters/notesMaster1.xml" Id="R9e0ece7255da40e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0608818c21d4404" /><Relationship Type="http://schemas.openxmlformats.org/officeDocument/2006/relationships/notesMaster" Target="/ppt/notesMasters/notesMaster1.xml" Id="R773a5696a5a34db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98483035fcd4425" /><Relationship Type="http://schemas.openxmlformats.org/officeDocument/2006/relationships/notesMaster" Target="/ppt/notesMasters/notesMaster1.xml" Id="Rb5d16648910847d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3908aaad8374b39" /><Relationship Type="http://schemas.openxmlformats.org/officeDocument/2006/relationships/notesMaster" Target="/ppt/notesMasters/notesMaster1.xml" Id="Re69c956eab6443c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91e3186adcd43ea" /><Relationship Type="http://schemas.openxmlformats.org/officeDocument/2006/relationships/notesMaster" Target="/ppt/notesMasters/notesMaster1.xml" Id="R5fbc9c4712914b3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0b63d995c9040df" /><Relationship Type="http://schemas.openxmlformats.org/officeDocument/2006/relationships/notesMaster" Target="/ppt/notesMasters/notesMaster1.xml" Id="Rd775477be0fc4cc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507e63fbf1a4471" /><Relationship Type="http://schemas.openxmlformats.org/officeDocument/2006/relationships/notesMaster" Target="/ppt/notesMasters/notesMaster1.xml" Id="Rbd602f717f24403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392b9b038544117" /><Relationship Type="http://schemas.openxmlformats.org/officeDocument/2006/relationships/notesMaster" Target="/ppt/notesMasters/notesMaster1.xml" Id="R302aaf0d611246f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46ea3d3a9d54829" /><Relationship Type="http://schemas.openxmlformats.org/officeDocument/2006/relationships/notesMaster" Target="/ppt/notesMasters/notesMaster1.xml" Id="R22b88b2a54e3492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ce4dec586da4e59" /><Relationship Type="http://schemas.openxmlformats.org/officeDocument/2006/relationships/notesMaster" Target="/ppt/notesMasters/notesMaster1.xml" Id="R0040785a7c27411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0a174a5acb24d89" /><Relationship Type="http://schemas.openxmlformats.org/officeDocument/2006/relationships/notesMaster" Target="/ppt/notesMasters/notesMaster1.xml" Id="R0586e5a1d8994c7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12c16e688e74409" /><Relationship Type="http://schemas.openxmlformats.org/officeDocument/2006/relationships/notesMaster" Target="/ppt/notesMasters/notesMaster1.xml" Id="R67ecacc8141e46a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87f169ed78e4ae7" /><Relationship Type="http://schemas.openxmlformats.org/officeDocument/2006/relationships/notesMaster" Target="/ppt/notesMasters/notesMaster1.xml" Id="R971cb3c6defc428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f496d80679f44dd" /><Relationship Type="http://schemas.openxmlformats.org/officeDocument/2006/relationships/notesMaster" Target="/ppt/notesMasters/notesMaster1.xml" Id="R7a313e5cf9a64af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67b50d571a14755" /><Relationship Type="http://schemas.openxmlformats.org/officeDocument/2006/relationships/notesMaster" Target="/ppt/notesMasters/notesMaster1.xml" Id="R62639058fb4347d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3ccc29e068d4a42" /><Relationship Type="http://schemas.openxmlformats.org/officeDocument/2006/relationships/notesMaster" Target="/ppt/notesMasters/notesMaster1.xml" Id="R11eaba6a3d6f424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2ea2485941d94e44" /><Relationship Type="http://schemas.openxmlformats.org/officeDocument/2006/relationships/notesMaster" Target="/ppt/notesMasters/notesMaster1.xml" Id="R2018e6b04baa4122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09e02a955854c37" /><Relationship Type="http://schemas.openxmlformats.org/officeDocument/2006/relationships/notesMaster" Target="/ppt/notesMasters/notesMaster1.xml" Id="R7ff8611f0bb94dd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dd4268a2416d4b26" /><Relationship Type="http://schemas.openxmlformats.org/officeDocument/2006/relationships/notesMaster" Target="/ppt/notesMasters/notesMaster1.xml" Id="Rb7a2ba22d014476d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32ab05efa5b84022" /><Relationship Type="http://schemas.openxmlformats.org/officeDocument/2006/relationships/notesMaster" Target="/ppt/notesMasters/notesMaster1.xml" Id="R807cd81623ae45be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dfaad7fd206844bf" /><Relationship Type="http://schemas.openxmlformats.org/officeDocument/2006/relationships/notesMaster" Target="/ppt/notesMasters/notesMaster1.xml" Id="Rc485e602aa584c21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6838c6bbc6db462c" /><Relationship Type="http://schemas.openxmlformats.org/officeDocument/2006/relationships/notesMaster" Target="/ppt/notesMasters/notesMaster1.xml" Id="R84a290e8e1c847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Grupo. Tempo de referência: 40 segundos.</a:t>
            </a:r>
          </a:p>
          <a:p xmlns:a="http://schemas.openxmlformats.org/drawingml/2006/main">
            <a:r>
              <a:t>Apresentar o grupo, o objetivo do sistema e a ordem de demonstração. Os nomes e responsabilidades provêm do documento de visão, seção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Grupo. Tempo de referência: 60 segundos.</a:t>
            </a:r>
          </a:p>
          <a:p xmlns:a="http://schemas.openxmlformats.org/drawingml/2006/main">
            <a:r>
              <a:t>Fonte: documento 01, problema, objetivos e escopo. A demonstração seleciona aprendizagem e recrutamento. Demais funcionalidades permanecem documentadas.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Grupo. Tempo de referência: 45 segundos.</a:t>
            </a:r>
          </a:p>
          <a:p xmlns:a="http://schemas.openxmlformats.org/drawingml/2006/main">
            <a:r>
              <a:t>Divisão proposta para o ensaio. Diagramas gerais de classes, MER e DER são mostrados somente por Pedro. Todos apresentam protótipo, RF/RNF/RN, classe e banco específicos, sequência completa, sequência com código e prática. Reservar dados auxiliares previamente.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Grupo. Tempo de referência: 40 segundos.</a:t>
            </a:r>
          </a:p>
          <a:p xmlns:a="http://schemas.openxmlformats.org/drawingml/2006/main">
            <a:r>
              <a:t>Fonte: documento 02 atualizado, seção 3. Organizar o estudo e verificar se o conteúdo foi compreendido e aplicado.</a:t>
            </a:r>
          </a:p>
          <a:p xmlns:a="http://schemas.openxmlformats.org/drawingml/2006/main">
            <a:r>
              <a:t>O fluxo representa trabalho humano, inclusive fora do sistema. A imagem foi reutilizada do documento, com recorte apenas da aba superior que ainda exibia AN01. A identificação no slide segue a numeração atual AN01.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Grupo. Tempo de referência: 40 segundos.</a:t>
            </a:r>
          </a:p>
          <a:p xmlns:a="http://schemas.openxmlformats.org/drawingml/2006/main">
            <a:r>
              <a:t>Fonte: documento 02 atualizado, seção 3. Resolver um problema, testar exemplos e compreender os erros encontrados.</a:t>
            </a:r>
          </a:p>
          <a:p xmlns:a="http://schemas.openxmlformats.org/drawingml/2006/main">
            <a:r>
              <a:t>O fluxo representa trabalho humano, inclusive fora do sistema. A imagem foi reutilizada do documento, com recorte apenas da aba superior que ainda exibia AN03. A identificação no slide segue a numeração atual AN02.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Grupo. Tempo de referência: 40 segundos.</a:t>
            </a:r>
          </a:p>
          <a:p xmlns:a="http://schemas.openxmlformats.org/drawingml/2006/main">
            <a:r>
              <a:t>Fonte: documento 02 atualizado, seção 3. Comparar os resultados aos objetivos e ajustar o planejamento de estudo.</a:t>
            </a:r>
          </a:p>
          <a:p xmlns:a="http://schemas.openxmlformats.org/drawingml/2006/main">
            <a:r>
              <a:t>O fluxo representa trabalho humano, inclusive fora do sistema. A imagem foi reutilizada do documento, com recorte apenas da aba superior que ainda exibia AN04. A identificação no slide segue a numeração atual AN03.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Grupo. Tempo de referência: 40 segundos.</a:t>
            </a:r>
          </a:p>
          <a:p xmlns:a="http://schemas.openxmlformats.org/drawingml/2006/main">
            <a:r>
              <a:t>Fonte: documento 02 atualizado, seção 3. Esclarecer uma dúvida e conferir a explicação em um exemplo.</a:t>
            </a:r>
          </a:p>
          <a:p xmlns:a="http://schemas.openxmlformats.org/drawingml/2006/main">
            <a:r>
              <a:t>O fluxo representa trabalho humano, inclusive fora do sistema. A imagem foi reutilizada do documento, com recorte apenas da aba superior que ainda exibia AN06. A identificação no slide segue a numeração atual AN04.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Grupo. Tempo de referência: 40 segundos.</a:t>
            </a:r>
          </a:p>
          <a:p xmlns:a="http://schemas.openxmlformats.org/drawingml/2006/main">
            <a:r>
              <a:t>Fonte: documento 02 atualizado, seção 3. Definir e divulgar uma oportunidade profissional com informações conferidas.</a:t>
            </a:r>
          </a:p>
          <a:p xmlns:a="http://schemas.openxmlformats.org/drawingml/2006/main">
            <a:r>
              <a:t>O fluxo representa trabalho humano, inclusive fora do sistema. A imagem foi reutilizada do documento, com recorte apenas da aba superior que ainda exibia AN08A. A identificação no slide segue a numeração atual AN05A.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Grupo. Tempo de referência: 40 segundos.</a:t>
            </a:r>
          </a:p>
          <a:p xmlns:a="http://schemas.openxmlformats.org/drawingml/2006/main">
            <a:r>
              <a:t>Fonte: documento 02 atualizado, seção 3. Enviar o currículo e acompanhar as etapas e o resultado da seleção.</a:t>
            </a:r>
          </a:p>
          <a:p xmlns:a="http://schemas.openxmlformats.org/drawingml/2006/main">
            <a:r>
              <a:t>O fluxo representa trabalho humano, inclusive fora do sistema. A imagem foi reutilizada do documento, com recorte apenas da aba superior que ainda exibia AN08B. A identificação no slide segue a numeração atual AN05B.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Grupo. Tempo de referência: 40 segundos.</a:t>
            </a:r>
          </a:p>
          <a:p xmlns:a="http://schemas.openxmlformats.org/drawingml/2006/main">
            <a:r>
              <a:t>Fonte: documento 02 atualizado, seção 3. Encontrar um evento e organizar a inscrição e a participação.</a:t>
            </a:r>
          </a:p>
          <a:p xmlns:a="http://schemas.openxmlformats.org/drawingml/2006/main">
            <a:r>
              <a:t>O fluxo representa trabalho humano, inclusive fora do sistema. A imagem foi reutilizada do documento, com recorte apenas da aba superior que ainda exibia AN09. A identificação no slide segue a numeração atual AN06.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Grupo. Tempo de referência: 45 segundos.</a:t>
            </a:r>
          </a:p>
          <a:p xmlns:a="http://schemas.openxmlformats.org/drawingml/2006/main">
            <a:r>
              <a:t>Fonte: documento 04, seção 4.1. Contagem visual: 18 elipses. O inventário escrito contém 56 especificações; a imagem geral é uma visão selecionada. Não confundir quantidade de elementos desta vista com quantidade de especificações. A nota da fonte identifica rótulos históricos UC057/058/059: UC022 candidatura, UC023 participação em evento, UC026 notificação interna. Cadastro e login não exigem sessão. UC011 consulta ranking. Os recortes seguintes ampliam a mesma imagem.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Grupo. Tempo de referência: 35 segundos.</a:t>
            </a:r>
          </a:p>
          <a:p xmlns:a="http://schemas.openxmlformats.org/drawingml/2006/main">
            <a:r>
              <a:t>Fonte: documento 04, seção 4.1. Parte superior da mesma imagem geral. Cadastrar conta e fazer login são operações públicas. Os demais fluxos protegidos pressupõem sessão.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Grupo. Tempo de referência: 35 segundos.</a:t>
            </a:r>
          </a:p>
          <a:p xmlns:a="http://schemas.openxmlformats.org/drawingml/2006/main">
            <a:r>
              <a:t>Fonte: documento 04, seção 4.1 e nota de correspondência. Parte inferior da mesma imagem. UC058 corresponde à candidatura UC022, UC059 à participação UC023. A notificação ao candidato integra UC026.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Pedro Antonio Silvestre Tescaro. Tempo de referência: 40 segundos.</a:t>
            </a:r>
          </a:p>
          <a:p xmlns:a="http://schemas.openxmlformats.org/drawingml/2006/main">
            <a:r>
              <a:t>Fonte visual: documento 04 / UC005, referência visual da especificação. A captura representa a interface documentada.</a:t>
            </a:r>
          </a:p>
          <a:p xmlns:a="http://schemas.openxmlformats.org/drawingml/2006/main">
            <a:r>
              <a:t>No protótipo: conteúdo conceitual e navegação entre as etapas da lição.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Pedro Antonio Silvestre Tescaro. Tempo de referência: 40 segundos.</a:t>
            </a:r>
          </a:p>
          <a:p xmlns:a="http://schemas.openxmlformats.org/drawingml/2006/main">
            <a:r>
              <a:t>Fonte visual: documento 04 / UC006, referência visual da especificação. A captura representa a interface documentada.</a:t>
            </a:r>
          </a:p>
          <a:p xmlns:a="http://schemas.openxmlformats.org/drawingml/2006/main">
            <a:r>
              <a:t>No protótipo: enunciado, alternativas, validação da resposta e retorno de XP.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Pedro Antonio Silvestre Tescaro. Tempo de referência: 72 segundos.</a:t>
            </a:r>
          </a:p>
          <a:p xmlns:a="http://schemas.openxmlformats.org/drawingml/2006/main">
            <a:r>
              <a:t>Fonte: documento 03, seções 4, 5 e 6. RF indicam comportamento. RNF são critérios de aceitação, não resultados de homologação.</a:t>
            </a:r>
          </a:p>
          <a:p xmlns:a="http://schemas.openxmlformats.org/drawingml/2006/main">
            <a:r>
              <a:t>RF007: Exibir uma lição em página própria com etapas interativas.</a:t>
            </a:r>
          </a:p>
          <a:p xmlns:a="http://schemas.openxmlformats.org/drawingml/2006/main">
            <a:r>
              <a:t>RF008: Receber e avaliar respostas em diferentes tipos de interação, distinguindo o teste de código da submissão da atividade.</a:t>
            </a:r>
          </a:p>
          <a:p xmlns:a="http://schemas.openxmlformats.org/drawingml/2006/main">
            <a:r>
              <a:t>RF009: Persistir respostas e derivar conclusão e desbloqueio de lições.</a:t>
            </a:r>
          </a:p>
          <a:p xmlns:a="http://schemas.openxmlformats.org/drawingml/2006/main">
            <a:r>
              <a:t>RNF009: A execução de código deve possuir timeout e limite de payload.</a:t>
            </a:r>
          </a:p>
          <a:p xmlns:a="http://schemas.openxmlformats.org/drawingml/2006/main">
            <a:r>
              <a:t>RNF014: XP e progresso devem ser atualizados atomicamente e sem duplicidade.</a:t>
            </a:r>
          </a:p>
          <a:p xmlns:a="http://schemas.openxmlformats.org/drawingml/2006/main">
            <a:r>
              <a:t>RN001: XP somente é concedido após atividade válida e confirmada; repetir a mesma tentativa não gera nova recompensa.</a:t>
            </a:r>
          </a:p>
          <a:p xmlns:a="http://schemas.openxmlformats.org/drawingml/2006/main">
            <a:r>
              <a:t>RN029: Uma lição pode ser iniciada quando seus pré-requisitos estiverem cumpridos. Lições já concluídas podem ser revisitadas; a revisão não duplica a recompensa da mesma atividade.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Pedro Antonio Silvestre Tescaro. Tempo de referência: 56 segundos.</a:t>
            </a:r>
          </a:p>
          <a:p xmlns:a="http://schemas.openxmlformats.org/drawingml/2006/main">
            <a:r>
              <a:t>Fonte: Stacklyst-seminario-revisado.asta / CL00. Explicar os conceitos e as associações. Os rótulos do modelo estão em português. Identificadores de implementação aparecem somente nas capturas de código.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Pedro Antonio Silvestre Tescaro. Tempo de referência: 36 segundos.</a:t>
            </a:r>
          </a:p>
          <a:p xmlns:a="http://schemas.openxmlformats.org/drawingml/2006/main">
            <a:r>
              <a:t>Fonte: Stacklyst-seminario-revisado.asta / MER00. Explicar entidades, relacionamentos e cardinalidades sem chaves estrangeiras. O DER seguinte apresenta a visão relacional.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Pedro Antonio Silvestre Tescaro. Tempo de referência: 56 segundos.</a:t>
            </a:r>
          </a:p>
          <a:p xmlns:a="http://schemas.openxmlformats.org/drawingml/2006/main">
            <a:r>
              <a:t>Fonte: Stacklyst-seminario-revisado.asta / DER00. Vista panorâmica das 47 entidades do modelo persistido. Os slides específicos ampliam as tabelas dos fluxos apresentados. PK: chave primária. FK: chave estrangeira. Fonte: prisma/schema.prisma.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Pedro Antonio Silvestre Tescaro. Tempo de referência: 28 segundos.</a:t>
            </a:r>
          </a:p>
          <a:p xmlns:a="http://schemas.openxmlformats.org/drawingml/2006/main">
            <a:r>
              <a:t>Fonte: documento 04, seção 4.13. A visão identifica o ator e o objetivo. A ordem das chamadas será explicada no diagrama de sequência.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Pedro Antonio Silvestre Tescaro. Tempo de referência: 40 segundos.</a:t>
            </a:r>
          </a:p>
          <a:p xmlns:a="http://schemas.openxmlformats.org/drawingml/2006/main">
            <a:r>
              <a:t>Fonte: Stacklyst-seminario-revisado.asta / CL01. Distinguir conteúdo do catálogo e registros persistidos. Lição e etapa não devem ser confundidas com tabelas de exercícios de outro fluxo.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Pedro Antonio Silvestre Tescaro. Tempo de referência: 40 segundos.</a:t>
            </a:r>
          </a:p>
          <a:p xmlns:a="http://schemas.openxmlformats.org/drawingml/2006/main">
            <a:r>
              <a:t>Fonte: Stacklyst-seminario-revisado.asta / DER01. Fonte: Quiz e QuizAttempt no schema e saveLessonAssessment no código. O fluxo apresentado é a lição do catálogo, sem mode=workspace.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Pedro Antonio Silvestre Tescaro. Tempo de referência: 56 segundos.</a:t>
            </a:r>
          </a:p>
          <a:p xmlns:a="http://schemas.openxmlformats.org/drawingml/2006/main">
            <a:r>
              <a:t>Fonte: Stacklyst-seminario-revisado.asta / SQ01. Percorrer do envio da resposta à exibição do resultado. Explicar as variações nos recortes seguintes: testar não grava conclusão nem concede XP. Indisponibilidade do executor retorna erro controlado. Repetição não duplica recompensa.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Pedro Antonio Silvestre Tescaro. Tempo de referência: 56 segundos.</a:t>
            </a:r>
          </a:p>
          <a:p xmlns:a="http://schemas.openxmlformats.org/drawingml/2006/main">
            <a:r>
              <a:t>Fonte código: src/app/api/lessons/[lessonId]/attempt/route.ts, linhas 17–25. Commit bdbc861542626c512f5e0c2d51b2fc9cdc05d6fa.</a:t>
            </a:r>
          </a:p>
          <a:p xmlns:a="http://schemas.openxmlformats.org/drawingml/2006/main">
            <a:r>
              <a:t>Validar resposta, localizar lição e etapa, verificar acesso e solicitar avaliação.</a:t>
            </a:r>
          </a:p>
          <a:p xmlns:a="http://schemas.openxmlformats.org/drawingml/2006/main">
            <a:r>
              <a:t>Mensagens do recorte: Validar resposta; Verificar acesso à lição; Avaliar etapa.</a:t>
            </a:r>
          </a:p>
          <a:p xmlns:a="http://schemas.openxmlformats.org/drawingml/2006/main">
            <a:r>
              <a:t>O diagrama usa nomes do domínio em português. A captura preserva os identificadores originais do código.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Pedro Antonio Silvestre Tescaro. Tempo de referência: 56 segundos.</a:t>
            </a:r>
          </a:p>
          <a:p xmlns:a="http://schemas.openxmlformats.org/drawingml/2006/main">
            <a:r>
              <a:t>Fonte código: src/app/api/lessons/[lessonId]/attempt/route.ts, linhas 26–40. Commit bdbc861542626c512f5e0c2d51b2fc9cdc05d6fa.</a:t>
            </a:r>
          </a:p>
          <a:p xmlns:a="http://schemas.openxmlformats.org/drawingml/2006/main">
            <a:r>
              <a:t>Tratar indisponibilidade, separar teste de envio e persistir avaliação antes da resposta.</a:t>
            </a:r>
          </a:p>
          <a:p xmlns:a="http://schemas.openxmlformats.org/drawingml/2006/main">
            <a:r>
              <a:t>Mensagens do recorte: Tratar indisponibilidade; Salvar avaliação se envio definitivo; Devolver resultado e progresso.</a:t>
            </a:r>
          </a:p>
          <a:p xmlns:a="http://schemas.openxmlformats.org/drawingml/2006/main">
            <a:r>
              <a:t>O diagrama usa nomes do domínio em português. A captura preserva os identificadores originais do código.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Pedro Antonio Silvestre Tescaro. Tempo de referência: 56 segundos.</a:t>
            </a:r>
          </a:p>
          <a:p xmlns:a="http://schemas.openxmlformats.org/drawingml/2006/main">
            <a:r>
              <a:t>Fonte código: src/lib/learning/lesson-progress.ts, linhas 55–62, 75–84. Commit bdbc861542626c512f5e0c2d51b2fc9cdc05d6fa.</a:t>
            </a:r>
          </a:p>
          <a:p xmlns:a="http://schemas.openxmlformats.org/drawingml/2006/main">
            <a:r>
              <a:t>Localizar conclusão anterior e gravar a tentativa com XP calculado na transação.</a:t>
            </a:r>
          </a:p>
          <a:p xmlns:a="http://schemas.openxmlformats.org/drawingml/2006/main">
            <a:r>
              <a:t>Mensagens do recorte: Consultar tentativas; Calcular XP da primeira conclusão; Registrar tentativa.</a:t>
            </a:r>
          </a:p>
          <a:p xmlns:a="http://schemas.openxmlformats.org/drawingml/2006/main">
            <a:r>
              <a:t>O diagrama usa nomes do domínio em português. A captura preserva os identificadores originais do código.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Pedro Antonio Silvestre Tescaro. Tempo de referência: 148 segundos.</a:t>
            </a:r>
          </a:p>
          <a:p xmlns:a="http://schemas.openxmlformats.org/drawingml/2006/main">
            <a:r>
              <a:t>Roteiro de apresentação.</a:t>
            </a:r>
          </a:p>
          <a:p xmlns:a="http://schemas.openxmlformats.org/drawingml/2006/main">
            <a:r>
              <a:t>Preparar antes:</a:t>
            </a:r>
          </a:p>
          <a:p xmlns:a="http://schemas.openxmlformats.org/drawingml/2006/main">
            <a:r>
              <a:t>Usar conta de demonstração com progresso conhecido e anotar o XP inicial.</a:t>
            </a:r>
          </a:p>
          <a:p xmlns:a="http://schemas.openxmlformats.org/drawingml/2006/main">
            <a:r>
              <a:t>Deixar aberta a lição de catálogo /lesson/js-l1, sem o parâmetro mode=workspace.</a:t>
            </a:r>
          </a:p>
          <a:p xmlns:a="http://schemas.openxmlformats.org/drawingml/2006/main">
            <a:r>
              <a:t>Para testar código rapidamente, deixar as etapas anteriores concluídas e o desafio de programação selecionado.</a:t>
            </a:r>
          </a:p>
          <a:p xmlns:a="http://schemas.openxmlformats.org/drawingml/2006/main">
            <a:r>
              <a:t>Conferir o serviço de execução antes do seminário e deixar a solução calcularDesconto preparada no editor.</a:t>
            </a:r>
          </a:p>
          <a:p xmlns:a="http://schemas.openxmlformats.org/drawingml/2006/main">
            <a:r>
              <a:t>Executar ao vivo:</a:t>
            </a:r>
          </a:p>
          <a:p xmlns:a="http://schemas.openxmlformats.org/drawingml/2006/main">
            <a:r>
              <a:t>Mostrar o enunciado e a resposta preparada da atividade da lição.</a:t>
            </a:r>
          </a:p>
          <a:p xmlns:a="http://schemas.openxmlformats.org/drawingml/2006/main">
            <a:r>
              <a:t>Acionar Testar e explicar que a resposta é avaliada no servidor sem conceder XP.</a:t>
            </a:r>
          </a:p>
          <a:p xmlns:a="http://schemas.openxmlformats.org/drawingml/2006/main">
            <a:r>
              <a:t>Acionar a verificação definitiva da solução e observar o resultado e o progresso.</a:t>
            </a:r>
          </a:p>
          <a:p xmlns:a="http://schemas.openxmlformats.org/drawingml/2006/main">
            <a:r>
              <a:t>Comparar o XP ao valor anterior e repetir a verificação para mostrar que a mesma conclusão não concede XP novamente.</a:t>
            </a:r>
          </a:p>
          <a:p xmlns:a="http://schemas.openxmlformats.org/drawingml/2006/main">
            <a:r>
              <a:t>Resultados esperados:</a:t>
            </a:r>
          </a:p>
          <a:p xmlns:a="http://schemas.openxmlformats.org/drawingml/2006/main">
            <a:r>
              <a:t>Ação run retorna xpEarned igual a zero.</a:t>
            </a:r>
          </a:p>
          <a:p xmlns:a="http://schemas.openxmlformats.org/drawingml/2006/main">
            <a:r>
              <a:t>A conclusão correta inédita pode conceder o XP da etapa.</a:t>
            </a:r>
          </a:p>
          <a:p xmlns:a="http://schemas.openxmlformats.org/drawingml/2006/main">
            <a:r>
              <a:t>Repetir uma conclusão já correta não concede XP adicional.</a:t>
            </a:r>
          </a:p>
          <a:p xmlns:a="http://schemas.openxmlformats.org/drawingml/2006/main">
            <a:r>
              <a:t>Se o serviço de execução estiver indisponível, a API retorna erro 503 e o progresso permanece inalterado.</a:t>
            </a:r>
          </a:p>
          <a:p xmlns:a="http://schemas.openxmlformats.org/drawingml/2006/main">
            <a:r>
              <a:t>Continuidade: O perfil do candidato já existe. A próxima demonstração cria a oportunidade que será consumida no último bloco.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Guilherme Alves de Campos. Tempo de referência: 48 segundos.</a:t>
            </a:r>
          </a:p>
          <a:p xmlns:a="http://schemas.openxmlformats.org/drawingml/2006/main">
            <a:r>
              <a:t>Fonte visual: documento 04 / UC017, referência visual da especificação. A captura representa a interface documentada.</a:t>
            </a:r>
          </a:p>
          <a:p xmlns:a="http://schemas.openxmlformats.org/drawingml/2006/main">
            <a:r>
              <a:t>No protótipo: empresa autorizada, dados da oportunidade e comando de publicação.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Guilherme Alves de Campos. Tempo de referência: 87 segundos.</a:t>
            </a:r>
          </a:p>
          <a:p xmlns:a="http://schemas.openxmlformats.org/drawingml/2006/main">
            <a:r>
              <a:t>Fonte: documento 03, seções 4, 5 e 6. RF indicam comportamento. RNF são critérios de aceitação, não resultados de homologação.</a:t>
            </a:r>
          </a:p>
          <a:p xmlns:a="http://schemas.openxmlformats.org/drawingml/2006/main">
            <a:r>
              <a:t>RF035: Criar oportunidade com requisitos e etapas para empresa sob responsabilidade autorizada.</a:t>
            </a:r>
          </a:p>
          <a:p xmlns:a="http://schemas.openxmlformats.org/drawingml/2006/main">
            <a:r>
              <a:t>RF036: Listar e filtrar oportunidades abertas.</a:t>
            </a:r>
          </a:p>
          <a:p xmlns:a="http://schemas.openxmlformats.org/drawingml/2006/main">
            <a:r>
              <a:t>RNF001: Rotas privadas devem exigir sessão verificada no servidor.</a:t>
            </a:r>
          </a:p>
          <a:p xmlns:a="http://schemas.openxmlformats.org/drawingml/2006/main">
            <a:r>
              <a:t>RNF002: Operações administrativas, de avaliador e recrutador devem aplicar RBAC; operações de vagas também devem validar acesso à empresa e aos recursos relacionados.</a:t>
            </a:r>
          </a:p>
          <a:p xmlns:a="http://schemas.openxmlformats.org/drawingml/2006/main">
            <a:r>
              <a:t>RN020: Somente RECRUITER ou ADMIN com acesso autorizado à empresa pode publicar vaga ou consultar suas candidaturas. A atualização de candidatura também exige vínculo com a empresa e consistência entre vaga, candidatura e etapa.</a:t>
            </a:r>
          </a:p>
          <a:p xmlns:a="http://schemas.openxmlformats.org/drawingml/2006/main">
            <a:r>
              <a:t>RN017: Usuário autenticado usa as funções gerais e pode criar e participar de eventos; Avaliador avalia duelos autorizados; Administrador gerencia permissões e pode avaliar; Recrutador gerencia empresas e vagas autorizadas. Criador ou Administrador pode excluir evento.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Guilherme Alves de Campos. Tempo de referência: 34 segundos.</a:t>
            </a:r>
          </a:p>
          <a:p xmlns:a="http://schemas.openxmlformats.org/drawingml/2006/main">
            <a:r>
              <a:t>Fonte: documento 04, seção 4.13. A visão identifica o ator e o objetivo. A ordem das chamadas será explicada no diagrama de sequência.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Guilherme Alves de Campos. Tempo de referência: 53 segundos.</a:t>
            </a:r>
          </a:p>
          <a:p xmlns:a="http://schemas.openxmlformats.org/drawingml/2006/main">
            <a:r>
              <a:t>Fonte: Stacklyst-seminario-revisado.asta / CL02. Explicar propriedade da empresa e composição das etapas da oportunidade. Usar nomes do domínio em português.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Guilherme Alves de Campos. Tempo de referência: 53 segundos.</a:t>
            </a:r>
          </a:p>
          <a:p xmlns:a="http://schemas.openxmlformats.org/drawingml/2006/main">
            <a:r>
              <a:t>Fonte: Stacklyst-seminario-revisado.asta / DER02. Fonte: Company, Job e RecruitmentStage. A vaga referencia a empresa. Suas etapas são persistidas para o fluxo de seleção.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Guilherme Alves de Campos. Tempo de referência: 68 segundos.</a:t>
            </a:r>
          </a:p>
          <a:p xmlns:a="http://schemas.openxmlformats.org/drawingml/2006/main">
            <a:r>
              <a:t>Fonte: Stacklyst-seminario-revisado.asta / SQ02. Percorrer validação de papel, vínculo com empresa, criação da vaga e etapas e retorno à interface. Uma rejeição deve impedir a gravação.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Guilherme Alves de Campos. Tempo de referência: 68 segundos.</a:t>
            </a:r>
          </a:p>
          <a:p xmlns:a="http://schemas.openxmlformats.org/drawingml/2006/main">
            <a:r>
              <a:t>Fonte código: src/app/api/jobs/route.ts, linhas 67–78. Commit bdbc861542626c512f5e0c2d51b2fc9cdc05d6fa.</a:t>
            </a:r>
          </a:p>
          <a:p xmlns:a="http://schemas.openxmlformats.org/drawingml/2006/main">
            <a:r>
              <a:t>Exigir recrutador ou administrador, validar dados e vínculo com a empresa.</a:t>
            </a:r>
          </a:p>
          <a:p xmlns:a="http://schemas.openxmlformats.org/drawingml/2006/main">
            <a:r>
              <a:t>Mensagens do recorte: Validar papel e dados; Verificar acesso à empresa; Solicitar criação de vaga.</a:t>
            </a:r>
          </a:p>
          <a:p xmlns:a="http://schemas.openxmlformats.org/drawingml/2006/main">
            <a:r>
              <a:t>O diagrama usa nomes do domínio em português. A captura preserva os identificadores originais do código.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Guilherme Alves de Campos. Tempo de referência: 68 segundos.</a:t>
            </a:r>
          </a:p>
          <a:p xmlns:a="http://schemas.openxmlformats.org/drawingml/2006/main">
            <a:r>
              <a:t>Fonte código: src/services/job.service.ts, linhas 215–222, 229–238. Commit bdbc861542626c512f5e0c2d51b2fc9cdc05d6fa.</a:t>
            </a:r>
          </a:p>
          <a:p xmlns:a="http://schemas.openxmlformats.org/drawingml/2006/main">
            <a:r>
              <a:t>Gravar vaga aberta e etapas do processo na mesma operação relacional.</a:t>
            </a:r>
          </a:p>
          <a:p xmlns:a="http://schemas.openxmlformats.org/drawingml/2006/main">
            <a:r>
              <a:t>Mensagens do recorte: Criar vaga aberta; Criar etapas associadas; Devolver vaga criada.</a:t>
            </a:r>
          </a:p>
          <a:p xmlns:a="http://schemas.openxmlformats.org/drawingml/2006/main">
            <a:r>
              <a:t>O diagrama usa nomes do domínio em português. A captura preserva os identificadores originais do código.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Guilherme Alves de Campos. Tempo de referência: 68 segundos.</a:t>
            </a:r>
          </a:p>
          <a:p xmlns:a="http://schemas.openxmlformats.org/drawingml/2006/main">
            <a:r>
              <a:t>Fonte código: src/app/recruiter/RecruiterContent.tsx, linhas 294–306. Commit bdbc861542626c512f5e0c2d51b2fc9cdc05d6fa.</a:t>
            </a:r>
          </a:p>
          <a:p xmlns:a="http://schemas.openxmlformats.org/drawingml/2006/main">
            <a:r>
              <a:t>Depois do retorno da API, confirmar publicação e recarregar a listagem.</a:t>
            </a:r>
          </a:p>
          <a:p xmlns:a="http://schemas.openxmlformats.org/drawingml/2006/main">
            <a:r>
              <a:t>Mensagens do recorte: Receber resposta; Exibir confirmação; Atualizar listagem de vagas.</a:t>
            </a:r>
          </a:p>
          <a:p xmlns:a="http://schemas.openxmlformats.org/drawingml/2006/main">
            <a:r>
              <a:t>O diagrama usa nomes do domínio em português. A captura preserva os identificadores originais do código.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Guilherme Alves de Campos. Tempo de referência: 173 segundos.</a:t>
            </a:r>
          </a:p>
          <a:p xmlns:a="http://schemas.openxmlformats.org/drawingml/2006/main">
            <a:r>
              <a:t>Roteiro de apresentação.</a:t>
            </a:r>
          </a:p>
          <a:p xmlns:a="http://schemas.openxmlformats.org/drawingml/2006/main">
            <a:r>
              <a:t>Preparar antes:</a:t>
            </a:r>
          </a:p>
          <a:p xmlns:a="http://schemas.openxmlformats.org/drawingml/2006/main">
            <a:r>
              <a:t>Deixar a conta de recrutador autenticada e vinculada à empresa de demonstração.</a:t>
            </a:r>
          </a:p>
          <a:p xmlns:a="http://schemas.openxmlformats.org/drawingml/2006/main">
            <a:r>
              <a:t>Usar /recruiter com empresa cadastrada previamente.</a:t>
            </a:r>
          </a:p>
          <a:p xmlns:a="http://schemas.openxmlformats.org/drawingml/2006/main">
            <a:r>
              <a:t>Preencher título, descrição, tecnologias e demais campos de uma vaga de teste, sem publicar antes da explicação.</a:t>
            </a:r>
          </a:p>
          <a:p xmlns:a="http://schemas.openxmlformats.org/drawingml/2006/main">
            <a:r>
              <a:t>Usar título identificável, por exemplo Estágio JavaScript - Seminário, com descrição de ao menos dez caracteres.</a:t>
            </a:r>
          </a:p>
          <a:p xmlns:a="http://schemas.openxmlformats.org/drawingml/2006/main">
            <a:r>
              <a:t>Executar ao vivo:</a:t>
            </a:r>
          </a:p>
          <a:p xmlns:a="http://schemas.openxmlformats.org/drawingml/2006/main">
            <a:r>
              <a:t>Identificar no protótipo a empresa e os dados obrigatórios da vaga.</a:t>
            </a:r>
          </a:p>
          <a:p xmlns:a="http://schemas.openxmlformats.org/drawingml/2006/main">
            <a:r>
              <a:t>Publicar a vaga e mostrar a confirmação na interface.</a:t>
            </a:r>
          </a:p>
          <a:p xmlns:a="http://schemas.openxmlformats.org/drawingml/2006/main">
            <a:r>
              <a:t>Localizar a vaga na listagem atualizada e observar as etapas associadas.</a:t>
            </a:r>
          </a:p>
          <a:p xmlns:a="http://schemas.openxmlformats.org/drawingml/2006/main">
            <a:r>
              <a:t>Abrir /jobs e a página da vaga para preparar a continuidade da demonstração.</a:t>
            </a:r>
          </a:p>
          <a:p xmlns:a="http://schemas.openxmlformats.org/drawingml/2006/main">
            <a:r>
              <a:t>Resultados esperados:</a:t>
            </a:r>
          </a:p>
          <a:p xmlns:a="http://schemas.openxmlformats.org/drawingml/2006/main">
            <a:r>
              <a:t>O servidor exige papel de recrutador ou administrador e acesso à empresa.</a:t>
            </a:r>
          </a:p>
          <a:p xmlns:a="http://schemas.openxmlformats.org/drawingml/2006/main">
            <a:r>
              <a:t>A vaga é persistida como aberta e recebe suas etapas de recrutamento.</a:t>
            </a:r>
          </a:p>
          <a:p xmlns:a="http://schemas.openxmlformats.org/drawingml/2006/main">
            <a:r>
              <a:t>A listagem é recarregada após a confirmação.</a:t>
            </a:r>
          </a:p>
          <a:p xmlns:a="http://schemas.openxmlformats.org/drawingml/2006/main">
            <a:r>
              <a:t>Continuidade: A vaga criada e sua primeira etapa já estão disponíveis para a candidatura do terceiro bloco.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Paulo Henrique Leal dos Santos. Tempo de referência: 46 segundos.</a:t>
            </a:r>
          </a:p>
          <a:p xmlns:a="http://schemas.openxmlformats.org/drawingml/2006/main">
            <a:r>
              <a:t>Fonte visual: documento 04 / UC022, referência visual da especificação. A captura representa a interface documentada.</a:t>
            </a:r>
          </a:p>
          <a:p xmlns:a="http://schemas.openxmlformats.org/drawingml/2006/main">
            <a:r>
              <a:t>No protótipo: oportunidade aberta e comando de candidatura com o perfil do usuário.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Paulo Henrique Leal dos Santos. Tempo de referência: 46 segundos.</a:t>
            </a:r>
          </a:p>
          <a:p xmlns:a="http://schemas.openxmlformats.org/drawingml/2006/main">
            <a:r>
              <a:t>Protótipo reconstruído a partir do componente RecruiterContent.tsx, painel de candidaturas, com dados de demonstração. Renderização local sem chamada ao backend. Ver evidencias-codigo/prototipo-candidaturas.html.</a:t>
            </a:r>
          </a:p>
          <a:p xmlns:a="http://schemas.openxmlformats.org/drawingml/2006/main">
            <a:r>
              <a:t>Dados de demonstração: candidato, situação da candidatura e seletor do recrutador.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Paulo Henrique Leal dos Santos. Tempo de referência: 84 segundos.</a:t>
            </a:r>
          </a:p>
          <a:p xmlns:a="http://schemas.openxmlformats.org/drawingml/2006/main">
            <a:r>
              <a:t>Fonte: documento 03, seções 4, 5 e 6. RF indicam comportamento. RNF são critérios de aceitação, não resultados de homologação.</a:t>
            </a:r>
          </a:p>
          <a:p xmlns:a="http://schemas.openxmlformats.org/drawingml/2006/main">
            <a:r>
              <a:t>RF047: Efetivar a candidatura do usuário autenticado a uma vaga aberta.</a:t>
            </a:r>
          </a:p>
          <a:p xmlns:a="http://schemas.openxmlformats.org/drawingml/2006/main">
            <a:r>
              <a:t>RF048: Atualizar a etapa, o status e o feedback da candidatura vinculada à vaga, com notificação automática ao candidato.</a:t>
            </a:r>
          </a:p>
          <a:p xmlns:a="http://schemas.openxmlformats.org/drawingml/2006/main">
            <a:r>
              <a:t>RF044: Criar notificação para eventos relevantes da aplicação, incluindo a atualização de candidatura destinada ao próprio candidato.</a:t>
            </a:r>
          </a:p>
          <a:p xmlns:a="http://schemas.openxmlformats.org/drawingml/2006/main">
            <a:r>
              <a:t>RNF002: Operações administrativas, de avaliador e recrutador devem aplicar RBAC; operações de vagas também devem validar acesso à empresa e aos recursos relacionados.</a:t>
            </a:r>
          </a:p>
          <a:p xmlns:a="http://schemas.openxmlformats.org/drawingml/2006/main">
            <a:r>
              <a:t>RNF005: Perfil e recrutamento devem retornar apenas campos autorizados.</a:t>
            </a:r>
          </a:p>
          <a:p xmlns:a="http://schemas.openxmlformats.org/drawingml/2006/main">
            <a:r>
              <a:t>RN026: Usuário pode candidatar-se uma vez a uma vaga aberta, com vínculo à etapa inicial. O responsável autorizado atualiza a etapa ou o status, após validar os vínculos, e o candidato associado recebe notificação automática.</a:t>
            </a:r>
          </a:p>
          <a:p xmlns:a="http://schemas.openxmlformats.org/drawingml/2006/main">
            <a:r>
              <a:t>RN022: Eventos relevantes geram notificação ao destinatário. A atualização de candidatura notifica automaticamente o usuário associado à candidatura. Falha de notificação não desfaz a operação principal.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Paulo Henrique Leal dos Santos. Tempo de referência: 32 segundos.</a:t>
            </a:r>
          </a:p>
          <a:p xmlns:a="http://schemas.openxmlformats.org/drawingml/2006/main">
            <a:r>
              <a:t>Fonte: documento 04, seção 4.13. A visão identifica o ator e o objetivo. A ordem das chamadas será explicada no diagrama de sequência.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Paulo Henrique Leal dos Santos. Tempo de referência: 51 segundos.</a:t>
            </a:r>
          </a:p>
          <a:p xmlns:a="http://schemas.openxmlformats.org/drawingml/2006/main">
            <a:r>
              <a:t>Fonte: Stacklyst-seminario-revisado.asta / CL03. Explicar os vínculos de usuário, vaga, etapa, candidatura e notificação. A notificação é consequência da atualização do processo.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Paulo Henrique Leal dos Santos. Tempo de referência: 51 segundos.</a:t>
            </a:r>
          </a:p>
          <a:p xmlns:a="http://schemas.openxmlformats.org/drawingml/2006/main">
            <a:r>
              <a:t>Fonte: Stacklyst-seminario-revisado.asta / DER03. Fonte: JobApplication, User, Job, RecruitmentStage e Notification. A candidatura vincula usuário e vaga. A atualização confere se candidatura e etapa pertencem à mesma vaga.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Paulo Henrique Leal dos Santos. Tempo de referência: 60 segundos.</a:t>
            </a:r>
          </a:p>
          <a:p xmlns:a="http://schemas.openxmlformats.org/drawingml/2006/main">
            <a:r>
              <a:t>Fonte: Stacklyst-seminario-revisado.asta / SQ03. Vaga publicada no bloco anterior. Sessão autenticada e ausência de candidatura anterior. O processo cria a candidatura na primeira etapa disponível.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Paulo Henrique Leal dos Santos. Tempo de referência: 60 segundos.</a:t>
            </a:r>
          </a:p>
          <a:p xmlns:a="http://schemas.openxmlformats.org/drawingml/2006/main">
            <a:r>
              <a:t>Fonte: Stacklyst-seminario-revisado.asta / SQ04. Na prática, o painel altera a situação. A API também aceita etapa e feedback, quando enviados. Mostrar a validação do responsável e dos vínculos antes da persistência. O aviso é destinado ao candidato associado. Falha da notificação não desfaz a alteração principal.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Paulo Henrique Leal dos Santos. Tempo de referência: 65 segundos.</a:t>
            </a:r>
          </a:p>
          <a:p xmlns:a="http://schemas.openxmlformats.org/drawingml/2006/main">
            <a:r>
              <a:t>Fonte código: src/services/job.service.ts, linhas 275–292. Commit bdbc861542626c512f5e0c2d51b2fc9cdc05d6fa.</a:t>
            </a:r>
          </a:p>
          <a:p xmlns:a="http://schemas.openxmlformats.org/drawingml/2006/main">
            <a:r>
              <a:t>Aceitar apenas vaga aberta e relacionar candidatura ao usuário e à primeira etapa.</a:t>
            </a:r>
          </a:p>
          <a:p xmlns:a="http://schemas.openxmlformats.org/drawingml/2006/main">
            <a:r>
              <a:t>Mensagens do recorte: Verificar vaga aberta; Selecionar etapa inicial; Gravar candidatura.</a:t>
            </a:r>
          </a:p>
          <a:p xmlns:a="http://schemas.openxmlformats.org/drawingml/2006/main">
            <a:r>
              <a:t>O diagrama usa nomes do domínio em português. A captura preserva os identificadores originais do código.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Paulo Henrique Leal dos Santos. Tempo de referência: 65 segundos.</a:t>
            </a:r>
          </a:p>
          <a:p xmlns:a="http://schemas.openxmlformats.org/drawingml/2006/main">
            <a:r>
              <a:t>Fonte código: src/app/api/jobs/[id]/route.ts, linhas 30–46. Commit bdbc861542626c512f5e0c2d51b2fc9cdc05d6fa.</a:t>
            </a:r>
          </a:p>
          <a:p xmlns:a="http://schemas.openxmlformats.org/drawingml/2006/main">
            <a:r>
              <a:t>Autorizar a empresa e impedir candidatura ou etapa pertencente a outra vaga.</a:t>
            </a:r>
          </a:p>
          <a:p xmlns:a="http://schemas.openxmlformats.org/drawingml/2006/main">
            <a:r>
              <a:t>Mensagens do recorte: Autorizar empresa; Conferir candidatura da vaga; Conferir etapa da vaga.</a:t>
            </a:r>
          </a:p>
          <a:p xmlns:a="http://schemas.openxmlformats.org/drawingml/2006/main">
            <a:r>
              <a:t>O diagrama usa nomes do domínio em português. A captura preserva os identificadores originais do código.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Paulo Henrique Leal dos Santos. Tempo de referência: 65 segundos.</a:t>
            </a:r>
          </a:p>
          <a:p xmlns:a="http://schemas.openxmlformats.org/drawingml/2006/main">
            <a:r>
              <a:t>Fonte código: src/services/job.service.ts, linhas 310–317, 324–333. Commit bdbc861542626c512f5e0c2d51b2fc9cdc05d6fa.</a:t>
            </a:r>
          </a:p>
          <a:p xmlns:a="http://schemas.openxmlformats.org/drawingml/2006/main">
            <a:r>
              <a:t>Persistir etapa e situação e depois solicitar notificação ao candidato. Falha do aviso é registrada e não desfaz a atualização.</a:t>
            </a:r>
          </a:p>
          <a:p xmlns:a="http://schemas.openxmlformats.org/drawingml/2006/main">
            <a:r>
              <a:t>Mensagens do recorte: Atualizar etapa e situação; Criar notificação do candidato; Registrar eventual falha de notificação.</a:t>
            </a:r>
          </a:p>
          <a:p xmlns:a="http://schemas.openxmlformats.org/drawingml/2006/main">
            <a:r>
              <a:t>O diagrama usa nomes do domínio em português. A captura preserva os identificadores originais do código.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Paulo Henrique Leal dos Santos. Tempo de referência: 215 segundos.</a:t>
            </a:r>
          </a:p>
          <a:p xmlns:a="http://schemas.openxmlformats.org/drawingml/2006/main">
            <a:r>
              <a:t>Roteiro de apresentação.</a:t>
            </a:r>
          </a:p>
          <a:p xmlns:a="http://schemas.openxmlformats.org/drawingml/2006/main">
            <a:r>
              <a:t>Preparar antes:</a:t>
            </a:r>
          </a:p>
          <a:p xmlns:a="http://schemas.openxmlformats.org/drawingml/2006/main">
            <a:r>
              <a:t>Usar a vaga criada no bloco anterior e uma conta de candidato que ainda não se candidatou a ela.</a:t>
            </a:r>
          </a:p>
          <a:p xmlns:a="http://schemas.openxmlformats.org/drawingml/2006/main">
            <a:r>
              <a:t>Manter duas sessões separadas, candidato e recrutador, para evitar pausas de autenticação.</a:t>
            </a:r>
          </a:p>
          <a:p xmlns:a="http://schemas.openxmlformats.org/drawingml/2006/main">
            <a:r>
              <a:t>Deixar o painel do recrutador aberto na mesma vaga e combinar a situação que será selecionada, por exemplo Em Análise.</a:t>
            </a:r>
          </a:p>
          <a:p xmlns:a="http://schemas.openxmlformats.org/drawingml/2006/main">
            <a:r>
              <a:t>Não apresentar o cadastro de empresa, o cadastro do candidato nem a criação das etapas novamente.</a:t>
            </a:r>
          </a:p>
          <a:p xmlns:a="http://schemas.openxmlformats.org/drawingml/2006/main">
            <a:r>
              <a:t>Executar ao vivo:</a:t>
            </a:r>
          </a:p>
          <a:p xmlns:a="http://schemas.openxmlformats.org/drawingml/2006/main">
            <a:r>
              <a:t>Na sessão do candidato, abrir a vaga e acionar Candidatar-se com Stacklyst.</a:t>
            </a:r>
          </a:p>
          <a:p xmlns:a="http://schemas.openxmlformats.org/drawingml/2006/main">
            <a:r>
              <a:t>Mostrar a confirmação da candidatura na etapa inicial.</a:t>
            </a:r>
          </a:p>
          <a:p xmlns:a="http://schemas.openxmlformats.org/drawingml/2006/main">
            <a:r>
              <a:t>Na sessão do recrutador, carregar as candidaturas da vaga e localizar o mesmo candidato.</a:t>
            </a:r>
          </a:p>
          <a:p xmlns:a="http://schemas.openxmlformats.org/drawingml/2006/main">
            <a:r>
              <a:t>No seletor da candidatura, alterar a situação de Inscrito para Em Análise e mostrar a confirmação.</a:t>
            </a:r>
          </a:p>
          <a:p xmlns:a="http://schemas.openxmlformats.org/drawingml/2006/main">
            <a:r>
              <a:t>Voltar à sessão do candidato, atualizar a consulta e localizar a notificação da atualização.</a:t>
            </a:r>
          </a:p>
          <a:p xmlns:a="http://schemas.openxmlformats.org/drawingml/2006/main">
            <a:r>
              <a:t>Resultados esperados:</a:t>
            </a:r>
          </a:p>
          <a:p xmlns:a="http://schemas.openxmlformats.org/drawingml/2006/main">
            <a:r>
              <a:t>A candidatura referencia a vaga e o candidato e começa na primeira etapa disponível.</a:t>
            </a:r>
          </a:p>
          <a:p xmlns:a="http://schemas.openxmlformats.org/drawingml/2006/main">
            <a:r>
              <a:t>Uma candidatura repetida é rejeitada e vagas fechadas não aceitam inscrição.</a:t>
            </a:r>
          </a:p>
          <a:p xmlns:a="http://schemas.openxmlformats.org/drawingml/2006/main">
            <a:r>
              <a:t>O painel atual altera a situação da candidatura. A API também suporta etapa, parecer e nota técnica, mas esses campos não possuem controles nessa tela.</a:t>
            </a:r>
          </a:p>
          <a:p xmlns:a="http://schemas.openxmlformats.org/drawingml/2006/main">
            <a:r>
              <a:t>A atualização é persistida e solicita uma notificação ao candidato. Uma falha no aviso é registrada e não desfaz a atualização.</a:t>
            </a:r>
          </a:p>
          <a:p xmlns:a="http://schemas.openxmlformats.org/drawingml/2006/main">
            <a:r>
              <a:t>Continuidade: Encerrar mostrando o percurso completo: estudar, disponibilizar uma oportunidade, candidatar-se e receber o retorno do processo.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Grupo. Tempo de referência: 395 segundos. Inclui o tempo de perguntas do grupo.</a:t>
            </a:r>
          </a:p>
          <a:p xmlns:a="http://schemas.openxmlformats.org/drawingml/2006/main">
            <a:r>
              <a:t>Retomar os resultados observados durante a apresentação. Não afirmar execução de uma etapa que não tenha sido realizada ao vivo. Convidar perguntas sobre a relação entre requisito, modelo, código e funcionamento.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Grupo. Tempo de referência: 25 segundos.</a:t>
            </a:r>
          </a:p>
          <a:p xmlns:a="http://schemas.openxmlformats.org/drawingml/2006/main">
            <a:r>
              <a:t>Fontes fornecidas pelo grupo. A lousa e as orientações da professora definem a estrutura do seminário. Fontes de imagens e código também estão nas notas dos slides correspondentes.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4fb4a2793146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462e42604849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95c9fde2f94f9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ef3da260c8440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553023a10a495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d8a536eda541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0EBA43-2BA0-49CC-8CC4-1AB7691394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1BDE3A7-E5E1-4A2F-B2D8-0CFCEC66C6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A74CC13-CAD9-43D1-B571-CD8C66D6DE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989106-615B-49A6-99DB-390F728ED9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E662973-2E34-4307-BF0B-60A1C3653F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54B210A-BD69-4FC6-A4A4-3B183CA5B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4785406-1119-4C65-90E8-3A46011D97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905FC7-92EB-435C-8008-B08CDD92492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F48C95-A4C5-417C-92A3-CDC329FBE3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779832-6363-4D09-B518-5F36953C87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64a86fedf24648" /><Relationship Type="http://schemas.openxmlformats.org/officeDocument/2006/relationships/slideLayout" Target="/ppt/slideLayouts/slideLayout1.xml" Id="R9b23227cb502487a" /><Relationship Type="http://schemas.openxmlformats.org/officeDocument/2006/relationships/slideLayout" Target="/ppt/slideLayouts/slideLayout2.xml" Id="R4ddbc6a4934d43c2" /><Relationship Type="http://schemas.openxmlformats.org/officeDocument/2006/relationships/slideLayout" Target="/ppt/slideLayouts/slideLayout3.xml" Id="R170ffacf1cba4edf" /><Relationship Type="http://schemas.openxmlformats.org/officeDocument/2006/relationships/slideLayout" Target="/ppt/slideLayouts/slideLayout4.xml" Id="R8ac08c652da94274" /><Relationship Type="http://schemas.openxmlformats.org/officeDocument/2006/relationships/slideLayout" Target="/ppt/slideLayouts/slideLayout5.xml" Id="R14110293ff7c4e2e" /><Relationship Type="http://schemas.openxmlformats.org/officeDocument/2006/relationships/slideLayout" Target="/ppt/slideLayouts/slideLayout6.xml" Id="R60d6bac2f16349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23227cb502487a"/>
    <p:sldLayoutId xmlns:r="http://schemas.openxmlformats.org/officeDocument/2006/relationships" id="2147483650" r:id="R4ddbc6a4934d43c2"/>
    <p:sldLayoutId xmlns:r="http://schemas.openxmlformats.org/officeDocument/2006/relationships" id="2147483651" r:id="R170ffacf1cba4edf"/>
    <p:sldLayoutId xmlns:r="http://schemas.openxmlformats.org/officeDocument/2006/relationships" id="2147483652" r:id="R8ac08c652da94274"/>
    <p:sldLayoutId xmlns:r="http://schemas.openxmlformats.org/officeDocument/2006/relationships" id="2147483653" r:id="R14110293ff7c4e2e"/>
    <p:sldLayoutId xmlns:r="http://schemas.openxmlformats.org/officeDocument/2006/relationships" id="2147483654" r:id="R60d6bac2f16349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cf72dcf1f4461b" /><Relationship Type="http://schemas.openxmlformats.org/officeDocument/2006/relationships/image" Target="/ppt/media/image.png" Id="R68cde174b1ae4ea0" /><Relationship Type="http://schemas.openxmlformats.org/officeDocument/2006/relationships/notesSlide" Target="/ppt/notesSlides/notesSlide1.xml" Id="Rc00714913c914e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ab59ff9c274a6e" /><Relationship Type="http://schemas.openxmlformats.org/officeDocument/2006/relationships/notesSlide" Target="/ppt/notesSlides/notesSlide2.xml" Id="Re0d8ef670f5a4c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ca2c7d8488427a" /><Relationship Type="http://schemas.openxmlformats.org/officeDocument/2006/relationships/notesSlide" Target="/ppt/notesSlides/notesSlide3.xml" Id="R0e73e4f3c9084c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528abe471243ad" /><Relationship Type="http://schemas.openxmlformats.org/officeDocument/2006/relationships/image" Target="/ppt/media/image2.png" Id="Ra42656e083894e99" /><Relationship Type="http://schemas.openxmlformats.org/officeDocument/2006/relationships/notesSlide" Target="/ppt/notesSlides/notesSlide4.xml" Id="Rf1e1dd5cc6fe4d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d59e41d20e4fb6" /><Relationship Type="http://schemas.openxmlformats.org/officeDocument/2006/relationships/image" Target="/ppt/media/image3.png" Id="R9096b1c72b3947a5" /><Relationship Type="http://schemas.openxmlformats.org/officeDocument/2006/relationships/notesSlide" Target="/ppt/notesSlides/notesSlide5.xml" Id="Rab0c63451b7c47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8fd8baa2594909" /><Relationship Type="http://schemas.openxmlformats.org/officeDocument/2006/relationships/image" Target="/ppt/media/image4.png" Id="Rf3b0d084e3b141c6" /><Relationship Type="http://schemas.openxmlformats.org/officeDocument/2006/relationships/notesSlide" Target="/ppt/notesSlides/notesSlide6.xml" Id="R968d1e949d6d47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1719f803f94df8" /><Relationship Type="http://schemas.openxmlformats.org/officeDocument/2006/relationships/image" Target="/ppt/media/image5.png" Id="R129cbb87eeff408e" /><Relationship Type="http://schemas.openxmlformats.org/officeDocument/2006/relationships/notesSlide" Target="/ppt/notesSlides/notesSlide7.xml" Id="R5d7468de94a948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73493982b24ae8" /><Relationship Type="http://schemas.openxmlformats.org/officeDocument/2006/relationships/image" Target="/ppt/media/image6.png" Id="R9bb88018b6544e34" /><Relationship Type="http://schemas.openxmlformats.org/officeDocument/2006/relationships/notesSlide" Target="/ppt/notesSlides/notesSlide8.xml" Id="R8bf8d00d1c1742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b1436d36454432" /><Relationship Type="http://schemas.openxmlformats.org/officeDocument/2006/relationships/image" Target="/ppt/media/image7.png" Id="R2bd24160e8ed4106" /><Relationship Type="http://schemas.openxmlformats.org/officeDocument/2006/relationships/notesSlide" Target="/ppt/notesSlides/notesSlide9.xml" Id="R7fee013e57474d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8c5a7644f04206" /><Relationship Type="http://schemas.openxmlformats.org/officeDocument/2006/relationships/image" Target="/ppt/media/image8.png" Id="R35351318f80a41a3" /><Relationship Type="http://schemas.openxmlformats.org/officeDocument/2006/relationships/notesSlide" Target="/ppt/notesSlides/notesSlide10.xml" Id="Rea2c1383620f45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4493f275d14647" /><Relationship Type="http://schemas.openxmlformats.org/officeDocument/2006/relationships/image" Target="/ppt/media/image.jpeg" Id="R96480baf5b434007" /><Relationship Type="http://schemas.openxmlformats.org/officeDocument/2006/relationships/notesSlide" Target="/ppt/notesSlides/notesSlide11.xml" Id="Ree463894d43347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eefc2181bf4c07" /><Relationship Type="http://schemas.openxmlformats.org/officeDocument/2006/relationships/image" Target="/ppt/media/image9.png" Id="Rcf8b2d04a4f949db" /><Relationship Type="http://schemas.openxmlformats.org/officeDocument/2006/relationships/notesSlide" Target="/ppt/notesSlides/notesSlide12.xml" Id="R22d0c0caadf146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eb7e64bdc942fd" /><Relationship Type="http://schemas.openxmlformats.org/officeDocument/2006/relationships/image" Target="/ppt/media/image10.png" Id="Rfa716a46ea8e4d75" /><Relationship Type="http://schemas.openxmlformats.org/officeDocument/2006/relationships/notesSlide" Target="/ppt/notesSlides/notesSlide13.xml" Id="R92e56a7c353749a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2ebc73584748bb" /><Relationship Type="http://schemas.openxmlformats.org/officeDocument/2006/relationships/image" Target="/ppt/media/image11.png" Id="Rbe3df44d553d4043" /><Relationship Type="http://schemas.openxmlformats.org/officeDocument/2006/relationships/notesSlide" Target="/ppt/notesSlides/notesSlide14.xml" Id="Rb41ea4d22081414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e360b7e2b14c36" /><Relationship Type="http://schemas.openxmlformats.org/officeDocument/2006/relationships/image" Target="/ppt/media/image12.png" Id="R9877137083424358" /><Relationship Type="http://schemas.openxmlformats.org/officeDocument/2006/relationships/notesSlide" Target="/ppt/notesSlides/notesSlide15.xml" Id="R9a032e758da043f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fbf1714ceb4a67" /><Relationship Type="http://schemas.openxmlformats.org/officeDocument/2006/relationships/notesSlide" Target="/ppt/notesSlides/notesSlide16.xml" Id="R8d7fa99364154d1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a62d03adc441e4" /><Relationship Type="http://schemas.openxmlformats.org/officeDocument/2006/relationships/image" Target="/ppt/media/image13.png" Id="R095eec5611e64a97" /><Relationship Type="http://schemas.openxmlformats.org/officeDocument/2006/relationships/notesSlide" Target="/ppt/notesSlides/notesSlide17.xml" Id="R42eaca15fb534a0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abf10eaa7e4d16" /><Relationship Type="http://schemas.openxmlformats.org/officeDocument/2006/relationships/image" Target="/ppt/media/image14.png" Id="Rfaced27fa59b4034" /><Relationship Type="http://schemas.openxmlformats.org/officeDocument/2006/relationships/notesSlide" Target="/ppt/notesSlides/notesSlide18.xml" Id="R593ebb29db904f2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49d500f8914ee6" /><Relationship Type="http://schemas.openxmlformats.org/officeDocument/2006/relationships/image" Target="/ppt/media/image15.png" Id="R8a3abbe7789e4492" /><Relationship Type="http://schemas.openxmlformats.org/officeDocument/2006/relationships/notesSlide" Target="/ppt/notesSlides/notesSlide19.xml" Id="Rf10da0bcca454ac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9004f420d547c1" /><Relationship Type="http://schemas.openxmlformats.org/officeDocument/2006/relationships/image" Target="/ppt/media/image16.png" Id="Rd37c37171e8e4efa" /><Relationship Type="http://schemas.openxmlformats.org/officeDocument/2006/relationships/image" Target="/ppt/media/image17.png" Id="R33633d1e41944694" /><Relationship Type="http://schemas.openxmlformats.org/officeDocument/2006/relationships/notesSlide" Target="/ppt/notesSlides/notesSlide20.xml" Id="R6dac215804234a1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c2b2c658e34688" /><Relationship Type="http://schemas.openxmlformats.org/officeDocument/2006/relationships/image" Target="/ppt/media/image18.png" Id="Rbbafd2c2b2df46df" /><Relationship Type="http://schemas.openxmlformats.org/officeDocument/2006/relationships/notesSlide" Target="/ppt/notesSlides/notesSlide21.xml" Id="Rdd8bf0b3bb3f44a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c38e4a424248ee" /><Relationship Type="http://schemas.openxmlformats.org/officeDocument/2006/relationships/image" Target="/ppt/media/image19.png" Id="R604a500fc49a4e01" /><Relationship Type="http://schemas.openxmlformats.org/officeDocument/2006/relationships/notesSlide" Target="/ppt/notesSlides/notesSlide22.xml" Id="Rc5571af13804433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68dc9239574aac" /><Relationship Type="http://schemas.openxmlformats.org/officeDocument/2006/relationships/image" Target="/ppt/media/image20.png" Id="Re7f8e7c618c54947" /><Relationship Type="http://schemas.openxmlformats.org/officeDocument/2006/relationships/notesSlide" Target="/ppt/notesSlides/notesSlide23.xml" Id="R840c2e0273be447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249cf323664222" /><Relationship Type="http://schemas.openxmlformats.org/officeDocument/2006/relationships/image" Target="/ppt/media/image21.png" Id="R4946906c187f4abe" /><Relationship Type="http://schemas.openxmlformats.org/officeDocument/2006/relationships/image" Target="/ppt/media/image22.png" Id="R656ea6ad7214499c" /><Relationship Type="http://schemas.openxmlformats.org/officeDocument/2006/relationships/notesSlide" Target="/ppt/notesSlides/notesSlide24.xml" Id="R8c2abb3275064fd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e2b66f02fa4c94" /><Relationship Type="http://schemas.openxmlformats.org/officeDocument/2006/relationships/image" Target="/ppt/media/image23.png" Id="Re804aeaf9ec7431a" /><Relationship Type="http://schemas.openxmlformats.org/officeDocument/2006/relationships/image" Target="/ppt/media/image24.png" Id="R4342771d35e248ee" /><Relationship Type="http://schemas.openxmlformats.org/officeDocument/2006/relationships/notesSlide" Target="/ppt/notesSlides/notesSlide25.xml" Id="Rd37ed6cc9eb04ef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c801719be14151" /><Relationship Type="http://schemas.openxmlformats.org/officeDocument/2006/relationships/image" Target="/ppt/media/image25.png" Id="Rfd54f52537864dee" /><Relationship Type="http://schemas.openxmlformats.org/officeDocument/2006/relationships/image" Target="/ppt/media/image26.png" Id="R9c48a111e4f1483f" /><Relationship Type="http://schemas.openxmlformats.org/officeDocument/2006/relationships/notesSlide" Target="/ppt/notesSlides/notesSlide26.xml" Id="Rfddb09bcbc8e4af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dda2b2a4264c1a" /><Relationship Type="http://schemas.openxmlformats.org/officeDocument/2006/relationships/notesSlide" Target="/ppt/notesSlides/notesSlide27.xml" Id="R0f07eb28cea6497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593cfacb434f46" /><Relationship Type="http://schemas.openxmlformats.org/officeDocument/2006/relationships/image" Target="/ppt/media/image27.png" Id="R88c72d2cf4894be9" /><Relationship Type="http://schemas.openxmlformats.org/officeDocument/2006/relationships/notesSlide" Target="/ppt/notesSlides/notesSlide28.xml" Id="R2768c73989a54cc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1add9ea32c4fd2" /><Relationship Type="http://schemas.openxmlformats.org/officeDocument/2006/relationships/notesSlide" Target="/ppt/notesSlides/notesSlide29.xml" Id="Rca068535634a493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598e253904521" /><Relationship Type="http://schemas.openxmlformats.org/officeDocument/2006/relationships/image" Target="/ppt/media/image28.png" Id="Re7e30da00d6f4253" /><Relationship Type="http://schemas.openxmlformats.org/officeDocument/2006/relationships/notesSlide" Target="/ppt/notesSlides/notesSlide30.xml" Id="R2f954a0f0e4a474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cd204478184665" /><Relationship Type="http://schemas.openxmlformats.org/officeDocument/2006/relationships/image" Target="/ppt/media/image29.png" Id="R11146b27002f4e85" /><Relationship Type="http://schemas.openxmlformats.org/officeDocument/2006/relationships/notesSlide" Target="/ppt/notesSlides/notesSlide31.xml" Id="Rd15a6c133922408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7e52c9ca254a98" /><Relationship Type="http://schemas.openxmlformats.org/officeDocument/2006/relationships/image" Target="/ppt/media/image30.png" Id="R358b9651dd6242a8" /><Relationship Type="http://schemas.openxmlformats.org/officeDocument/2006/relationships/notesSlide" Target="/ppt/notesSlides/notesSlide32.xml" Id="R861a5ea3d82f4d4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7e175b6a4745b2" /><Relationship Type="http://schemas.openxmlformats.org/officeDocument/2006/relationships/image" Target="/ppt/media/image31.png" Id="R5b446d20112649b8" /><Relationship Type="http://schemas.openxmlformats.org/officeDocument/2006/relationships/notesSlide" Target="/ppt/notesSlides/notesSlide33.xml" Id="R0675ed18077c436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feb30ca603422b" /><Relationship Type="http://schemas.openxmlformats.org/officeDocument/2006/relationships/image" Target="/ppt/media/image32.png" Id="R33683cf423094b18" /><Relationship Type="http://schemas.openxmlformats.org/officeDocument/2006/relationships/image" Target="/ppt/media/image33.png" Id="Rf5e1e442515d43c7" /><Relationship Type="http://schemas.openxmlformats.org/officeDocument/2006/relationships/notesSlide" Target="/ppt/notesSlides/notesSlide34.xml" Id="Rcb533fc643b1489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4d6ec370db4005" /><Relationship Type="http://schemas.openxmlformats.org/officeDocument/2006/relationships/image" Target="/ppt/media/image34.png" Id="R440fca4c60544910" /><Relationship Type="http://schemas.openxmlformats.org/officeDocument/2006/relationships/image" Target="/ppt/media/image35.png" Id="R10707fdbbbaf4935" /><Relationship Type="http://schemas.openxmlformats.org/officeDocument/2006/relationships/notesSlide" Target="/ppt/notesSlides/notesSlide35.xml" Id="R11ae5a74f19449d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5d3fc33c604667" /><Relationship Type="http://schemas.openxmlformats.org/officeDocument/2006/relationships/image" Target="/ppt/media/image36.png" Id="Rf77c96e42e6447fa" /><Relationship Type="http://schemas.openxmlformats.org/officeDocument/2006/relationships/image" Target="/ppt/media/image37.png" Id="R67fe4e7f65bd4cbb" /><Relationship Type="http://schemas.openxmlformats.org/officeDocument/2006/relationships/notesSlide" Target="/ppt/notesSlides/notesSlide36.xml" Id="R2fceda9fa0fd4d0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0f089efe70491f" /><Relationship Type="http://schemas.openxmlformats.org/officeDocument/2006/relationships/notesSlide" Target="/ppt/notesSlides/notesSlide37.xml" Id="R15ab9d99ed8741f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266708f66843af" /><Relationship Type="http://schemas.openxmlformats.org/officeDocument/2006/relationships/image" Target="/ppt/media/image38.png" Id="R3db7b47733b34605" /><Relationship Type="http://schemas.openxmlformats.org/officeDocument/2006/relationships/notesSlide" Target="/ppt/notesSlides/notesSlide38.xml" Id="R67d36930a2834ef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3c33b384a94898" /><Relationship Type="http://schemas.openxmlformats.org/officeDocument/2006/relationships/image" Target="/ppt/media/image39.png" Id="R0e1a3b7ce49b4de1" /><Relationship Type="http://schemas.openxmlformats.org/officeDocument/2006/relationships/notesSlide" Target="/ppt/notesSlides/notesSlide39.xml" Id="R675f749000fe484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8adc8f1e354a61" /><Relationship Type="http://schemas.openxmlformats.org/officeDocument/2006/relationships/notesSlide" Target="/ppt/notesSlides/notesSlide40.xml" Id="Raaeff350759a4f5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81c8d29cb144b2" /><Relationship Type="http://schemas.openxmlformats.org/officeDocument/2006/relationships/image" Target="/ppt/media/image40.png" Id="R48631cfb13164e49" /><Relationship Type="http://schemas.openxmlformats.org/officeDocument/2006/relationships/image" Target="/ppt/media/image41.png" Id="R1cd2623362424a42" /><Relationship Type="http://schemas.openxmlformats.org/officeDocument/2006/relationships/notesSlide" Target="/ppt/notesSlides/notesSlide41.xml" Id="Rc9dcffde3a61471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05bf85fa564449" /><Relationship Type="http://schemas.openxmlformats.org/officeDocument/2006/relationships/image" Target="/ppt/media/image42.png" Id="Rfca210a17c584bea" /><Relationship Type="http://schemas.openxmlformats.org/officeDocument/2006/relationships/notesSlide" Target="/ppt/notesSlides/notesSlide42.xml" Id="Rd28818a81e6c46c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3fc7e014b34760" /><Relationship Type="http://schemas.openxmlformats.org/officeDocument/2006/relationships/image" Target="/ppt/media/image43.png" Id="R9efcd119bba842fd" /><Relationship Type="http://schemas.openxmlformats.org/officeDocument/2006/relationships/notesSlide" Target="/ppt/notesSlides/notesSlide43.xml" Id="R02d552735dd2446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8626a12dc94657" /><Relationship Type="http://schemas.openxmlformats.org/officeDocument/2006/relationships/image" Target="/ppt/media/image44.png" Id="R521255b5d7584266" /><Relationship Type="http://schemas.openxmlformats.org/officeDocument/2006/relationships/notesSlide" Target="/ppt/notesSlides/notesSlide44.xml" Id="R1a4584ca383149a5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6f11b94a234439" /><Relationship Type="http://schemas.openxmlformats.org/officeDocument/2006/relationships/image" Target="/ppt/media/image45.png" Id="R73138cb68a9e40a0" /><Relationship Type="http://schemas.openxmlformats.org/officeDocument/2006/relationships/notesSlide" Target="/ppt/notesSlides/notesSlide45.xml" Id="R3a9f7769b10946f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0aaab7124543ac" /><Relationship Type="http://schemas.openxmlformats.org/officeDocument/2006/relationships/image" Target="/ppt/media/image46.png" Id="R63cd85bfcdaf4635" /><Relationship Type="http://schemas.openxmlformats.org/officeDocument/2006/relationships/image" Target="/ppt/media/image47.png" Id="R971f1cd41fe34690" /><Relationship Type="http://schemas.openxmlformats.org/officeDocument/2006/relationships/notesSlide" Target="/ppt/notesSlides/notesSlide46.xml" Id="R6f5596fba63c4764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277f9e9653475e" /><Relationship Type="http://schemas.openxmlformats.org/officeDocument/2006/relationships/image" Target="/ppt/media/image48.png" Id="Rde9b9d8e7ff74139" /><Relationship Type="http://schemas.openxmlformats.org/officeDocument/2006/relationships/image" Target="/ppt/media/image49.png" Id="Rab85ee12ec924830" /><Relationship Type="http://schemas.openxmlformats.org/officeDocument/2006/relationships/notesSlide" Target="/ppt/notesSlides/notesSlide47.xml" Id="R74fccf4a77394af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56d3b8b7ba45e8" /><Relationship Type="http://schemas.openxmlformats.org/officeDocument/2006/relationships/image" Target="/ppt/media/image50.png" Id="R089ccb873ab94d08" /><Relationship Type="http://schemas.openxmlformats.org/officeDocument/2006/relationships/image" Target="/ppt/media/image51.png" Id="Rdda8052559d24d62" /><Relationship Type="http://schemas.openxmlformats.org/officeDocument/2006/relationships/notesSlide" Target="/ppt/notesSlides/notesSlide48.xml" Id="Rfaf545dad2084a1f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6e254231de41c0" /><Relationship Type="http://schemas.openxmlformats.org/officeDocument/2006/relationships/notesSlide" Target="/ppt/notesSlides/notesSlide49.xml" Id="R72e33565ce4c478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b996a7d646424b" /><Relationship Type="http://schemas.openxmlformats.org/officeDocument/2006/relationships/notesSlide" Target="/ppt/notesSlides/notesSlide50.xml" Id="R676ed297db6c4f64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72dc8d7c3f459b" /><Relationship Type="http://schemas.openxmlformats.org/officeDocument/2006/relationships/notesSlide" Target="/ppt/notesSlides/notesSlide51.xml" Id="Raf7bae71de3f4b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o Stacklyst">
            <a:extLst xmlns:a="http://schemas.openxmlformats.org/drawingml/2006/main">
              <a:ext uri="{FF2B5EF4-FFF2-40B4-BE49-F238E27FC236}">
                <a16:creationId xmlns:a16="http://schemas.microsoft.com/office/drawing/2014/main" id="{39177918-D020-4BC5-A5D0-EF0B3160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Stacklyst</a:t>
            </a:r>
          </a:p>
        </p:txBody>
      </p:sp>
      <p:sp>
        <p:nvSpPr>
          <p:cNvPr id="2" name="Texto Laboratório de Engenharia de Software">
            <a:extLst xmlns:a="http://schemas.openxmlformats.org/drawingml/2006/main">
              <a:ext uri="{FF2B5EF4-FFF2-40B4-BE49-F238E27FC236}">
                <a16:creationId xmlns:a16="http://schemas.microsoft.com/office/drawing/2014/main" id="{C0CEB168-EEC1-4D5A-95D5-B4653140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Laboratório de Engenharia de Software</a:t>
            </a:r>
          </a:p>
        </p:txBody>
      </p:sp>
      <p:sp>
        <p:nvSpPr>
          <p:cNvPr id="3" name="Texto 01">
            <a:extLst xmlns:a="http://schemas.openxmlformats.org/drawingml/2006/main">
              <a:ext uri="{FF2B5EF4-FFF2-40B4-BE49-F238E27FC236}">
                <a16:creationId xmlns:a16="http://schemas.microsoft.com/office/drawing/2014/main" id="{772400E7-8252-4458-BFC1-BC648799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06B09-200F-4FE8-9975-3CB0998DF1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cde174b1ae4ea0"/>
          <a:stretch xmlns:a="http://schemas.openxmlformats.org/drawingml/2006/main"/>
        </p:blipFill>
        <p:spPr>
          <a:xfrm xmlns:a="http://schemas.openxmlformats.org/drawingml/2006/main">
            <a:off x="905215" y="2305050"/>
            <a:ext cx="2132920" cy="1809750"/>
          </a:xfrm>
          <a:prstGeom xmlns:a="http://schemas.openxmlformats.org/drawingml/2006/main" prst="rect">
            <a:avLst/>
          </a:prstGeom>
        </p:spPr>
      </p:pic>
      <p:sp>
        <p:nvSpPr>
          <p:cNvPr id="5" name="Texto Processos de negócio,&#10;modelagem e funcionamento">
            <a:extLst xmlns:a="http://schemas.openxmlformats.org/drawingml/2006/main">
              <a:ext uri="{FF2B5EF4-FFF2-40B4-BE49-F238E27FC236}">
                <a16:creationId xmlns:a16="http://schemas.microsoft.com/office/drawing/2014/main" id="{9EF64FCB-9882-4F82-81C6-E1301DE4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24125"/>
            <a:ext cx="13620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48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48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48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48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48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48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48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48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48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48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Processos de negócio,</a:t>
            </a:r>
          </a:p>
          <a:p xmlns:a="http://schemas.openxmlformats.org/drawingml/2006/main">
            <a:pPr algn="l">
              <a:defRPr sz="48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modelagem e funcionamento</a:t>
            </a:r>
          </a:p>
        </p:txBody>
      </p:sp>
      <p:sp>
        <p:nvSpPr>
          <p:cNvPr id="6" name="Texto Pedro Antonio Silvestre Tescaro&#10;Guilherme Alves de">
            <a:extLst xmlns:a="http://schemas.openxmlformats.org/drawingml/2006/main">
              <a:ext uri="{FF2B5EF4-FFF2-40B4-BE49-F238E27FC236}">
                <a16:creationId xmlns:a16="http://schemas.microsoft.com/office/drawing/2014/main" id="{A4772B0D-3DBD-47B0-9B37-0F8FAB69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16192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Pedro Antonio Silvestre Tescaro</a:t>
            </a:r>
          </a:p>
          <a:p xmlns:a="http://schemas.openxmlformats.org/drawingml/2006/main">
            <a:pPr algn="l">
              <a:defRPr sz="27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Guilherme Alves de Campos</a:t>
            </a:r>
          </a:p>
          <a:p xmlns:a="http://schemas.openxmlformats.org/drawingml/2006/main">
            <a:pPr algn="l">
              <a:defRPr sz="27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Paulo Henrique Leal dos Santos</a:t>
            </a:r>
          </a:p>
        </p:txBody>
      </p:sp>
      <p:sp>
        <p:nvSpPr>
          <p:cNvPr id="7" name="Texto Seminário do projeto">
            <a:extLst xmlns:a="http://schemas.openxmlformats.org/drawingml/2006/main">
              <a:ext uri="{FF2B5EF4-FFF2-40B4-BE49-F238E27FC236}">
                <a16:creationId xmlns:a16="http://schemas.microsoft.com/office/drawing/2014/main" id="{64FE4D06-2E28-4732-9E36-4EA34D3B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63000"/>
            <a:ext cx="1619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Seminário do projeto</a:t>
            </a:r>
          </a:p>
        </p:txBody>
      </p:sp>
    </p:spTree>
    <p:extLst>
      <p:ext uri="{BB962C8B-B14F-4D97-AF65-F5344CB8AC3E}">
        <p14:creationId xmlns:p14="http://schemas.microsoft.com/office/powerpoint/2010/main" val="11831421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o O projeto e o problema">
            <a:extLst xmlns:a="http://schemas.openxmlformats.org/drawingml/2006/main">
              <a:ext uri="{FF2B5EF4-FFF2-40B4-BE49-F238E27FC236}">
                <a16:creationId xmlns:a16="http://schemas.microsoft.com/office/drawing/2014/main" id="{26F7959A-8473-4BEA-B3B7-43B5AD60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O projeto e o problema</a:t>
            </a:r>
          </a:p>
        </p:txBody>
      </p:sp>
      <p:sp>
        <p:nvSpPr>
          <p:cNvPr id="2" name="Texto Estudo de programação e oportunidades profissionai">
            <a:extLst xmlns:a="http://schemas.openxmlformats.org/drawingml/2006/main">
              <a:ext uri="{FF2B5EF4-FFF2-40B4-BE49-F238E27FC236}">
                <a16:creationId xmlns:a16="http://schemas.microsoft.com/office/drawing/2014/main" id="{547477A3-3176-4768-B9F7-F27742C7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Estudo de programação e oportunidades profissionais</a:t>
            </a:r>
          </a:p>
        </p:txBody>
      </p:sp>
      <p:sp>
        <p:nvSpPr>
          <p:cNvPr id="3" name="Texto 02">
            <a:extLst xmlns:a="http://schemas.openxmlformats.org/drawingml/2006/main">
              <a:ext uri="{FF2B5EF4-FFF2-40B4-BE49-F238E27FC236}">
                <a16:creationId xmlns:a16="http://schemas.microsoft.com/office/drawing/2014/main" id="{239539DA-44DB-486D-9AD5-0BB5DBA4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o Necessidade">
            <a:extLst xmlns:a="http://schemas.openxmlformats.org/drawingml/2006/main">
              <a:ext uri="{FF2B5EF4-FFF2-40B4-BE49-F238E27FC236}">
                <a16:creationId xmlns:a16="http://schemas.microsoft.com/office/drawing/2014/main" id="{07E69210-ADCD-4747-B8EB-C1A795D2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86000"/>
            <a:ext cx="1609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Necessidade</a:t>
            </a:r>
          </a:p>
        </p:txBody>
      </p:sp>
      <p:sp>
        <p:nvSpPr>
          <p:cNvPr id="5" name="Texto Organizar o estudo, praticar com retorno e acompan">
            <a:extLst xmlns:a="http://schemas.openxmlformats.org/drawingml/2006/main">
              <a:ext uri="{FF2B5EF4-FFF2-40B4-BE49-F238E27FC236}">
                <a16:creationId xmlns:a16="http://schemas.microsoft.com/office/drawing/2014/main" id="{85C6DBAB-0011-48CE-A77B-8D6AC49C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09875"/>
            <a:ext cx="16097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Organizar o estudo, praticar com retorno e acompanhar a própria evolução.</a:t>
            </a:r>
          </a:p>
        </p:txBody>
      </p:sp>
      <p:sp>
        <p:nvSpPr>
          <p:cNvPr id="6" name="Texto Apoio do sistema">
            <a:extLst xmlns:a="http://schemas.openxmlformats.org/drawingml/2006/main">
              <a:ext uri="{FF2B5EF4-FFF2-40B4-BE49-F238E27FC236}">
                <a16:creationId xmlns:a16="http://schemas.microsoft.com/office/drawing/2014/main" id="{BA1AFCDB-06EE-433E-994E-58A129DF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76750"/>
            <a:ext cx="1609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Apoio do sistema</a:t>
            </a:r>
          </a:p>
        </p:txBody>
      </p:sp>
      <p:sp>
        <p:nvSpPr>
          <p:cNvPr id="7" name="Texto Trilhas e lições conectam conteúdo, exercícios e p">
            <a:extLst xmlns:a="http://schemas.openxmlformats.org/drawingml/2006/main">
              <a:ext uri="{FF2B5EF4-FFF2-40B4-BE49-F238E27FC236}">
                <a16:creationId xmlns:a16="http://schemas.microsoft.com/office/drawing/2014/main" id="{ADF46B93-727C-4949-A499-5C9C6A64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00625"/>
            <a:ext cx="16097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Trilhas e lições conectam conteúdo, exercícios e progresso do estudante.</a:t>
            </a:r>
          </a:p>
        </p:txBody>
      </p:sp>
      <p:sp>
        <p:nvSpPr>
          <p:cNvPr id="8" name="Texto Percurso apresentado">
            <a:extLst xmlns:a="http://schemas.openxmlformats.org/drawingml/2006/main">
              <a:ext uri="{FF2B5EF4-FFF2-40B4-BE49-F238E27FC236}">
                <a16:creationId xmlns:a16="http://schemas.microsoft.com/office/drawing/2014/main" id="{96E21E76-E0B6-443A-950B-32CC9C32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667500"/>
            <a:ext cx="1609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Percurso apresentado</a:t>
            </a:r>
          </a:p>
        </p:txBody>
      </p:sp>
      <p:sp>
        <p:nvSpPr>
          <p:cNvPr id="9" name="Texto Após a aprendizagem, o grupo publica uma oportunid">
            <a:extLst xmlns:a="http://schemas.openxmlformats.org/drawingml/2006/main">
              <a:ext uri="{FF2B5EF4-FFF2-40B4-BE49-F238E27FC236}">
                <a16:creationId xmlns:a16="http://schemas.microsoft.com/office/drawing/2014/main" id="{BA37366D-65C9-496F-8D13-21B663F9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191375"/>
            <a:ext cx="16097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Após a aprendizagem, o grupo publica uma oportunidade, registra a candidatura e acompanha a seleção.</a:t>
            </a:r>
          </a:p>
        </p:txBody>
      </p:sp>
    </p:spTree>
    <p:extLst>
      <p:ext uri="{BB962C8B-B14F-4D97-AF65-F5344CB8AC3E}">
        <p14:creationId xmlns:p14="http://schemas.microsoft.com/office/powerpoint/2010/main" val="9270595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o Ordem da apresentação">
            <a:extLst xmlns:a="http://schemas.openxmlformats.org/drawingml/2006/main">
              <a:ext uri="{FF2B5EF4-FFF2-40B4-BE49-F238E27FC236}">
                <a16:creationId xmlns:a16="http://schemas.microsoft.com/office/drawing/2014/main" id="{4C29328E-B352-4F04-93DB-AB46FDFA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Ordem da apresentação</a:t>
            </a:r>
          </a:p>
        </p:txBody>
      </p:sp>
      <p:sp>
        <p:nvSpPr>
          <p:cNvPr id="2" name="Texto A continuidade entre os integrantes orienta a demo">
            <a:extLst xmlns:a="http://schemas.openxmlformats.org/drawingml/2006/main">
              <a:ext uri="{FF2B5EF4-FFF2-40B4-BE49-F238E27FC236}">
                <a16:creationId xmlns:a16="http://schemas.microsoft.com/office/drawing/2014/main" id="{538E7815-9588-4137-9DD9-3D7FF49A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A continuidade entre os integrantes orienta a demonstração</a:t>
            </a:r>
          </a:p>
        </p:txBody>
      </p:sp>
      <p:sp>
        <p:nvSpPr>
          <p:cNvPr id="3" name="Texto 03">
            <a:extLst xmlns:a="http://schemas.openxmlformats.org/drawingml/2006/main">
              <a:ext uri="{FF2B5EF4-FFF2-40B4-BE49-F238E27FC236}">
                <a16:creationId xmlns:a16="http://schemas.microsoft.com/office/drawing/2014/main" id="{37A0CC8C-84B8-482A-863A-768152C7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92751-83F5-446B-8E90-A1544B3F655D}"/>
              </a:ext>
            </a:extLst>
          </p:cNvPr>
          <p:cNvGraphicFramePr/>
          <p:nvPr/>
        </p:nvGraphicFramePr>
        <p:xfrm>
          <a:off xmlns:a="http://schemas.openxmlformats.org/drawingml/2006/main" x="838200" y="2095500"/>
          <a:ext xmlns:a="http://schemas.openxmlformats.org/drawingml/2006/main" cx="16611600" cy="638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10572750"/>
                <a:gridCol w="2324100"/>
              </a:tblGrid>
              <a:tr h="762000">
                <a:tc>
                  <a:txBody>
                    <a:bodyPr lIns="190500" tIns="161925" rIns="190500" bIns="161925"/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Responsável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C"/>
                      </a:solidFill>
                      <a:prstDash val="solid"/>
                    </a:lnL>
                    <a:lnR w="9525">
                      <a:solidFill>
                        <a:srgbClr val="CCD6DC"/>
                      </a:solidFill>
                      <a:prstDash val="solid"/>
                    </a:lnR>
                    <a:lnT w="9525">
                      <a:solidFill>
                        <a:srgbClr val="CCD6DC"/>
                      </a:solidFill>
                      <a:prstDash val="solid"/>
                    </a:lnT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142B3B"/>
                    </a:solidFill>
                  </a:tcPr>
                </a:tc>
                <a:tc>
                  <a:txBody>
                    <a:bodyPr lIns="190500" tIns="161925" rIns="190500" bIns="161925"/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Funcionalidade e continuidade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C"/>
                      </a:solidFill>
                      <a:prstDash val="solid"/>
                    </a:lnR>
                    <a:lnT w="9525">
                      <a:solidFill>
                        <a:srgbClr val="CCD6DC"/>
                      </a:solidFill>
                      <a:prstDash val="solid"/>
                    </a:lnT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142B3B"/>
                    </a:solidFill>
                  </a:tcPr>
                </a:tc>
                <a:tc>
                  <a:txBody>
                    <a:bodyPr lIns="190500" tIns="161925" rIns="190500" bIns="161925"/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Tempo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C"/>
                      </a:solidFill>
                      <a:prstDash val="solid"/>
                    </a:lnR>
                    <a:lnT w="9525">
                      <a:solidFill>
                        <a:srgbClr val="CCD6DC"/>
                      </a:solidFill>
                      <a:prstDash val="solid"/>
                    </a:lnT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142B3B"/>
                    </a:solidFill>
                  </a:tcPr>
                </a:tc>
              </a:tr>
              <a:tr h="1123950">
                <a:tc>
                  <a:txBody>
                    <a:bodyPr lIns="190500" tIns="161925" rIns="190500" bIns="161925"/>
                    <a:lstStyle/>
                    <a:p>
                      <a:r>
                        <a:rPr sz="232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Grupo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C"/>
                      </a:solidFill>
                      <a:prstDash val="solid"/>
                    </a:lnL>
                    <a:lnR w="9525">
                      <a:solidFill>
                        <a:srgbClr val="CCD6DC"/>
                      </a:solidFill>
                      <a:prstDash val="solid"/>
                    </a:lnR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0" tIns="161925" rIns="190500" bIns="161925"/>
                    <a:lstStyle/>
                    <a:p>
                      <a:r>
                        <a:rPr sz="232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Projeto, atividades do negócio e casos de uso gerais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C"/>
                      </a:solidFill>
                      <a:prstDash val="solid"/>
                    </a:lnR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0" tIns="161925" rIns="190500" bIns="161925"/>
                    <a:lstStyle/>
                    <a:p>
                      <a:r>
                        <a:rPr sz="232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9 min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C"/>
                      </a:solidFill>
                      <a:prstDash val="solid"/>
                    </a:lnR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23950">
                <a:tc>
                  <a:txBody>
                    <a:bodyPr lIns="190500" tIns="161925" rIns="190500" bIns="161925"/>
                    <a:lstStyle/>
                    <a:p>
                      <a:r>
                        <a:rPr sz="232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Pedro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C"/>
                      </a:solidFill>
                      <a:prstDash val="solid"/>
                    </a:lnL>
                    <a:lnR w="9525">
                      <a:solidFill>
                        <a:srgbClr val="CCD6DC"/>
                      </a:solidFill>
                      <a:prstDash val="solid"/>
                    </a:lnR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0" tIns="161925" rIns="190500" bIns="161925"/>
                    <a:lstStyle/>
                    <a:p>
                      <a:r>
                        <a:rPr sz="232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Lição e exercício, modelos gerais e progresso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C"/>
                      </a:solidFill>
                      <a:prstDash val="solid"/>
                    </a:lnR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0" tIns="161925" rIns="190500" bIns="161925"/>
                    <a:lstStyle/>
                    <a:p>
                      <a:r>
                        <a:rPr sz="232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13 min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C"/>
                      </a:solidFill>
                      <a:prstDash val="solid"/>
                    </a:lnR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23950">
                <a:tc>
                  <a:txBody>
                    <a:bodyPr lIns="190500" tIns="161925" rIns="190500" bIns="161925"/>
                    <a:lstStyle/>
                    <a:p>
                      <a:r>
                        <a:rPr sz="232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Guilherme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C"/>
                      </a:solidFill>
                      <a:prstDash val="solid"/>
                    </a:lnL>
                    <a:lnR w="9525">
                      <a:solidFill>
                        <a:srgbClr val="CCD6DC"/>
                      </a:solidFill>
                      <a:prstDash val="solid"/>
                    </a:lnR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0" tIns="161925" rIns="190500" bIns="161925"/>
                    <a:lstStyle/>
                    <a:p>
                      <a:r>
                        <a:rPr sz="232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Publicar a vaga que será usada na candidatura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C"/>
                      </a:solidFill>
                      <a:prstDash val="solid"/>
                    </a:lnR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0" tIns="161925" rIns="190500" bIns="161925"/>
                    <a:lstStyle/>
                    <a:p>
                      <a:r>
                        <a:rPr sz="232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12 min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C"/>
                      </a:solidFill>
                      <a:prstDash val="solid"/>
                    </a:lnR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23950">
                <a:tc>
                  <a:txBody>
                    <a:bodyPr lIns="190500" tIns="161925" rIns="190500" bIns="161925"/>
                    <a:lstStyle/>
                    <a:p>
                      <a:r>
                        <a:rPr sz="232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Paulo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C"/>
                      </a:solidFill>
                      <a:prstDash val="solid"/>
                    </a:lnL>
                    <a:lnR w="9525">
                      <a:solidFill>
                        <a:srgbClr val="CCD6DC"/>
                      </a:solidFill>
                      <a:prstDash val="solid"/>
                    </a:lnR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0" tIns="161925" rIns="190500" bIns="161925"/>
                    <a:lstStyle/>
                    <a:p>
                      <a:r>
                        <a:rPr sz="232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Candidatura, avanço da seleção e notificação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C"/>
                      </a:solidFill>
                      <a:prstDash val="solid"/>
                    </a:lnR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0" tIns="161925" rIns="190500" bIns="161925"/>
                    <a:lstStyle/>
                    <a:p>
                      <a:r>
                        <a:rPr sz="232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14 min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C"/>
                      </a:solidFill>
                      <a:prstDash val="solid"/>
                    </a:lnR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23950">
                <a:tc>
                  <a:txBody>
                    <a:bodyPr lIns="190500" tIns="161925" rIns="190500" bIns="161925"/>
                    <a:lstStyle/>
                    <a:p>
                      <a:r>
                        <a:rPr sz="232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Grupo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C"/>
                      </a:solidFill>
                      <a:prstDash val="solid"/>
                    </a:lnL>
                    <a:lnR w="9525">
                      <a:solidFill>
                        <a:srgbClr val="CCD6DC"/>
                      </a:solidFill>
                      <a:prstDash val="solid"/>
                    </a:lnR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0" tIns="161925" rIns="190500" bIns="161925"/>
                    <a:lstStyle/>
                    <a:p>
                      <a:r>
                        <a:rPr sz="232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Encerramento e perguntas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C"/>
                      </a:solidFill>
                      <a:prstDash val="solid"/>
                    </a:lnR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0" tIns="161925" rIns="190500" bIns="161925"/>
                    <a:lstStyle/>
                    <a:p>
                      <a:r>
                        <a:rPr sz="232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7 min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C"/>
                      </a:solidFill>
                      <a:prstDash val="solid"/>
                    </a:lnR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o Planejamento de 55 minutos, com 5 minutos de marge">
            <a:extLst xmlns:a="http://schemas.openxmlformats.org/drawingml/2006/main">
              <a:ext uri="{FF2B5EF4-FFF2-40B4-BE49-F238E27FC236}">
                <a16:creationId xmlns:a16="http://schemas.microsoft.com/office/drawing/2014/main" id="{F6318D0A-BD3A-4593-84EC-87369BB5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905875"/>
            <a:ext cx="1647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Planejamento de 55 minutos, com 5 minutos de margem até o limite de uma hora.</a:t>
            </a:r>
          </a:p>
        </p:txBody>
      </p:sp>
    </p:spTree>
    <p:extLst>
      <p:ext uri="{BB962C8B-B14F-4D97-AF65-F5344CB8AC3E}">
        <p14:creationId xmlns:p14="http://schemas.microsoft.com/office/powerpoint/2010/main" val="20751956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o Estudar programação">
            <a:extLst xmlns:a="http://schemas.openxmlformats.org/drawingml/2006/main">
              <a:ext uri="{FF2B5EF4-FFF2-40B4-BE49-F238E27FC236}">
                <a16:creationId xmlns:a16="http://schemas.microsoft.com/office/drawing/2014/main" id="{B3E31EFF-3059-4542-AB59-CD061115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Estudar programação</a:t>
            </a:r>
          </a:p>
        </p:txBody>
      </p:sp>
      <p:sp>
        <p:nvSpPr>
          <p:cNvPr id="2" name="Texto AN01  Atividades do negócio">
            <a:extLst xmlns:a="http://schemas.openxmlformats.org/drawingml/2006/main">
              <a:ext uri="{FF2B5EF4-FFF2-40B4-BE49-F238E27FC236}">
                <a16:creationId xmlns:a16="http://schemas.microsoft.com/office/drawing/2014/main" id="{786FEA2A-B2F4-4FF9-82BA-13711FB7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AN01  Atividades do negócio</a:t>
            </a:r>
          </a:p>
        </p:txBody>
      </p:sp>
      <p:sp>
        <p:nvSpPr>
          <p:cNvPr id="3" name="Texto 04">
            <a:extLst xmlns:a="http://schemas.openxmlformats.org/drawingml/2006/main">
              <a:ext uri="{FF2B5EF4-FFF2-40B4-BE49-F238E27FC236}">
                <a16:creationId xmlns:a16="http://schemas.microsoft.com/office/drawing/2014/main" id="{014F252B-F45F-422B-9F73-C25CA0EF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08CCF-5734-4EFC-8CCC-2415327FA2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2656e083894e99"/>
          <a:stretch xmlns:a="http://schemas.openxmlformats.org/drawingml/2006/main"/>
        </p:blipFill>
        <p:spPr>
          <a:xfrm xmlns:a="http://schemas.openxmlformats.org/drawingml/2006/main">
            <a:off x="2628957" y="1952625"/>
            <a:ext cx="13030086" cy="7096125"/>
          </a:xfrm>
          <a:prstGeom xmlns:a="http://schemas.openxmlformats.org/drawingml/2006/main" prst="rect">
            <a:avLst/>
          </a:prstGeom>
        </p:spPr>
      </p:pic>
      <p:sp>
        <p:nvSpPr>
          <p:cNvPr id="5" name="Texto Organizar o estudo e verificar se o conteúdo foi c">
            <a:extLst xmlns:a="http://schemas.openxmlformats.org/drawingml/2006/main">
              <a:ext uri="{FF2B5EF4-FFF2-40B4-BE49-F238E27FC236}">
                <a16:creationId xmlns:a16="http://schemas.microsoft.com/office/drawing/2014/main" id="{D5DB532E-3287-4B8F-A870-20EEC7C4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124950"/>
            <a:ext cx="1647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Organizar o estudo e verificar se o conteúdo foi compreendido e aplicado.</a:t>
            </a:r>
          </a:p>
        </p:txBody>
      </p:sp>
    </p:spTree>
    <p:extLst>
      <p:ext uri="{BB962C8B-B14F-4D97-AF65-F5344CB8AC3E}">
        <p14:creationId xmlns:p14="http://schemas.microsoft.com/office/powerpoint/2010/main" val="11801367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o Praticar exercícios de programação">
            <a:extLst xmlns:a="http://schemas.openxmlformats.org/drawingml/2006/main">
              <a:ext uri="{FF2B5EF4-FFF2-40B4-BE49-F238E27FC236}">
                <a16:creationId xmlns:a16="http://schemas.microsoft.com/office/drawing/2014/main" id="{0C58E88D-FAC1-4E86-9320-10ECA147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Praticar exercícios de programação</a:t>
            </a:r>
          </a:p>
        </p:txBody>
      </p:sp>
      <p:sp>
        <p:nvSpPr>
          <p:cNvPr id="2" name="Texto AN02  Atividades do negócio">
            <a:extLst xmlns:a="http://schemas.openxmlformats.org/drawingml/2006/main">
              <a:ext uri="{FF2B5EF4-FFF2-40B4-BE49-F238E27FC236}">
                <a16:creationId xmlns:a16="http://schemas.microsoft.com/office/drawing/2014/main" id="{AD043C1F-6F54-4439-AA60-6B0C92D9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AN02  Atividades do negócio</a:t>
            </a:r>
          </a:p>
        </p:txBody>
      </p:sp>
      <p:sp>
        <p:nvSpPr>
          <p:cNvPr id="3" name="Texto 05">
            <a:extLst xmlns:a="http://schemas.openxmlformats.org/drawingml/2006/main">
              <a:ext uri="{FF2B5EF4-FFF2-40B4-BE49-F238E27FC236}">
                <a16:creationId xmlns:a16="http://schemas.microsoft.com/office/drawing/2014/main" id="{17FCB92F-4909-4C16-8628-F2F305ED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ACB0C-2BF5-49C2-876C-687CB6A26F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6b1c72b3947a5"/>
          <a:stretch xmlns:a="http://schemas.openxmlformats.org/drawingml/2006/main"/>
        </p:blipFill>
        <p:spPr>
          <a:xfrm xmlns:a="http://schemas.openxmlformats.org/drawingml/2006/main">
            <a:off x="2628957" y="1952625"/>
            <a:ext cx="13030086" cy="7096125"/>
          </a:xfrm>
          <a:prstGeom xmlns:a="http://schemas.openxmlformats.org/drawingml/2006/main" prst="rect">
            <a:avLst/>
          </a:prstGeom>
        </p:spPr>
      </p:pic>
      <p:sp>
        <p:nvSpPr>
          <p:cNvPr id="5" name="Texto Resolver um problema, testar exemplos e compreende">
            <a:extLst xmlns:a="http://schemas.openxmlformats.org/drawingml/2006/main">
              <a:ext uri="{FF2B5EF4-FFF2-40B4-BE49-F238E27FC236}">
                <a16:creationId xmlns:a16="http://schemas.microsoft.com/office/drawing/2014/main" id="{59579EFA-D0E3-4485-89B2-C319F307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124950"/>
            <a:ext cx="1647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Resolver um problema, testar exemplos e compreender os erros encontrados.</a:t>
            </a:r>
          </a:p>
        </p:txBody>
      </p:sp>
    </p:spTree>
    <p:extLst>
      <p:ext uri="{BB962C8B-B14F-4D97-AF65-F5344CB8AC3E}">
        <p14:creationId xmlns:p14="http://schemas.microsoft.com/office/powerpoint/2010/main" val="6113029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o Acompanhar a própria aprendizagem">
            <a:extLst xmlns:a="http://schemas.openxmlformats.org/drawingml/2006/main">
              <a:ext uri="{FF2B5EF4-FFF2-40B4-BE49-F238E27FC236}">
                <a16:creationId xmlns:a16="http://schemas.microsoft.com/office/drawing/2014/main" id="{373D0C33-B4B5-4890-B811-828D66AA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Acompanhar a própria aprendizagem</a:t>
            </a:r>
          </a:p>
        </p:txBody>
      </p:sp>
      <p:sp>
        <p:nvSpPr>
          <p:cNvPr id="2" name="Texto AN03  Atividades do negócio">
            <a:extLst xmlns:a="http://schemas.openxmlformats.org/drawingml/2006/main">
              <a:ext uri="{FF2B5EF4-FFF2-40B4-BE49-F238E27FC236}">
                <a16:creationId xmlns:a16="http://schemas.microsoft.com/office/drawing/2014/main" id="{55424020-35E0-41F2-918C-C09BA21D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AN03  Atividades do negócio</a:t>
            </a:r>
          </a:p>
        </p:txBody>
      </p:sp>
      <p:sp>
        <p:nvSpPr>
          <p:cNvPr id="3" name="Texto 06">
            <a:extLst xmlns:a="http://schemas.openxmlformats.org/drawingml/2006/main">
              <a:ext uri="{FF2B5EF4-FFF2-40B4-BE49-F238E27FC236}">
                <a16:creationId xmlns:a16="http://schemas.microsoft.com/office/drawing/2014/main" id="{4B512DCA-2AB1-4305-905C-462D7E9D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4F1CE-E252-474A-8E16-6FE2043D25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0d084e3b141c6"/>
          <a:stretch xmlns:a="http://schemas.openxmlformats.org/drawingml/2006/main"/>
        </p:blipFill>
        <p:spPr>
          <a:xfrm xmlns:a="http://schemas.openxmlformats.org/drawingml/2006/main">
            <a:off x="2628957" y="1952625"/>
            <a:ext cx="13030086" cy="7096125"/>
          </a:xfrm>
          <a:prstGeom xmlns:a="http://schemas.openxmlformats.org/drawingml/2006/main" prst="rect">
            <a:avLst/>
          </a:prstGeom>
        </p:spPr>
      </p:pic>
      <p:sp>
        <p:nvSpPr>
          <p:cNvPr id="5" name="Texto Comparar os resultados aos objetivos e ajustar o p">
            <a:extLst xmlns:a="http://schemas.openxmlformats.org/drawingml/2006/main">
              <a:ext uri="{FF2B5EF4-FFF2-40B4-BE49-F238E27FC236}">
                <a16:creationId xmlns:a16="http://schemas.microsoft.com/office/drawing/2014/main" id="{27B164BE-C431-44AC-A94F-5A2D4182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124950"/>
            <a:ext cx="1647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Comparar os resultados aos objetivos e ajustar o planejamento de estudo.</a:t>
            </a:r>
          </a:p>
        </p:txBody>
      </p:sp>
    </p:spTree>
    <p:extLst>
      <p:ext uri="{BB962C8B-B14F-4D97-AF65-F5344CB8AC3E}">
        <p14:creationId xmlns:p14="http://schemas.microsoft.com/office/powerpoint/2010/main" val="16869726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o Buscar ajuda para uma dúvida">
            <a:extLst xmlns:a="http://schemas.openxmlformats.org/drawingml/2006/main">
              <a:ext uri="{FF2B5EF4-FFF2-40B4-BE49-F238E27FC236}">
                <a16:creationId xmlns:a16="http://schemas.microsoft.com/office/drawing/2014/main" id="{F5036CB5-2039-43FE-B100-42087D49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Buscar ajuda para uma dúvida</a:t>
            </a:r>
          </a:p>
        </p:txBody>
      </p:sp>
      <p:sp>
        <p:nvSpPr>
          <p:cNvPr id="2" name="Texto AN04  Atividades do negócio">
            <a:extLst xmlns:a="http://schemas.openxmlformats.org/drawingml/2006/main">
              <a:ext uri="{FF2B5EF4-FFF2-40B4-BE49-F238E27FC236}">
                <a16:creationId xmlns:a16="http://schemas.microsoft.com/office/drawing/2014/main" id="{6FB750E7-7973-4F0D-81F7-CC22B771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AN04  Atividades do negócio</a:t>
            </a:r>
          </a:p>
        </p:txBody>
      </p:sp>
      <p:sp>
        <p:nvSpPr>
          <p:cNvPr id="3" name="Texto 07">
            <a:extLst xmlns:a="http://schemas.openxmlformats.org/drawingml/2006/main">
              <a:ext uri="{FF2B5EF4-FFF2-40B4-BE49-F238E27FC236}">
                <a16:creationId xmlns:a16="http://schemas.microsoft.com/office/drawing/2014/main" id="{CDF7C5CE-2479-42D0-9FFF-BA498033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0060D-4536-4BFB-AF45-05799801A7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cbb87eeff408e"/>
          <a:stretch xmlns:a="http://schemas.openxmlformats.org/drawingml/2006/main"/>
        </p:blipFill>
        <p:spPr>
          <a:xfrm xmlns:a="http://schemas.openxmlformats.org/drawingml/2006/main">
            <a:off x="3314073" y="1952625"/>
            <a:ext cx="11659854" cy="7096125"/>
          </a:xfrm>
          <a:prstGeom xmlns:a="http://schemas.openxmlformats.org/drawingml/2006/main" prst="rect">
            <a:avLst/>
          </a:prstGeom>
        </p:spPr>
      </p:pic>
      <p:sp>
        <p:nvSpPr>
          <p:cNvPr id="5" name="Texto Esclarecer uma dúvida e conferir a explicação em u">
            <a:extLst xmlns:a="http://schemas.openxmlformats.org/drawingml/2006/main">
              <a:ext uri="{FF2B5EF4-FFF2-40B4-BE49-F238E27FC236}">
                <a16:creationId xmlns:a16="http://schemas.microsoft.com/office/drawing/2014/main" id="{76430CB1-4E29-48BC-9797-4DFFA1BB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124950"/>
            <a:ext cx="1647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Esclarecer uma dúvida e conferir a explicação em um exemplo.</a:t>
            </a:r>
          </a:p>
        </p:txBody>
      </p:sp>
    </p:spTree>
    <p:extLst>
      <p:ext uri="{BB962C8B-B14F-4D97-AF65-F5344CB8AC3E}">
        <p14:creationId xmlns:p14="http://schemas.microsoft.com/office/powerpoint/2010/main" val="12757872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o Divulgar oportunidade de trabalho">
            <a:extLst xmlns:a="http://schemas.openxmlformats.org/drawingml/2006/main">
              <a:ext uri="{FF2B5EF4-FFF2-40B4-BE49-F238E27FC236}">
                <a16:creationId xmlns:a16="http://schemas.microsoft.com/office/drawing/2014/main" id="{B53916F0-15E9-43C8-BAE4-8F0A0330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Divulgar oportunidade de trabalho</a:t>
            </a:r>
          </a:p>
        </p:txBody>
      </p:sp>
      <p:sp>
        <p:nvSpPr>
          <p:cNvPr id="2" name="Texto AN05A  Atividades do negócio">
            <a:extLst xmlns:a="http://schemas.openxmlformats.org/drawingml/2006/main">
              <a:ext uri="{FF2B5EF4-FFF2-40B4-BE49-F238E27FC236}">
                <a16:creationId xmlns:a16="http://schemas.microsoft.com/office/drawing/2014/main" id="{95ED1BFC-6339-4CAF-9F7C-C8717454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AN05A  Atividades do negócio</a:t>
            </a:r>
          </a:p>
        </p:txBody>
      </p:sp>
      <p:sp>
        <p:nvSpPr>
          <p:cNvPr id="3" name="Texto 08">
            <a:extLst xmlns:a="http://schemas.openxmlformats.org/drawingml/2006/main">
              <a:ext uri="{FF2B5EF4-FFF2-40B4-BE49-F238E27FC236}">
                <a16:creationId xmlns:a16="http://schemas.microsoft.com/office/drawing/2014/main" id="{BA17659B-DAD5-41D5-B092-74C9A203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82A0A-306E-4FFC-AE04-12AE2D0CF3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b88018b6544e34"/>
          <a:stretch xmlns:a="http://schemas.openxmlformats.org/drawingml/2006/main"/>
        </p:blipFill>
        <p:spPr>
          <a:xfrm xmlns:a="http://schemas.openxmlformats.org/drawingml/2006/main">
            <a:off x="3047625" y="1952625"/>
            <a:ext cx="12192751" cy="7096125"/>
          </a:xfrm>
          <a:prstGeom xmlns:a="http://schemas.openxmlformats.org/drawingml/2006/main" prst="rect">
            <a:avLst/>
          </a:prstGeom>
        </p:spPr>
      </p:pic>
      <p:sp>
        <p:nvSpPr>
          <p:cNvPr id="5" name="Texto Definir e divulgar uma oportunidade profissional c">
            <a:extLst xmlns:a="http://schemas.openxmlformats.org/drawingml/2006/main">
              <a:ext uri="{FF2B5EF4-FFF2-40B4-BE49-F238E27FC236}">
                <a16:creationId xmlns:a16="http://schemas.microsoft.com/office/drawing/2014/main" id="{D886260B-CE65-4D27-A335-467AACFE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124950"/>
            <a:ext cx="1647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Definir e divulgar uma oportunidade profissional com informações conferidas.</a:t>
            </a:r>
          </a:p>
        </p:txBody>
      </p:sp>
    </p:spTree>
    <p:extLst>
      <p:ext uri="{BB962C8B-B14F-4D97-AF65-F5344CB8AC3E}">
        <p14:creationId xmlns:p14="http://schemas.microsoft.com/office/powerpoint/2010/main" val="9491556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o Candidatar-se e acompanhar a seleção">
            <a:extLst xmlns:a="http://schemas.openxmlformats.org/drawingml/2006/main">
              <a:ext uri="{FF2B5EF4-FFF2-40B4-BE49-F238E27FC236}">
                <a16:creationId xmlns:a16="http://schemas.microsoft.com/office/drawing/2014/main" id="{B1F95B6D-D450-4F76-994D-36BE5C17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Candidatar-se e acompanhar a seleção</a:t>
            </a:r>
          </a:p>
        </p:txBody>
      </p:sp>
      <p:sp>
        <p:nvSpPr>
          <p:cNvPr id="2" name="Texto AN05B  Atividades do negócio">
            <a:extLst xmlns:a="http://schemas.openxmlformats.org/drawingml/2006/main">
              <a:ext uri="{FF2B5EF4-FFF2-40B4-BE49-F238E27FC236}">
                <a16:creationId xmlns:a16="http://schemas.microsoft.com/office/drawing/2014/main" id="{110F7676-D207-4FDC-8720-BD2D2B0E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AN05B  Atividades do negócio</a:t>
            </a:r>
          </a:p>
        </p:txBody>
      </p:sp>
      <p:sp>
        <p:nvSpPr>
          <p:cNvPr id="3" name="Texto 09">
            <a:extLst xmlns:a="http://schemas.openxmlformats.org/drawingml/2006/main">
              <a:ext uri="{FF2B5EF4-FFF2-40B4-BE49-F238E27FC236}">
                <a16:creationId xmlns:a16="http://schemas.microsoft.com/office/drawing/2014/main" id="{3DBBD98A-DA83-4C84-B3F7-F296D298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CA128-5F92-474F-974B-B113909D8A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d24160e8ed4106"/>
          <a:stretch xmlns:a="http://schemas.openxmlformats.org/drawingml/2006/main"/>
        </p:blipFill>
        <p:spPr>
          <a:xfrm xmlns:a="http://schemas.openxmlformats.org/drawingml/2006/main">
            <a:off x="1355756" y="1952625"/>
            <a:ext cx="15576489" cy="7096125"/>
          </a:xfrm>
          <a:prstGeom xmlns:a="http://schemas.openxmlformats.org/drawingml/2006/main" prst="rect">
            <a:avLst/>
          </a:prstGeom>
        </p:spPr>
      </p:pic>
      <p:sp>
        <p:nvSpPr>
          <p:cNvPr id="5" name="Texto Enviar o currículo e acompanhar as etapas e o resu">
            <a:extLst xmlns:a="http://schemas.openxmlformats.org/drawingml/2006/main">
              <a:ext uri="{FF2B5EF4-FFF2-40B4-BE49-F238E27FC236}">
                <a16:creationId xmlns:a16="http://schemas.microsoft.com/office/drawing/2014/main" id="{6DB9DC08-F106-434D-86AD-A716D084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124950"/>
            <a:ext cx="1647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Enviar o currículo e acompanhar as etapas e o resultado da seleção.</a:t>
            </a:r>
          </a:p>
        </p:txBody>
      </p:sp>
    </p:spTree>
    <p:extLst>
      <p:ext uri="{BB962C8B-B14F-4D97-AF65-F5344CB8AC3E}">
        <p14:creationId xmlns:p14="http://schemas.microsoft.com/office/powerpoint/2010/main" val="14464307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o Descobrir e participar de um evento">
            <a:extLst xmlns:a="http://schemas.openxmlformats.org/drawingml/2006/main">
              <a:ext uri="{FF2B5EF4-FFF2-40B4-BE49-F238E27FC236}">
                <a16:creationId xmlns:a16="http://schemas.microsoft.com/office/drawing/2014/main" id="{32FC5808-3CB8-48D2-BD0F-D8190ADF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Descobrir e participar de um evento</a:t>
            </a:r>
          </a:p>
        </p:txBody>
      </p:sp>
      <p:sp>
        <p:nvSpPr>
          <p:cNvPr id="2" name="Texto AN06  Atividades do negócio">
            <a:extLst xmlns:a="http://schemas.openxmlformats.org/drawingml/2006/main">
              <a:ext uri="{FF2B5EF4-FFF2-40B4-BE49-F238E27FC236}">
                <a16:creationId xmlns:a16="http://schemas.microsoft.com/office/drawing/2014/main" id="{DB388110-F9AF-49D5-B623-3C021C75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AN06  Atividades do negócio</a:t>
            </a:r>
          </a:p>
        </p:txBody>
      </p:sp>
      <p:sp>
        <p:nvSpPr>
          <p:cNvPr id="3" name="Texto 10">
            <a:extLst xmlns:a="http://schemas.openxmlformats.org/drawingml/2006/main">
              <a:ext uri="{FF2B5EF4-FFF2-40B4-BE49-F238E27FC236}">
                <a16:creationId xmlns:a16="http://schemas.microsoft.com/office/drawing/2014/main" id="{5F4E2102-BC98-4CA5-875C-146235FE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26ACB-3988-4857-B1DD-DF51A2CD42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51318f80a41a3"/>
          <a:stretch xmlns:a="http://schemas.openxmlformats.org/drawingml/2006/main"/>
        </p:blipFill>
        <p:spPr>
          <a:xfrm xmlns:a="http://schemas.openxmlformats.org/drawingml/2006/main">
            <a:off x="3225902" y="1952625"/>
            <a:ext cx="11836197" cy="7096125"/>
          </a:xfrm>
          <a:prstGeom xmlns:a="http://schemas.openxmlformats.org/drawingml/2006/main" prst="rect">
            <a:avLst/>
          </a:prstGeom>
        </p:spPr>
      </p:pic>
      <p:sp>
        <p:nvSpPr>
          <p:cNvPr id="5" name="Texto Encontrar um evento e organizar a inscrição e a pa">
            <a:extLst xmlns:a="http://schemas.openxmlformats.org/drawingml/2006/main">
              <a:ext uri="{FF2B5EF4-FFF2-40B4-BE49-F238E27FC236}">
                <a16:creationId xmlns:a16="http://schemas.microsoft.com/office/drawing/2014/main" id="{A422A014-72AA-4C5E-B658-49F37195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124950"/>
            <a:ext cx="1647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Encontrar um evento e organizar a inscrição e a participação.</a:t>
            </a:r>
          </a:p>
        </p:txBody>
      </p:sp>
    </p:spTree>
    <p:extLst>
      <p:ext uri="{BB962C8B-B14F-4D97-AF65-F5344CB8AC3E}">
        <p14:creationId xmlns:p14="http://schemas.microsoft.com/office/powerpoint/2010/main" val="1550148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o Diagrama geral de casos de uso">
            <a:extLst xmlns:a="http://schemas.openxmlformats.org/drawingml/2006/main">
              <a:ext uri="{FF2B5EF4-FFF2-40B4-BE49-F238E27FC236}">
                <a16:creationId xmlns:a16="http://schemas.microsoft.com/office/drawing/2014/main" id="{B7134F43-1431-4209-9118-F249445A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Diagrama geral de casos de uso</a:t>
            </a:r>
          </a:p>
        </p:txBody>
      </p:sp>
      <p:sp>
        <p:nvSpPr>
          <p:cNvPr id="2" name="Texto 18 elementos na imagem geral do documento 04">
            <a:extLst xmlns:a="http://schemas.openxmlformats.org/drawingml/2006/main">
              <a:ext uri="{FF2B5EF4-FFF2-40B4-BE49-F238E27FC236}">
                <a16:creationId xmlns:a16="http://schemas.microsoft.com/office/drawing/2014/main" id="{99A19F0C-8155-40AC-9259-B07DC16A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18 elementos na imagem geral do documento 04</a:t>
            </a:r>
          </a:p>
        </p:txBody>
      </p:sp>
      <p:sp>
        <p:nvSpPr>
          <p:cNvPr id="3" name="Texto 11">
            <a:extLst xmlns:a="http://schemas.openxmlformats.org/drawingml/2006/main">
              <a:ext uri="{FF2B5EF4-FFF2-40B4-BE49-F238E27FC236}">
                <a16:creationId xmlns:a16="http://schemas.microsoft.com/office/drawing/2014/main" id="{617DE579-F506-4287-9A22-3D928AF5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DDCCF-EEC5-4452-BC3F-A0AB36AA12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80baf5b434007"/>
          <a:stretch xmlns:a="http://schemas.openxmlformats.org/drawingml/2006/main"/>
        </p:blipFill>
        <p:spPr>
          <a:xfrm xmlns:a="http://schemas.openxmlformats.org/drawingml/2006/main">
            <a:off x="1346582" y="1857375"/>
            <a:ext cx="9689336" cy="7667625"/>
          </a:xfrm>
          <a:prstGeom xmlns:a="http://schemas.openxmlformats.org/drawingml/2006/main" prst="rect">
            <a:avLst/>
          </a:prstGeom>
        </p:spPr>
      </p:pic>
      <p:sp>
        <p:nvSpPr>
          <p:cNvPr id="5" name="Texto Visão completa da fonte">
            <a:extLst xmlns:a="http://schemas.openxmlformats.org/drawingml/2006/main">
              <a:ext uri="{FF2B5EF4-FFF2-40B4-BE49-F238E27FC236}">
                <a16:creationId xmlns:a16="http://schemas.microsoft.com/office/drawing/2014/main" id="{84C3FFEE-8A89-4B77-A237-76AE12F9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286000"/>
            <a:ext cx="538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Visão completa da fonte</a:t>
            </a:r>
          </a:p>
        </p:txBody>
      </p:sp>
      <p:sp>
        <p:nvSpPr>
          <p:cNvPr id="6" name="Texto A imagem está integralmente presente. Os dois slid">
            <a:extLst xmlns:a="http://schemas.openxmlformats.org/drawingml/2006/main">
              <a:ext uri="{FF2B5EF4-FFF2-40B4-BE49-F238E27FC236}">
                <a16:creationId xmlns:a16="http://schemas.microsoft.com/office/drawing/2014/main" id="{2D75F1E1-4B03-4F11-945D-C68C98E9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809875"/>
            <a:ext cx="538162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A imagem está integralmente presente. Os dois slides seguintes ampliam seus elementos.</a:t>
            </a:r>
          </a:p>
        </p:txBody>
      </p:sp>
      <p:sp>
        <p:nvSpPr>
          <p:cNvPr id="7" name="Texto Correspondência atual">
            <a:extLst xmlns:a="http://schemas.openxmlformats.org/drawingml/2006/main">
              <a:ext uri="{FF2B5EF4-FFF2-40B4-BE49-F238E27FC236}">
                <a16:creationId xmlns:a16="http://schemas.microsoft.com/office/drawing/2014/main" id="{157E1DCA-6874-44DA-B5F7-D3A2A223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667250"/>
            <a:ext cx="538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Correspondência atual</a:t>
            </a:r>
          </a:p>
        </p:txBody>
      </p:sp>
      <p:sp>
        <p:nvSpPr>
          <p:cNvPr id="8" name="Texto UC022: candidatura à vaga.&#10;UC023: participação em ">
            <a:extLst xmlns:a="http://schemas.openxmlformats.org/drawingml/2006/main">
              <a:ext uri="{FF2B5EF4-FFF2-40B4-BE49-F238E27FC236}">
                <a16:creationId xmlns:a16="http://schemas.microsoft.com/office/drawing/2014/main" id="{BDB6E2D1-00B1-442B-8409-13A2D0A7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191125"/>
            <a:ext cx="538162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UC022: candidatura à vaga.</a:t>
            </a:r>
          </a:p>
          <a:p xmlns:a="http://schemas.openxmlformats.org/drawingml/2006/main">
            <a: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UC023: participação em evento.</a:t>
            </a:r>
          </a:p>
          <a:p xmlns:a="http://schemas.openxmlformats.org/drawingml/2006/main">
            <a: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UC026: atualização e aviso ao candidato.</a:t>
            </a:r>
          </a:p>
        </p:txBody>
      </p:sp>
      <p:sp>
        <p:nvSpPr>
          <p:cNvPr id="9" name="Texto Leitura dos rótulos">
            <a:extLst xmlns:a="http://schemas.openxmlformats.org/drawingml/2006/main">
              <a:ext uri="{FF2B5EF4-FFF2-40B4-BE49-F238E27FC236}">
                <a16:creationId xmlns:a16="http://schemas.microsoft.com/office/drawing/2014/main" id="{CFEB7F64-1888-4D33-8091-9582FDFB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048500"/>
            <a:ext cx="538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Leitura dos rótulos</a:t>
            </a:r>
          </a:p>
        </p:txBody>
      </p:sp>
      <p:sp>
        <p:nvSpPr>
          <p:cNvPr id="10" name="Texto UC057–UC059 são rótulos históricos da imagem. UC01">
            <a:extLst xmlns:a="http://schemas.openxmlformats.org/drawingml/2006/main">
              <a:ext uri="{FF2B5EF4-FFF2-40B4-BE49-F238E27FC236}">
                <a16:creationId xmlns:a16="http://schemas.microsoft.com/office/drawing/2014/main" id="{172523ED-BCAA-437F-A501-D00455F0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572375"/>
            <a:ext cx="538162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UC057–UC059 são rótulos históricos da imagem. UC011 representa consulta ao ranking.</a:t>
            </a:r>
          </a:p>
        </p:txBody>
      </p:sp>
    </p:spTree>
    <p:extLst>
      <p:ext uri="{BB962C8B-B14F-4D97-AF65-F5344CB8AC3E}">
        <p14:creationId xmlns:p14="http://schemas.microsoft.com/office/powerpoint/2010/main" val="16733049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o Casos de uso gerais: acesso e aprendizagem">
            <a:extLst xmlns:a="http://schemas.openxmlformats.org/drawingml/2006/main">
              <a:ext uri="{FF2B5EF4-FFF2-40B4-BE49-F238E27FC236}">
                <a16:creationId xmlns:a16="http://schemas.microsoft.com/office/drawing/2014/main" id="{101143E4-D2F9-4321-B529-D7351BFF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Casos de uso gerais: acesso e aprendizagem</a:t>
            </a:r>
          </a:p>
        </p:txBody>
      </p:sp>
      <p:sp>
        <p:nvSpPr>
          <p:cNvPr id="2" name="Texto Ampliação da imagem do documento 04">
            <a:extLst xmlns:a="http://schemas.openxmlformats.org/drawingml/2006/main">
              <a:ext uri="{FF2B5EF4-FFF2-40B4-BE49-F238E27FC236}">
                <a16:creationId xmlns:a16="http://schemas.microsoft.com/office/drawing/2014/main" id="{4F1DCE10-207E-4091-9AC2-10315EC1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Ampliação da imagem do documento 04</a:t>
            </a:r>
          </a:p>
        </p:txBody>
      </p:sp>
      <p:sp>
        <p:nvSpPr>
          <p:cNvPr id="3" name="Texto 12">
            <a:extLst xmlns:a="http://schemas.openxmlformats.org/drawingml/2006/main">
              <a:ext uri="{FF2B5EF4-FFF2-40B4-BE49-F238E27FC236}">
                <a16:creationId xmlns:a16="http://schemas.microsoft.com/office/drawing/2014/main" id="{2DDADEEC-0426-410D-9CB3-8FA2A3DD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99FA8-C0ED-4D09-96D4-5F1DE9191C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b2d04a4f949db"/>
          <a:stretch xmlns:a="http://schemas.openxmlformats.org/drawingml/2006/main"/>
        </p:blipFill>
        <p:spPr>
          <a:xfrm xmlns:a="http://schemas.openxmlformats.org/drawingml/2006/main">
            <a:off x="3331953" y="1905000"/>
            <a:ext cx="11624094" cy="7000875"/>
          </a:xfrm>
          <a:prstGeom xmlns:a="http://schemas.openxmlformats.org/drawingml/2006/main" prst="rect">
            <a:avLst/>
          </a:prstGeom>
        </p:spPr>
      </p:pic>
      <p:sp>
        <p:nvSpPr>
          <p:cNvPr id="5" name="Texto Cadastro e login são públicos. A autenticação é pr">
            <a:extLst xmlns:a="http://schemas.openxmlformats.org/drawingml/2006/main">
              <a:ext uri="{FF2B5EF4-FFF2-40B4-BE49-F238E27FC236}">
                <a16:creationId xmlns:a16="http://schemas.microsoft.com/office/drawing/2014/main" id="{2577FB2E-CCFB-413F-92F0-669EC94D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124950"/>
            <a:ext cx="1647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Cadastro e login são públicos. A autenticação é pré-condição dos fluxos protegidos.</a:t>
            </a:r>
          </a:p>
        </p:txBody>
      </p:sp>
    </p:spTree>
    <p:extLst>
      <p:ext uri="{BB962C8B-B14F-4D97-AF65-F5344CB8AC3E}">
        <p14:creationId xmlns:p14="http://schemas.microsoft.com/office/powerpoint/2010/main" val="7955344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o Casos de uso gerais: oportunidades e eventos">
            <a:extLst xmlns:a="http://schemas.openxmlformats.org/drawingml/2006/main">
              <a:ext uri="{FF2B5EF4-FFF2-40B4-BE49-F238E27FC236}">
                <a16:creationId xmlns:a16="http://schemas.microsoft.com/office/drawing/2014/main" id="{122D2EE1-D1F8-4B72-9283-FD1A62F2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Casos de uso gerais: oportunidades e eventos</a:t>
            </a:r>
          </a:p>
        </p:txBody>
      </p:sp>
      <p:sp>
        <p:nvSpPr>
          <p:cNvPr id="2" name="Texto Ampliação da imagem do documento 04">
            <a:extLst xmlns:a="http://schemas.openxmlformats.org/drawingml/2006/main">
              <a:ext uri="{FF2B5EF4-FFF2-40B4-BE49-F238E27FC236}">
                <a16:creationId xmlns:a16="http://schemas.microsoft.com/office/drawing/2014/main" id="{8D9076C2-E563-4D25-8928-863AD024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Ampliação da imagem do documento 04</a:t>
            </a:r>
          </a:p>
        </p:txBody>
      </p:sp>
      <p:sp>
        <p:nvSpPr>
          <p:cNvPr id="3" name="Texto 13">
            <a:extLst xmlns:a="http://schemas.openxmlformats.org/drawingml/2006/main">
              <a:ext uri="{FF2B5EF4-FFF2-40B4-BE49-F238E27FC236}">
                <a16:creationId xmlns:a16="http://schemas.microsoft.com/office/drawing/2014/main" id="{CF6BFB23-B600-4647-A947-E4406914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1B63D-5A4B-45B3-84B2-30E8817E94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16a46ea8e4d75"/>
          <a:stretch xmlns:a="http://schemas.openxmlformats.org/drawingml/2006/main"/>
        </p:blipFill>
        <p:spPr>
          <a:xfrm xmlns:a="http://schemas.openxmlformats.org/drawingml/2006/main">
            <a:off x="1037724" y="1905000"/>
            <a:ext cx="16212553" cy="7000875"/>
          </a:xfrm>
          <a:prstGeom xmlns:a="http://schemas.openxmlformats.org/drawingml/2006/main" prst="rect">
            <a:avLst/>
          </a:prstGeom>
        </p:spPr>
      </p:pic>
      <p:sp>
        <p:nvSpPr>
          <p:cNvPr id="5" name="Texto Na especificação atual: UC022 candidatura, UC023 p">
            <a:extLst xmlns:a="http://schemas.openxmlformats.org/drawingml/2006/main">
              <a:ext uri="{FF2B5EF4-FFF2-40B4-BE49-F238E27FC236}">
                <a16:creationId xmlns:a16="http://schemas.microsoft.com/office/drawing/2014/main" id="{5B49ACF0-57F1-43F8-A676-9C9053D5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124950"/>
            <a:ext cx="1647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Na especificação atual: UC022 candidatura, UC023 participação e UC026 atualização com aviso.</a:t>
            </a:r>
          </a:p>
        </p:txBody>
      </p:sp>
    </p:spTree>
    <p:extLst>
      <p:ext uri="{BB962C8B-B14F-4D97-AF65-F5344CB8AC3E}">
        <p14:creationId xmlns:p14="http://schemas.microsoft.com/office/powerpoint/2010/main" val="2018568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o Pedro: estudo de uma lição">
            <a:extLst xmlns:a="http://schemas.openxmlformats.org/drawingml/2006/main">
              <a:ext uri="{FF2B5EF4-FFF2-40B4-BE49-F238E27FC236}">
                <a16:creationId xmlns:a16="http://schemas.microsoft.com/office/drawing/2014/main" id="{452AEA01-0E03-4C85-8B5E-A517D437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Pedro: estudo de uma lição</a:t>
            </a:r>
          </a:p>
        </p:txBody>
      </p:sp>
      <p:sp>
        <p:nvSpPr>
          <p:cNvPr id="2" name="Texto Pedro Antonio Silvestre Tescaro  UC005">
            <a:extLst xmlns:a="http://schemas.openxmlformats.org/drawingml/2006/main">
              <a:ext uri="{FF2B5EF4-FFF2-40B4-BE49-F238E27FC236}">
                <a16:creationId xmlns:a16="http://schemas.microsoft.com/office/drawing/2014/main" id="{69496470-3968-4DD3-A74C-15C1BA33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Pedro Antonio Silvestre Tescaro  UC005</a:t>
            </a:r>
          </a:p>
        </p:txBody>
      </p:sp>
      <p:sp>
        <p:nvSpPr>
          <p:cNvPr id="3" name="Texto 14">
            <a:extLst xmlns:a="http://schemas.openxmlformats.org/drawingml/2006/main">
              <a:ext uri="{FF2B5EF4-FFF2-40B4-BE49-F238E27FC236}">
                <a16:creationId xmlns:a16="http://schemas.microsoft.com/office/drawing/2014/main" id="{8B5D8C73-C331-4BAB-8DEA-4C0E22D0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A246B-E174-44E0-A9E7-B7934C7311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df44d553d4043"/>
          <a:stretch xmlns:a="http://schemas.openxmlformats.org/drawingml/2006/main"/>
        </p:blipFill>
        <p:spPr>
          <a:xfrm xmlns:a="http://schemas.openxmlformats.org/drawingml/2006/main">
            <a:off x="1285384" y="1924050"/>
            <a:ext cx="15717232" cy="7191375"/>
          </a:xfrm>
          <a:prstGeom xmlns:a="http://schemas.openxmlformats.org/drawingml/2006/main" prst="rect">
            <a:avLst/>
          </a:prstGeom>
        </p:spPr>
      </p:pic>
      <p:sp>
        <p:nvSpPr>
          <p:cNvPr id="5" name="Texto No protótipo: conteúdo conceitual e navegação entr">
            <a:extLst xmlns:a="http://schemas.openxmlformats.org/drawingml/2006/main">
              <a:ext uri="{FF2B5EF4-FFF2-40B4-BE49-F238E27FC236}">
                <a16:creationId xmlns:a16="http://schemas.microsoft.com/office/drawing/2014/main" id="{D34B20B1-A4BD-4A1C-AC79-5FF2C759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172575"/>
            <a:ext cx="1633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No protótipo: conteúdo conceitual e navegação entre as etapas da lição.</a:t>
            </a:r>
          </a:p>
        </p:txBody>
      </p:sp>
    </p:spTree>
    <p:extLst>
      <p:ext uri="{BB962C8B-B14F-4D97-AF65-F5344CB8AC3E}">
        <p14:creationId xmlns:p14="http://schemas.microsoft.com/office/powerpoint/2010/main" val="10653522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o Resposta e confirmação da atividade">
            <a:extLst xmlns:a="http://schemas.openxmlformats.org/drawingml/2006/main">
              <a:ext uri="{FF2B5EF4-FFF2-40B4-BE49-F238E27FC236}">
                <a16:creationId xmlns:a16="http://schemas.microsoft.com/office/drawing/2014/main" id="{0FEAFE21-F82C-4EEA-A305-FBA6D908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Resposta e confirmação da atividade</a:t>
            </a:r>
          </a:p>
        </p:txBody>
      </p:sp>
      <p:sp>
        <p:nvSpPr>
          <p:cNvPr id="2" name="Texto Pedro Antonio Silvestre Tescaro  UC006">
            <a:extLst xmlns:a="http://schemas.openxmlformats.org/drawingml/2006/main">
              <a:ext uri="{FF2B5EF4-FFF2-40B4-BE49-F238E27FC236}">
                <a16:creationId xmlns:a16="http://schemas.microsoft.com/office/drawing/2014/main" id="{FBFD982A-A5E2-405D-B252-229483C9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Pedro Antonio Silvestre Tescaro  UC006</a:t>
            </a:r>
          </a:p>
        </p:txBody>
      </p:sp>
      <p:sp>
        <p:nvSpPr>
          <p:cNvPr id="3" name="Texto 15">
            <a:extLst xmlns:a="http://schemas.openxmlformats.org/drawingml/2006/main">
              <a:ext uri="{FF2B5EF4-FFF2-40B4-BE49-F238E27FC236}">
                <a16:creationId xmlns:a16="http://schemas.microsoft.com/office/drawing/2014/main" id="{ADF36105-F552-42E0-A7A2-802CDAB9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686CA-37ED-49D8-BEF5-71E45411F3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7137083424358"/>
          <a:stretch xmlns:a="http://schemas.openxmlformats.org/drawingml/2006/main"/>
        </p:blipFill>
        <p:spPr>
          <a:xfrm xmlns:a="http://schemas.openxmlformats.org/drawingml/2006/main">
            <a:off x="1235959" y="1924050"/>
            <a:ext cx="15816082" cy="7191375"/>
          </a:xfrm>
          <a:prstGeom xmlns:a="http://schemas.openxmlformats.org/drawingml/2006/main" prst="rect">
            <a:avLst/>
          </a:prstGeom>
        </p:spPr>
      </p:pic>
      <p:sp>
        <p:nvSpPr>
          <p:cNvPr id="5" name="Texto No protótipo: enunciado, alternativas, validação d">
            <a:extLst xmlns:a="http://schemas.openxmlformats.org/drawingml/2006/main">
              <a:ext uri="{FF2B5EF4-FFF2-40B4-BE49-F238E27FC236}">
                <a16:creationId xmlns:a16="http://schemas.microsoft.com/office/drawing/2014/main" id="{48878B59-3925-4B7F-8FC0-331EC0D9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172575"/>
            <a:ext cx="1633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No protótipo: enunciado, alternativas, validação da resposta e retorno de XP.</a:t>
            </a:r>
          </a:p>
        </p:txBody>
      </p:sp>
    </p:spTree>
    <p:extLst>
      <p:ext uri="{BB962C8B-B14F-4D97-AF65-F5344CB8AC3E}">
        <p14:creationId xmlns:p14="http://schemas.microsoft.com/office/powerpoint/2010/main" val="1976479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o Requisitos e regras na interface">
            <a:extLst xmlns:a="http://schemas.openxmlformats.org/drawingml/2006/main">
              <a:ext uri="{FF2B5EF4-FFF2-40B4-BE49-F238E27FC236}">
                <a16:creationId xmlns:a16="http://schemas.microsoft.com/office/drawing/2014/main" id="{C6B6C9F7-E99C-4BB9-B404-E46F3A7C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Requisitos e regras na interface</a:t>
            </a:r>
          </a:p>
        </p:txBody>
      </p:sp>
      <p:sp>
        <p:nvSpPr>
          <p:cNvPr id="2" name="Texto UC005 e UC006  Estudar uma lição e resolver exercí">
            <a:extLst xmlns:a="http://schemas.openxmlformats.org/drawingml/2006/main">
              <a:ext uri="{FF2B5EF4-FFF2-40B4-BE49-F238E27FC236}">
                <a16:creationId xmlns:a16="http://schemas.microsoft.com/office/drawing/2014/main" id="{E7691A6A-1D08-4872-995B-46AD5B2E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UC005 e UC006  Estudar uma lição e resolver exercício</a:t>
            </a:r>
          </a:p>
        </p:txBody>
      </p:sp>
      <p:sp>
        <p:nvSpPr>
          <p:cNvPr id="3" name="Texto 16">
            <a:extLst xmlns:a="http://schemas.openxmlformats.org/drawingml/2006/main">
              <a:ext uri="{FF2B5EF4-FFF2-40B4-BE49-F238E27FC236}">
                <a16:creationId xmlns:a16="http://schemas.microsoft.com/office/drawing/2014/main" id="{A5F60525-8682-48A2-BA36-0C53FEE9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F1E98-9586-4712-96DF-45FCE626E79B}"/>
              </a:ext>
            </a:extLst>
          </p:cNvPr>
          <p:cNvGraphicFramePr/>
          <p:nvPr/>
        </p:nvGraphicFramePr>
        <p:xfrm>
          <a:off xmlns:a="http://schemas.openxmlformats.org/drawingml/2006/main" x="838200" y="2076450"/>
          <a:ext xmlns:a="http://schemas.openxmlformats.org/drawingml/2006/main" cx="16611600" cy="619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19750"/>
                <a:gridCol w="5429250"/>
                <a:gridCol w="5562600"/>
              </a:tblGrid>
              <a:tr h="762000">
                <a:tc>
                  <a:txBody>
                    <a:bodyPr lIns="190500" tIns="161925" rIns="190500" bIns="161925"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Requisitos funcionais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C"/>
                      </a:solidFill>
                      <a:prstDash val="solid"/>
                    </a:lnL>
                    <a:lnR w="9525">
                      <a:solidFill>
                        <a:srgbClr val="CCD6DC"/>
                      </a:solidFill>
                      <a:prstDash val="solid"/>
                    </a:lnR>
                    <a:lnT w="9525">
                      <a:solidFill>
                        <a:srgbClr val="CCD6DC"/>
                      </a:solidFill>
                      <a:prstDash val="solid"/>
                    </a:lnT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142B3B"/>
                    </a:solidFill>
                  </a:tcPr>
                </a:tc>
                <a:tc>
                  <a:txBody>
                    <a:bodyPr lIns="190500" tIns="161925" rIns="190500" bIns="161925"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Requisitos não funcionais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C"/>
                      </a:solidFill>
                      <a:prstDash val="solid"/>
                    </a:lnR>
                    <a:lnT w="9525">
                      <a:solidFill>
                        <a:srgbClr val="CCD6DC"/>
                      </a:solidFill>
                      <a:prstDash val="solid"/>
                    </a:lnT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142B3B"/>
                    </a:solidFill>
                  </a:tcPr>
                </a:tc>
                <a:tc>
                  <a:txBody>
                    <a:bodyPr lIns="190500" tIns="161925" rIns="190500" bIns="161925"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Regras de negócio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C"/>
                      </a:solidFill>
                      <a:prstDash val="solid"/>
                    </a:lnR>
                    <a:lnT w="9525">
                      <a:solidFill>
                        <a:srgbClr val="CCD6DC"/>
                      </a:solidFill>
                      <a:prstDash val="solid"/>
                    </a:lnT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142B3B"/>
                    </a:solidFill>
                  </a:tcPr>
                </a:tc>
              </a:tr>
              <a:tr h="5429250">
                <a:tc>
                  <a:txBody>
                    <a:bodyPr lIns="190500" tIns="161925" rIns="190500" bIns="161925"/>
                    <a:lstStyle/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RF007  Acessar lição</a:t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Exibir a lição e suas etapas interativas.</a:t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RF008  Resolver exercício</a:t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Avaliar a resposta no servidor. Testar código não conclui a atividade nem concede XP.</a:t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RF009  Registrar progresso</a:t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Gravar tentativa e progresso, sem duplicar a primeira recompensa.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C"/>
                      </a:solidFill>
                      <a:prstDash val="solid"/>
                    </a:lnL>
                    <a:lnR w="9525">
                      <a:solidFill>
                        <a:srgbClr val="CCD6DC"/>
                      </a:solidFill>
                      <a:prstDash val="solid"/>
                    </a:lnR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0" tIns="161925" rIns="190500" bIns="161925"/>
                    <a:lstStyle/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RNF009  Execução limitada</a:t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Limitar o tempo de execução e o tamanho do código recebido.</a:t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RNF014  Consistência de XP</a:t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Atualizar XP e progresso atomicamente, sem duplicidade.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C"/>
                      </a:solidFill>
                      <a:prstDash val="solid"/>
                    </a:lnR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0" tIns="161925" rIns="190500" bIns="161925"/>
                    <a:lstStyle/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RN001  Elegibilidade de XP</a:t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Conceder XP somente após atividade válida e confirmada, uma vez.</a:t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RN029  Pré-requisitos de aprendizagem</a:t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Exigir os pré-requisitos da lição. Revisitar conteúdo não duplica a recompensa.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C"/>
                      </a:solidFill>
                      <a:prstDash val="solid"/>
                    </a:lnR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o RF: o que a tela permite fazer. RNF: qualidade e r">
            <a:extLst xmlns:a="http://schemas.openxmlformats.org/drawingml/2006/main">
              <a:ext uri="{FF2B5EF4-FFF2-40B4-BE49-F238E27FC236}">
                <a16:creationId xmlns:a16="http://schemas.microsoft.com/office/drawing/2014/main" id="{986EF504-BCCC-4213-9B42-0038DFD8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715375"/>
            <a:ext cx="1647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RF: o que a tela permite fazer. RNF: qualidade e restrições. RN: condições do domínio.</a:t>
            </a:r>
          </a:p>
        </p:txBody>
      </p:sp>
    </p:spTree>
    <p:extLst>
      <p:ext uri="{BB962C8B-B14F-4D97-AF65-F5344CB8AC3E}">
        <p14:creationId xmlns:p14="http://schemas.microsoft.com/office/powerpoint/2010/main" val="2747970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o Diagrama de classes geral">
            <a:extLst xmlns:a="http://schemas.openxmlformats.org/drawingml/2006/main">
              <a:ext uri="{FF2B5EF4-FFF2-40B4-BE49-F238E27FC236}">
                <a16:creationId xmlns:a16="http://schemas.microsoft.com/office/drawing/2014/main" id="{9CE1292B-ED05-4AB5-9280-916D39FB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Diagrama de classes geral</a:t>
            </a:r>
          </a:p>
        </p:txBody>
      </p:sp>
      <p:sp>
        <p:nvSpPr>
          <p:cNvPr id="2" name="Texto Visão conceitual dos domínios">
            <a:extLst xmlns:a="http://schemas.openxmlformats.org/drawingml/2006/main">
              <a:ext uri="{FF2B5EF4-FFF2-40B4-BE49-F238E27FC236}">
                <a16:creationId xmlns:a16="http://schemas.microsoft.com/office/drawing/2014/main" id="{B9CD2FCC-4CD9-4FD0-BFC0-435A142B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Visão conceitual dos domínios</a:t>
            </a:r>
          </a:p>
        </p:txBody>
      </p:sp>
      <p:sp>
        <p:nvSpPr>
          <p:cNvPr id="3" name="Texto 17">
            <a:extLst xmlns:a="http://schemas.openxmlformats.org/drawingml/2006/main">
              <a:ext uri="{FF2B5EF4-FFF2-40B4-BE49-F238E27FC236}">
                <a16:creationId xmlns:a16="http://schemas.microsoft.com/office/drawing/2014/main" id="{4A4C5373-8B72-4350-875C-74C37D4D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2610D-026E-488D-B793-C37B737B6F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5eec5611e64a97"/>
          <a:stretch xmlns:a="http://schemas.openxmlformats.org/drawingml/2006/main"/>
        </p:blipFill>
        <p:spPr>
          <a:xfrm xmlns:a="http://schemas.openxmlformats.org/drawingml/2006/main">
            <a:off x="4071866" y="1857375"/>
            <a:ext cx="10144268" cy="752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80922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o Modelo de entidades e relacionamentos geral">
            <a:extLst xmlns:a="http://schemas.openxmlformats.org/drawingml/2006/main">
              <a:ext uri="{FF2B5EF4-FFF2-40B4-BE49-F238E27FC236}">
                <a16:creationId xmlns:a16="http://schemas.microsoft.com/office/drawing/2014/main" id="{8F0AAE3F-8E67-4A8B-B4DA-A057BAEA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Modelo de entidades e relacionamentos geral</a:t>
            </a:r>
          </a:p>
        </p:txBody>
      </p:sp>
      <p:sp>
        <p:nvSpPr>
          <p:cNvPr id="2" name="Texto MER  Visão conceitual">
            <a:extLst xmlns:a="http://schemas.openxmlformats.org/drawingml/2006/main">
              <a:ext uri="{FF2B5EF4-FFF2-40B4-BE49-F238E27FC236}">
                <a16:creationId xmlns:a16="http://schemas.microsoft.com/office/drawing/2014/main" id="{2FF80EE7-B999-4046-9295-1C8C9BFB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MER  Visão conceitual</a:t>
            </a:r>
          </a:p>
        </p:txBody>
      </p:sp>
      <p:sp>
        <p:nvSpPr>
          <p:cNvPr id="3" name="Texto 18">
            <a:extLst xmlns:a="http://schemas.openxmlformats.org/drawingml/2006/main">
              <a:ext uri="{FF2B5EF4-FFF2-40B4-BE49-F238E27FC236}">
                <a16:creationId xmlns:a16="http://schemas.microsoft.com/office/drawing/2014/main" id="{3B182D6F-19A7-468D-940A-229AC2CF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B933F-D256-4A54-940C-53BD57ACD4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ed27fa59b4034"/>
          <a:stretch xmlns:a="http://schemas.openxmlformats.org/drawingml/2006/main"/>
        </p:blipFill>
        <p:spPr>
          <a:xfrm xmlns:a="http://schemas.openxmlformats.org/drawingml/2006/main">
            <a:off x="3926337" y="1857375"/>
            <a:ext cx="10435326" cy="752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18165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o Diagrama geral do banco de dados">
            <a:extLst xmlns:a="http://schemas.openxmlformats.org/drawingml/2006/main">
              <a:ext uri="{FF2B5EF4-FFF2-40B4-BE49-F238E27FC236}">
                <a16:creationId xmlns:a16="http://schemas.microsoft.com/office/drawing/2014/main" id="{57802C22-BA5A-4808-B2EA-123B1A0E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Diagrama geral do banco de dados</a:t>
            </a:r>
          </a:p>
        </p:txBody>
      </p:sp>
      <p:sp>
        <p:nvSpPr>
          <p:cNvPr id="2" name="Texto DER  Estrutura completa e chaves">
            <a:extLst xmlns:a="http://schemas.openxmlformats.org/drawingml/2006/main">
              <a:ext uri="{FF2B5EF4-FFF2-40B4-BE49-F238E27FC236}">
                <a16:creationId xmlns:a16="http://schemas.microsoft.com/office/drawing/2014/main" id="{0C1AC1DD-531F-48A1-A49A-344F7207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DER  Estrutura completa e chaves</a:t>
            </a:r>
          </a:p>
        </p:txBody>
      </p:sp>
      <p:sp>
        <p:nvSpPr>
          <p:cNvPr id="3" name="Texto 19">
            <a:extLst xmlns:a="http://schemas.openxmlformats.org/drawingml/2006/main">
              <a:ext uri="{FF2B5EF4-FFF2-40B4-BE49-F238E27FC236}">
                <a16:creationId xmlns:a16="http://schemas.microsoft.com/office/drawing/2014/main" id="{F9289BBE-0742-457E-AC11-CA686C07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B9DC5-8191-46C3-B49D-31D4460B22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3abbe7789e4492"/>
          <a:stretch xmlns:a="http://schemas.openxmlformats.org/drawingml/2006/main"/>
        </p:blipFill>
        <p:spPr>
          <a:xfrm xmlns:a="http://schemas.openxmlformats.org/drawingml/2006/main">
            <a:off x="6033621" y="1857375"/>
            <a:ext cx="6220758" cy="752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7102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o Casos de uso da funcionalidade">
            <a:extLst xmlns:a="http://schemas.openxmlformats.org/drawingml/2006/main">
              <a:ext uri="{FF2B5EF4-FFF2-40B4-BE49-F238E27FC236}">
                <a16:creationId xmlns:a16="http://schemas.microsoft.com/office/drawing/2014/main" id="{A4C22A09-CB64-494B-8981-6C4B84FD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Casos de uso da funcionalidade</a:t>
            </a:r>
          </a:p>
        </p:txBody>
      </p:sp>
      <p:sp>
        <p:nvSpPr>
          <p:cNvPr id="2" name="Texto UC005 e UC006  Estudar uma lição e resolver exercí">
            <a:extLst xmlns:a="http://schemas.openxmlformats.org/drawingml/2006/main">
              <a:ext uri="{FF2B5EF4-FFF2-40B4-BE49-F238E27FC236}">
                <a16:creationId xmlns:a16="http://schemas.microsoft.com/office/drawing/2014/main" id="{FFC3B6C7-1083-41A0-8F33-47AC883D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UC005 e UC006  Estudar uma lição e resolver exercício</a:t>
            </a:r>
          </a:p>
        </p:txBody>
      </p:sp>
      <p:sp>
        <p:nvSpPr>
          <p:cNvPr id="3" name="Texto 20">
            <a:extLst xmlns:a="http://schemas.openxmlformats.org/drawingml/2006/main">
              <a:ext uri="{FF2B5EF4-FFF2-40B4-BE49-F238E27FC236}">
                <a16:creationId xmlns:a16="http://schemas.microsoft.com/office/drawing/2014/main" id="{BB51EFAA-B8D7-416B-9954-80C246F0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A37C4-DB13-4E8E-8F6B-A880BB82CF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c37171e8e4efa"/>
          <a:stretch xmlns:a="http://schemas.openxmlformats.org/drawingml/2006/main"/>
        </p:blipFill>
        <p:spPr>
          <a:xfrm xmlns:a="http://schemas.openxmlformats.org/drawingml/2006/main">
            <a:off x="952500" y="2366854"/>
            <a:ext cx="7715250" cy="5839041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30261-295B-4D3C-BB2B-F04940B680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33d1e41944694"/>
          <a:stretch xmlns:a="http://schemas.openxmlformats.org/drawingml/2006/main"/>
        </p:blipFill>
        <p:spPr>
          <a:xfrm xmlns:a="http://schemas.openxmlformats.org/drawingml/2006/main">
            <a:off x="9525000" y="2366854"/>
            <a:ext cx="7715250" cy="5839041"/>
          </a:xfrm>
          <a:prstGeom xmlns:a="http://schemas.openxmlformats.org/drawingml/2006/main" prst="rect">
            <a:avLst/>
          </a:prstGeom>
        </p:spPr>
      </p:pic>
      <p:sp>
        <p:nvSpPr>
          <p:cNvPr id="6" name="Texto Sessão autenticada como pré-condição dos fluxos ap">
            <a:extLst xmlns:a="http://schemas.openxmlformats.org/drawingml/2006/main">
              <a:ext uri="{FF2B5EF4-FFF2-40B4-BE49-F238E27FC236}">
                <a16:creationId xmlns:a16="http://schemas.microsoft.com/office/drawing/2014/main" id="{BDFB9E07-07E7-42B6-939E-4C20F261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905875"/>
            <a:ext cx="1619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Sessão autenticada como pré-condição dos fluxos apresentados.</a:t>
            </a:r>
          </a:p>
        </p:txBody>
      </p:sp>
    </p:spTree>
    <p:extLst>
      <p:ext uri="{BB962C8B-B14F-4D97-AF65-F5344CB8AC3E}">
        <p14:creationId xmlns:p14="http://schemas.microsoft.com/office/powerpoint/2010/main" val="68749666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o Classes da aprendizagem">
            <a:extLst xmlns:a="http://schemas.openxmlformats.org/drawingml/2006/main">
              <a:ext uri="{FF2B5EF4-FFF2-40B4-BE49-F238E27FC236}">
                <a16:creationId xmlns:a16="http://schemas.microsoft.com/office/drawing/2014/main" id="{E31C174B-30F7-4290-8DC2-17133913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Classes da aprendizagem</a:t>
            </a:r>
          </a:p>
        </p:txBody>
      </p:sp>
      <p:sp>
        <p:nvSpPr>
          <p:cNvPr id="2" name="Texto UC005 e UC006  Conceitos e responsabilidades">
            <a:extLst xmlns:a="http://schemas.openxmlformats.org/drawingml/2006/main">
              <a:ext uri="{FF2B5EF4-FFF2-40B4-BE49-F238E27FC236}">
                <a16:creationId xmlns:a16="http://schemas.microsoft.com/office/drawing/2014/main" id="{12374E8C-1A0F-48E8-BFEF-AE20D2CE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UC005 e UC006  Conceitos e responsabilidades</a:t>
            </a:r>
          </a:p>
        </p:txBody>
      </p:sp>
      <p:sp>
        <p:nvSpPr>
          <p:cNvPr id="3" name="Texto 21">
            <a:extLst xmlns:a="http://schemas.openxmlformats.org/drawingml/2006/main">
              <a:ext uri="{FF2B5EF4-FFF2-40B4-BE49-F238E27FC236}">
                <a16:creationId xmlns:a16="http://schemas.microsoft.com/office/drawing/2014/main" id="{7619C5C9-8F71-4F31-907D-0157988B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58F4F6-FA0C-4EA6-870C-F759392B5A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afd2c2b2df46df"/>
          <a:stretch xmlns:a="http://schemas.openxmlformats.org/drawingml/2006/main"/>
        </p:blipFill>
        <p:spPr>
          <a:xfrm xmlns:a="http://schemas.openxmlformats.org/drawingml/2006/main">
            <a:off x="1659706" y="1857375"/>
            <a:ext cx="14968589" cy="752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2928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o Banco de dados da aprendizagem">
            <a:extLst xmlns:a="http://schemas.openxmlformats.org/drawingml/2006/main">
              <a:ext uri="{FF2B5EF4-FFF2-40B4-BE49-F238E27FC236}">
                <a16:creationId xmlns:a16="http://schemas.microsoft.com/office/drawing/2014/main" id="{A479EB8C-4A77-4E00-B8EA-7C59D387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Banco de dados da aprendizagem</a:t>
            </a:r>
          </a:p>
        </p:txBody>
      </p:sp>
      <p:sp>
        <p:nvSpPr>
          <p:cNvPr id="2" name="Texto UC005 e UC006  Persistência e progresso">
            <a:extLst xmlns:a="http://schemas.openxmlformats.org/drawingml/2006/main">
              <a:ext uri="{FF2B5EF4-FFF2-40B4-BE49-F238E27FC236}">
                <a16:creationId xmlns:a16="http://schemas.microsoft.com/office/drawing/2014/main" id="{65A217EA-C858-4945-ADAA-0902BBE4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UC005 e UC006  Persistência e progresso</a:t>
            </a:r>
          </a:p>
        </p:txBody>
      </p:sp>
      <p:sp>
        <p:nvSpPr>
          <p:cNvPr id="3" name="Texto 22">
            <a:extLst xmlns:a="http://schemas.openxmlformats.org/drawingml/2006/main">
              <a:ext uri="{FF2B5EF4-FFF2-40B4-BE49-F238E27FC236}">
                <a16:creationId xmlns:a16="http://schemas.microsoft.com/office/drawing/2014/main" id="{BDDEE9CC-1585-4C40-A9CE-419120E3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3D47D-1D40-41B5-83ED-6AEFB6C0D5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4a500fc49a4e01"/>
          <a:stretch xmlns:a="http://schemas.openxmlformats.org/drawingml/2006/main"/>
        </p:blipFill>
        <p:spPr>
          <a:xfrm xmlns:a="http://schemas.openxmlformats.org/drawingml/2006/main">
            <a:off x="2760155" y="1857375"/>
            <a:ext cx="12767689" cy="752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25956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o Sequência completa: resolver exercício">
            <a:extLst xmlns:a="http://schemas.openxmlformats.org/drawingml/2006/main">
              <a:ext uri="{FF2B5EF4-FFF2-40B4-BE49-F238E27FC236}">
                <a16:creationId xmlns:a16="http://schemas.microsoft.com/office/drawing/2014/main" id="{8099DE5F-F0C3-41F7-85EB-322D22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Sequência completa: resolver exercício</a:t>
            </a:r>
          </a:p>
        </p:txBody>
      </p:sp>
      <p:sp>
        <p:nvSpPr>
          <p:cNvPr id="2" name="Texto UC006  Fluxo principal">
            <a:extLst xmlns:a="http://schemas.openxmlformats.org/drawingml/2006/main">
              <a:ext uri="{FF2B5EF4-FFF2-40B4-BE49-F238E27FC236}">
                <a16:creationId xmlns:a16="http://schemas.microsoft.com/office/drawing/2014/main" id="{3E0E7D7C-E170-41A6-A5BE-9B180116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UC006  Fluxo principal</a:t>
            </a:r>
          </a:p>
        </p:txBody>
      </p:sp>
      <p:sp>
        <p:nvSpPr>
          <p:cNvPr id="3" name="Texto 23">
            <a:extLst xmlns:a="http://schemas.openxmlformats.org/drawingml/2006/main">
              <a:ext uri="{FF2B5EF4-FFF2-40B4-BE49-F238E27FC236}">
                <a16:creationId xmlns:a16="http://schemas.microsoft.com/office/drawing/2014/main" id="{733DE1A8-8461-48A8-A356-F3B11A7D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E03ED-B36B-44F4-86FE-D2AEBA459D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f8e7c618c54947"/>
          <a:stretch xmlns:a="http://schemas.openxmlformats.org/drawingml/2006/main"/>
        </p:blipFill>
        <p:spPr>
          <a:xfrm xmlns:a="http://schemas.openxmlformats.org/drawingml/2006/main">
            <a:off x="2604848" y="1857375"/>
            <a:ext cx="13078304" cy="752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57602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o Receber e avaliar a resposta">
            <a:extLst xmlns:a="http://schemas.openxmlformats.org/drawingml/2006/main">
              <a:ext uri="{FF2B5EF4-FFF2-40B4-BE49-F238E27FC236}">
                <a16:creationId xmlns:a16="http://schemas.microsoft.com/office/drawing/2014/main" id="{BF46C4EE-81F1-453A-8188-AA3E35B0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Receber e avaliar a resposta</a:t>
            </a:r>
          </a:p>
        </p:txBody>
      </p:sp>
      <p:sp>
        <p:nvSpPr>
          <p:cNvPr id="2" name="Texto SQ01-A  Recorte da sequência e trecho corresponden">
            <a:extLst xmlns:a="http://schemas.openxmlformats.org/drawingml/2006/main">
              <a:ext uri="{FF2B5EF4-FFF2-40B4-BE49-F238E27FC236}">
                <a16:creationId xmlns:a16="http://schemas.microsoft.com/office/drawing/2014/main" id="{DC579ADD-FC94-4065-A92A-EE18ADD9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SQ01-A  Recorte da sequência e trecho correspondente</a:t>
            </a:r>
          </a:p>
        </p:txBody>
      </p:sp>
      <p:sp>
        <p:nvSpPr>
          <p:cNvPr id="3" name="Texto 24">
            <a:extLst xmlns:a="http://schemas.openxmlformats.org/drawingml/2006/main">
              <a:ext uri="{FF2B5EF4-FFF2-40B4-BE49-F238E27FC236}">
                <a16:creationId xmlns:a16="http://schemas.microsoft.com/office/drawing/2014/main" id="{2FF4127B-2AF6-4980-8513-B7AE5743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4" name="Texto Interação">
            <a:extLst xmlns:a="http://schemas.openxmlformats.org/drawingml/2006/main">
              <a:ext uri="{FF2B5EF4-FFF2-40B4-BE49-F238E27FC236}">
                <a16:creationId xmlns:a16="http://schemas.microsoft.com/office/drawing/2014/main" id="{A3F1965C-49A9-4D89-9A4E-36F14A34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Interação</a:t>
            </a:r>
          </a:p>
        </p:txBody>
      </p:sp>
      <p:sp>
        <p:nvSpPr>
          <p:cNvPr id="5" name="Texto Implementação">
            <a:extLst xmlns:a="http://schemas.openxmlformats.org/drawingml/2006/main">
              <a:ext uri="{FF2B5EF4-FFF2-40B4-BE49-F238E27FC236}">
                <a16:creationId xmlns:a16="http://schemas.microsoft.com/office/drawing/2014/main" id="{664422D9-49C1-4D2A-9910-D3A12AD0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240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Implementação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3AA1A-1AFD-4358-85B6-83757623D7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46906c187f4abe"/>
          <a:stretch xmlns:a="http://schemas.openxmlformats.org/drawingml/2006/main"/>
        </p:blipFill>
        <p:spPr>
          <a:xfrm xmlns:a="http://schemas.openxmlformats.org/drawingml/2006/main">
            <a:off x="971106" y="2571750"/>
            <a:ext cx="7392289" cy="576262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A1DEE-EA8A-453C-9E68-99220B9B03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ea6ad7214499c"/>
          <a:stretch xmlns:a="http://schemas.openxmlformats.org/drawingml/2006/main"/>
        </p:blipFill>
        <p:spPr>
          <a:xfrm xmlns:a="http://schemas.openxmlformats.org/drawingml/2006/main">
            <a:off x="8953500" y="3381375"/>
            <a:ext cx="8572500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Texto Validar resposta, localizar lição e etapa, verific">
            <a:extLst xmlns:a="http://schemas.openxmlformats.org/drawingml/2006/main">
              <a:ext uri="{FF2B5EF4-FFF2-40B4-BE49-F238E27FC236}">
                <a16:creationId xmlns:a16="http://schemas.microsoft.com/office/drawing/2014/main" id="{F5ED899E-1216-432A-8874-D7400173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591550"/>
            <a:ext cx="1643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Validar resposta, localizar lição e etapa, verificar acesso e solicitar avaliação.</a:t>
            </a:r>
          </a:p>
        </p:txBody>
      </p:sp>
    </p:spTree>
    <p:extLst>
      <p:ext uri="{BB962C8B-B14F-4D97-AF65-F5344CB8AC3E}">
        <p14:creationId xmlns:p14="http://schemas.microsoft.com/office/powerpoint/2010/main" val="110748699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o Persistir conclusão e devolver o resultado">
            <a:extLst xmlns:a="http://schemas.openxmlformats.org/drawingml/2006/main">
              <a:ext uri="{FF2B5EF4-FFF2-40B4-BE49-F238E27FC236}">
                <a16:creationId xmlns:a16="http://schemas.microsoft.com/office/drawing/2014/main" id="{C4DEFEEF-1E13-4E3D-ACA7-74492571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Persistir conclusão e devolver o resultado</a:t>
            </a:r>
          </a:p>
        </p:txBody>
      </p:sp>
      <p:sp>
        <p:nvSpPr>
          <p:cNvPr id="2" name="Texto SQ01-B  Recorte da sequência e trecho corresponden">
            <a:extLst xmlns:a="http://schemas.openxmlformats.org/drawingml/2006/main">
              <a:ext uri="{FF2B5EF4-FFF2-40B4-BE49-F238E27FC236}">
                <a16:creationId xmlns:a16="http://schemas.microsoft.com/office/drawing/2014/main" id="{205D4F72-7C77-4FAB-ACE0-C1473EE5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SQ01-B  Recorte da sequência e trecho correspondente</a:t>
            </a:r>
          </a:p>
        </p:txBody>
      </p:sp>
      <p:sp>
        <p:nvSpPr>
          <p:cNvPr id="3" name="Texto 25">
            <a:extLst xmlns:a="http://schemas.openxmlformats.org/drawingml/2006/main">
              <a:ext uri="{FF2B5EF4-FFF2-40B4-BE49-F238E27FC236}">
                <a16:creationId xmlns:a16="http://schemas.microsoft.com/office/drawing/2014/main" id="{51629E33-E554-46B6-8CE5-8BA59BE9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" name="Texto Interação">
            <a:extLst xmlns:a="http://schemas.openxmlformats.org/drawingml/2006/main">
              <a:ext uri="{FF2B5EF4-FFF2-40B4-BE49-F238E27FC236}">
                <a16:creationId xmlns:a16="http://schemas.microsoft.com/office/drawing/2014/main" id="{8F0BE26E-08A8-4E03-9BEC-64A25C35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Interação</a:t>
            </a:r>
          </a:p>
        </p:txBody>
      </p:sp>
      <p:sp>
        <p:nvSpPr>
          <p:cNvPr id="5" name="Texto Implementação">
            <a:extLst xmlns:a="http://schemas.openxmlformats.org/drawingml/2006/main">
              <a:ext uri="{FF2B5EF4-FFF2-40B4-BE49-F238E27FC236}">
                <a16:creationId xmlns:a16="http://schemas.microsoft.com/office/drawing/2014/main" id="{F80106C6-C991-4B4D-A9DD-F4EBCC62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240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Implementação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30E43-92CF-46FF-B900-77CF414A38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4aeaf9ec7431a"/>
          <a:stretch xmlns:a="http://schemas.openxmlformats.org/drawingml/2006/main"/>
        </p:blipFill>
        <p:spPr>
          <a:xfrm xmlns:a="http://schemas.openxmlformats.org/drawingml/2006/main">
            <a:off x="971106" y="2571750"/>
            <a:ext cx="7392289" cy="576262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F0E28-E175-45D0-B286-CFED031FE9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42771d35e248ee"/>
          <a:stretch xmlns:a="http://schemas.openxmlformats.org/drawingml/2006/main"/>
        </p:blipFill>
        <p:spPr>
          <a:xfrm xmlns:a="http://schemas.openxmlformats.org/drawingml/2006/main">
            <a:off x="8953500" y="2698750"/>
            <a:ext cx="8572500" cy="5461000"/>
          </a:xfrm>
          <a:prstGeom xmlns:a="http://schemas.openxmlformats.org/drawingml/2006/main" prst="rect">
            <a:avLst/>
          </a:prstGeom>
        </p:spPr>
      </p:pic>
      <p:sp>
        <p:nvSpPr>
          <p:cNvPr id="8" name="Texto Tratar indisponibilidade, separar teste de envio e">
            <a:extLst xmlns:a="http://schemas.openxmlformats.org/drawingml/2006/main">
              <a:ext uri="{FF2B5EF4-FFF2-40B4-BE49-F238E27FC236}">
                <a16:creationId xmlns:a16="http://schemas.microsoft.com/office/drawing/2014/main" id="{52D544E9-CC1E-4E87-8D82-BA6972A5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591550"/>
            <a:ext cx="1643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Tratar indisponibilidade, separar teste de envio e persistir avaliação antes da resposta.</a:t>
            </a:r>
          </a:p>
        </p:txBody>
      </p:sp>
    </p:spTree>
    <p:extLst>
      <p:ext uri="{BB962C8B-B14F-4D97-AF65-F5344CB8AC3E}">
        <p14:creationId xmlns:p14="http://schemas.microsoft.com/office/powerpoint/2010/main" val="17513675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o Conceder XP somente na primeira conclusão">
            <a:extLst xmlns:a="http://schemas.openxmlformats.org/drawingml/2006/main">
              <a:ext uri="{FF2B5EF4-FFF2-40B4-BE49-F238E27FC236}">
                <a16:creationId xmlns:a16="http://schemas.microsoft.com/office/drawing/2014/main" id="{F3A952FA-38BE-4FB1-9FC7-C7A62077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Conceder XP somente na primeira conclusão</a:t>
            </a:r>
          </a:p>
        </p:txBody>
      </p:sp>
      <p:sp>
        <p:nvSpPr>
          <p:cNvPr id="2" name="Texto SQ01-C  Recorte da sequência e trecho corresponden">
            <a:extLst xmlns:a="http://schemas.openxmlformats.org/drawingml/2006/main">
              <a:ext uri="{FF2B5EF4-FFF2-40B4-BE49-F238E27FC236}">
                <a16:creationId xmlns:a16="http://schemas.microsoft.com/office/drawing/2014/main" id="{568865C5-CCA5-4782-B5AD-AA87E927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SQ01-C  Recorte da sequência e trecho correspondente</a:t>
            </a:r>
          </a:p>
        </p:txBody>
      </p:sp>
      <p:sp>
        <p:nvSpPr>
          <p:cNvPr id="3" name="Texto 26">
            <a:extLst xmlns:a="http://schemas.openxmlformats.org/drawingml/2006/main">
              <a:ext uri="{FF2B5EF4-FFF2-40B4-BE49-F238E27FC236}">
                <a16:creationId xmlns:a16="http://schemas.microsoft.com/office/drawing/2014/main" id="{0F9545FB-B994-4155-AC57-83E26B4F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4" name="Texto Interação">
            <a:extLst xmlns:a="http://schemas.openxmlformats.org/drawingml/2006/main">
              <a:ext uri="{FF2B5EF4-FFF2-40B4-BE49-F238E27FC236}">
                <a16:creationId xmlns:a16="http://schemas.microsoft.com/office/drawing/2014/main" id="{488F2661-29A1-401F-8C6D-D28EFBE7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Interação</a:t>
            </a:r>
          </a:p>
        </p:txBody>
      </p:sp>
      <p:sp>
        <p:nvSpPr>
          <p:cNvPr id="5" name="Texto Implementação">
            <a:extLst xmlns:a="http://schemas.openxmlformats.org/drawingml/2006/main">
              <a:ext uri="{FF2B5EF4-FFF2-40B4-BE49-F238E27FC236}">
                <a16:creationId xmlns:a16="http://schemas.microsoft.com/office/drawing/2014/main" id="{386536F5-C6F7-490F-909A-A46DA019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240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Implementação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568E1-9BC3-432D-BB64-9828E8FF66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54f52537864dee"/>
          <a:stretch xmlns:a="http://schemas.openxmlformats.org/drawingml/2006/main"/>
        </p:blipFill>
        <p:spPr>
          <a:xfrm xmlns:a="http://schemas.openxmlformats.org/drawingml/2006/main">
            <a:off x="971106" y="2571750"/>
            <a:ext cx="7392289" cy="576262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1528E-C799-4B97-8C9A-30874208FB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8a111e4f1483f"/>
          <a:stretch xmlns:a="http://schemas.openxmlformats.org/drawingml/2006/main"/>
        </p:blipFill>
        <p:spPr>
          <a:xfrm xmlns:a="http://schemas.openxmlformats.org/drawingml/2006/main">
            <a:off x="9294819" y="2524125"/>
            <a:ext cx="7889862" cy="5810250"/>
          </a:xfrm>
          <a:prstGeom xmlns:a="http://schemas.openxmlformats.org/drawingml/2006/main" prst="rect">
            <a:avLst/>
          </a:prstGeom>
        </p:spPr>
      </p:pic>
      <p:sp>
        <p:nvSpPr>
          <p:cNvPr id="8" name="Texto Localizar conclusão anterior e gravar a tentativa ">
            <a:extLst xmlns:a="http://schemas.openxmlformats.org/drawingml/2006/main">
              <a:ext uri="{FF2B5EF4-FFF2-40B4-BE49-F238E27FC236}">
                <a16:creationId xmlns:a16="http://schemas.microsoft.com/office/drawing/2014/main" id="{04BAEA31-585D-457C-BC06-10134327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591550"/>
            <a:ext cx="1643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Localizar conclusão anterior e gravar a tentativa com XP calculado na transação.</a:t>
            </a:r>
          </a:p>
        </p:txBody>
      </p:sp>
    </p:spTree>
    <p:extLst>
      <p:ext uri="{BB962C8B-B14F-4D97-AF65-F5344CB8AC3E}">
        <p14:creationId xmlns:p14="http://schemas.microsoft.com/office/powerpoint/2010/main" val="188911780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o Demonstração prática">
            <a:extLst xmlns:a="http://schemas.openxmlformats.org/drawingml/2006/main">
              <a:ext uri="{FF2B5EF4-FFF2-40B4-BE49-F238E27FC236}">
                <a16:creationId xmlns:a16="http://schemas.microsoft.com/office/drawing/2014/main" id="{AA3F83BC-6769-4408-BEE9-143D07CF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Demonstração prática</a:t>
            </a:r>
          </a:p>
        </p:txBody>
      </p:sp>
      <p:sp>
        <p:nvSpPr>
          <p:cNvPr id="2" name="Texto Pedro Antonio Silvestre Tescaro  Aprendizagem e co">
            <a:extLst xmlns:a="http://schemas.openxmlformats.org/drawingml/2006/main">
              <a:ext uri="{FF2B5EF4-FFF2-40B4-BE49-F238E27FC236}">
                <a16:creationId xmlns:a16="http://schemas.microsoft.com/office/drawing/2014/main" id="{D6A08596-6ED5-4DAE-8A56-F4C07108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Pedro Antonio Silvestre Tescaro  Aprendizagem e conclusão de atividades da lição</a:t>
            </a:r>
          </a:p>
        </p:txBody>
      </p:sp>
      <p:sp>
        <p:nvSpPr>
          <p:cNvPr id="3" name="Texto 27">
            <a:extLst xmlns:a="http://schemas.openxmlformats.org/drawingml/2006/main">
              <a:ext uri="{FF2B5EF4-FFF2-40B4-BE49-F238E27FC236}">
                <a16:creationId xmlns:a16="http://schemas.microsoft.com/office/drawing/2014/main" id="{D82BC98B-9B18-4FAB-8B9D-2B552622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4" name="Texto Preparação">
            <a:extLst xmlns:a="http://schemas.openxmlformats.org/drawingml/2006/main">
              <a:ext uri="{FF2B5EF4-FFF2-40B4-BE49-F238E27FC236}">
                <a16:creationId xmlns:a16="http://schemas.microsoft.com/office/drawing/2014/main" id="{83714B93-4100-4660-8409-3646C1D0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7762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Preparação</a:t>
            </a:r>
          </a:p>
        </p:txBody>
      </p:sp>
      <p:sp>
        <p:nvSpPr>
          <p:cNvPr id="5" name="Texto Usar conta de demonstração com progresso conhecido">
            <a:extLst xmlns:a="http://schemas.openxmlformats.org/drawingml/2006/main">
              <a:ext uri="{FF2B5EF4-FFF2-40B4-BE49-F238E27FC236}">
                <a16:creationId xmlns:a16="http://schemas.microsoft.com/office/drawing/2014/main" id="{C2FFF5B7-33C8-4DCC-925F-DB293F3E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67000"/>
            <a:ext cx="77628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Usar conta de demonstração com progresso conhecido e anotar o XP inicial. Deixar aberta a lição de catálogo /lesson/js-l1, sem o parâmetro mode=workspace.</a:t>
            </a:r>
          </a:p>
        </p:txBody>
      </p:sp>
      <p:sp>
        <p:nvSpPr>
          <p:cNvPr id="6" name="Texto Execução">
            <a:extLst xmlns:a="http://schemas.openxmlformats.org/drawingml/2006/main">
              <a:ext uri="{FF2B5EF4-FFF2-40B4-BE49-F238E27FC236}">
                <a16:creationId xmlns:a16="http://schemas.microsoft.com/office/drawing/2014/main" id="{9161A20E-CD3E-4D81-A4DA-96AAC3C5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86250"/>
            <a:ext cx="7762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Execução</a:t>
            </a:r>
          </a:p>
        </p:txBody>
      </p:sp>
      <p:sp>
        <p:nvSpPr>
          <p:cNvPr id="7" name="Texto Mostrar o enunciado e a resposta preparada da ativ">
            <a:extLst xmlns:a="http://schemas.openxmlformats.org/drawingml/2006/main">
              <a:ext uri="{FF2B5EF4-FFF2-40B4-BE49-F238E27FC236}">
                <a16:creationId xmlns:a16="http://schemas.microsoft.com/office/drawing/2014/main" id="{C8C7112B-1628-472D-92CF-4F7439ED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0125"/>
            <a:ext cx="77628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Mostrar o enunciado e a resposta preparada da atividade da lição. Acionar Testar e explicar que a resposta é avaliada no servidor sem conceder XP.</a:t>
            </a:r>
          </a:p>
        </p:txBody>
      </p:sp>
      <p:sp>
        <p:nvSpPr>
          <p:cNvPr id="8" name="Texto Resultado esperado">
            <a:extLst xmlns:a="http://schemas.openxmlformats.org/drawingml/2006/main">
              <a:ext uri="{FF2B5EF4-FFF2-40B4-BE49-F238E27FC236}">
                <a16:creationId xmlns:a16="http://schemas.microsoft.com/office/drawing/2014/main" id="{60B5FB4B-4B5D-422A-AA09-C23B022A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429375"/>
            <a:ext cx="7762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Resultado esperado</a:t>
            </a:r>
          </a:p>
        </p:txBody>
      </p:sp>
      <p:sp>
        <p:nvSpPr>
          <p:cNvPr id="9" name="Texto Ação run retorna xpEarned igual a zero. A conclusã">
            <a:extLst xmlns:a="http://schemas.openxmlformats.org/drawingml/2006/main">
              <a:ext uri="{FF2B5EF4-FFF2-40B4-BE49-F238E27FC236}">
                <a16:creationId xmlns:a16="http://schemas.microsoft.com/office/drawing/2014/main" id="{6ED97FAC-FE37-4E03-BAAB-77FDE1E8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953250"/>
            <a:ext cx="77628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Ação run retorna xpEarned igual a zero. A conclusão correta inédita pode conceder o XP da etapa.</a:t>
            </a:r>
          </a:p>
        </p:txBody>
      </p:sp>
      <p:sp>
        <p:nvSpPr>
          <p:cNvPr id="10" name="Texto Conferência">
            <a:extLst xmlns:a="http://schemas.openxmlformats.org/drawingml/2006/main">
              <a:ext uri="{FF2B5EF4-FFF2-40B4-BE49-F238E27FC236}">
                <a16:creationId xmlns:a16="http://schemas.microsoft.com/office/drawing/2014/main" id="{DB206D7B-E9B1-4AA7-B0C6-6E1CE134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431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Conferência</a:t>
            </a:r>
          </a:p>
        </p:txBody>
      </p:sp>
      <p:sp>
        <p:nvSpPr>
          <p:cNvPr id="11" name="Texto Acionar a verificação definitiva da solução e obse">
            <a:extLst xmlns:a="http://schemas.openxmlformats.org/drawingml/2006/main">
              <a:ext uri="{FF2B5EF4-FFF2-40B4-BE49-F238E27FC236}">
                <a16:creationId xmlns:a16="http://schemas.microsoft.com/office/drawing/2014/main" id="{C1F47884-53C6-41C7-8A5E-9DC2DD35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0"/>
            <a:ext cx="75247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Acionar a verificação definitiva da solução e observar o resultado e o progresso. Comparar o XP ao valor anterior e repetir a verificação para mostrar que a mesma conclusão não concede XP novamente.</a:t>
            </a:r>
          </a:p>
        </p:txBody>
      </p:sp>
      <p:sp>
        <p:nvSpPr>
          <p:cNvPr id="12" name="Texto Continuidade">
            <a:extLst xmlns:a="http://schemas.openxmlformats.org/drawingml/2006/main">
              <a:ext uri="{FF2B5EF4-FFF2-40B4-BE49-F238E27FC236}">
                <a16:creationId xmlns:a16="http://schemas.microsoft.com/office/drawing/2014/main" id="{8FFB90A2-D120-4670-8C6A-805F2ED6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8637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Continuidade</a:t>
            </a:r>
          </a:p>
        </p:txBody>
      </p:sp>
      <p:sp>
        <p:nvSpPr>
          <p:cNvPr id="13" name="Texto O perfil do candidato já existe. A próxima demonst">
            <a:extLst xmlns:a="http://schemas.openxmlformats.org/drawingml/2006/main">
              <a:ext uri="{FF2B5EF4-FFF2-40B4-BE49-F238E27FC236}">
                <a16:creationId xmlns:a16="http://schemas.microsoft.com/office/drawing/2014/main" id="{2B4665C5-B0C2-4C91-8C45-979E83E2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810250"/>
            <a:ext cx="75247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O perfil do candidato já existe. A próxima demonstração cria a oportunidade que será consumida no último bloco.</a:t>
            </a:r>
          </a:p>
        </p:txBody>
      </p:sp>
    </p:spTree>
    <p:extLst>
      <p:ext uri="{BB962C8B-B14F-4D97-AF65-F5344CB8AC3E}">
        <p14:creationId xmlns:p14="http://schemas.microsoft.com/office/powerpoint/2010/main" val="147415944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o Guilherme: publicação de vaga">
            <a:extLst xmlns:a="http://schemas.openxmlformats.org/drawingml/2006/main">
              <a:ext uri="{FF2B5EF4-FFF2-40B4-BE49-F238E27FC236}">
                <a16:creationId xmlns:a16="http://schemas.microsoft.com/office/drawing/2014/main" id="{F04554D1-7BD1-4544-B047-C1BDCFEC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Guilherme: publicação de vaga</a:t>
            </a:r>
          </a:p>
        </p:txBody>
      </p:sp>
      <p:sp>
        <p:nvSpPr>
          <p:cNvPr id="2" name="Texto Guilherme Alves de Campos  UC017">
            <a:extLst xmlns:a="http://schemas.openxmlformats.org/drawingml/2006/main">
              <a:ext uri="{FF2B5EF4-FFF2-40B4-BE49-F238E27FC236}">
                <a16:creationId xmlns:a16="http://schemas.microsoft.com/office/drawing/2014/main" id="{194FA8C2-D20F-4BD8-86B9-0D7355E2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Guilherme Alves de Campos  UC017</a:t>
            </a:r>
          </a:p>
        </p:txBody>
      </p:sp>
      <p:sp>
        <p:nvSpPr>
          <p:cNvPr id="3" name="Texto 28">
            <a:extLst xmlns:a="http://schemas.openxmlformats.org/drawingml/2006/main">
              <a:ext uri="{FF2B5EF4-FFF2-40B4-BE49-F238E27FC236}">
                <a16:creationId xmlns:a16="http://schemas.microsoft.com/office/drawing/2014/main" id="{45E51B9A-18D1-4098-9D2B-D8CC6D25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DB8D0-C5F1-4952-9325-7A07C97469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72d2cf4894be9"/>
          <a:stretch xmlns:a="http://schemas.openxmlformats.org/drawingml/2006/main"/>
        </p:blipFill>
        <p:spPr>
          <a:xfrm xmlns:a="http://schemas.openxmlformats.org/drawingml/2006/main">
            <a:off x="1193674" y="1924050"/>
            <a:ext cx="15900653" cy="7191375"/>
          </a:xfrm>
          <a:prstGeom xmlns:a="http://schemas.openxmlformats.org/drawingml/2006/main" prst="rect">
            <a:avLst/>
          </a:prstGeom>
        </p:spPr>
      </p:pic>
      <p:sp>
        <p:nvSpPr>
          <p:cNvPr id="5" name="Texto No protótipo: empresa autorizada, dados da oportun">
            <a:extLst xmlns:a="http://schemas.openxmlformats.org/drawingml/2006/main">
              <a:ext uri="{FF2B5EF4-FFF2-40B4-BE49-F238E27FC236}">
                <a16:creationId xmlns:a16="http://schemas.microsoft.com/office/drawing/2014/main" id="{CC32B9FE-5476-4EAE-83FB-4D0D10DA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172575"/>
            <a:ext cx="1633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No protótipo: empresa autorizada, dados da oportunidade e comando de publicação.</a:t>
            </a:r>
          </a:p>
        </p:txBody>
      </p:sp>
    </p:spTree>
    <p:extLst>
      <p:ext uri="{BB962C8B-B14F-4D97-AF65-F5344CB8AC3E}">
        <p14:creationId xmlns:p14="http://schemas.microsoft.com/office/powerpoint/2010/main" val="139788259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o Requisitos e regras na interface">
            <a:extLst xmlns:a="http://schemas.openxmlformats.org/drawingml/2006/main">
              <a:ext uri="{FF2B5EF4-FFF2-40B4-BE49-F238E27FC236}">
                <a16:creationId xmlns:a16="http://schemas.microsoft.com/office/drawing/2014/main" id="{0E74BF62-D43E-4281-88ED-1E9CF11C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Requisitos e regras na interface</a:t>
            </a:r>
          </a:p>
        </p:txBody>
      </p:sp>
      <p:sp>
        <p:nvSpPr>
          <p:cNvPr id="2" name="Texto UC017  Publicar uma vaga">
            <a:extLst xmlns:a="http://schemas.openxmlformats.org/drawingml/2006/main">
              <a:ext uri="{FF2B5EF4-FFF2-40B4-BE49-F238E27FC236}">
                <a16:creationId xmlns:a16="http://schemas.microsoft.com/office/drawing/2014/main" id="{9CD7499B-673A-4ED8-A272-A76EA702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UC017  Publicar uma vaga</a:t>
            </a:r>
          </a:p>
        </p:txBody>
      </p:sp>
      <p:sp>
        <p:nvSpPr>
          <p:cNvPr id="3" name="Texto 29">
            <a:extLst xmlns:a="http://schemas.openxmlformats.org/drawingml/2006/main">
              <a:ext uri="{FF2B5EF4-FFF2-40B4-BE49-F238E27FC236}">
                <a16:creationId xmlns:a16="http://schemas.microsoft.com/office/drawing/2014/main" id="{FE97325A-EAE9-4758-B88B-4C06E2D4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6656B-8F0D-46C4-8F7C-523415964067}"/>
              </a:ext>
            </a:extLst>
          </p:cNvPr>
          <p:cNvGraphicFramePr/>
          <p:nvPr/>
        </p:nvGraphicFramePr>
        <p:xfrm>
          <a:off xmlns:a="http://schemas.openxmlformats.org/drawingml/2006/main" x="838200" y="2076450"/>
          <a:ext xmlns:a="http://schemas.openxmlformats.org/drawingml/2006/main" cx="16611600" cy="619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19750"/>
                <a:gridCol w="5429250"/>
                <a:gridCol w="5562600"/>
              </a:tblGrid>
              <a:tr h="762000">
                <a:tc>
                  <a:txBody>
                    <a:bodyPr lIns="190500" tIns="161925" rIns="190500" bIns="161925"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Requisitos funcionais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C"/>
                      </a:solidFill>
                      <a:prstDash val="solid"/>
                    </a:lnL>
                    <a:lnR w="9525">
                      <a:solidFill>
                        <a:srgbClr val="CCD6DC"/>
                      </a:solidFill>
                      <a:prstDash val="solid"/>
                    </a:lnR>
                    <a:lnT w="9525">
                      <a:solidFill>
                        <a:srgbClr val="CCD6DC"/>
                      </a:solidFill>
                      <a:prstDash val="solid"/>
                    </a:lnT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142B3B"/>
                    </a:solidFill>
                  </a:tcPr>
                </a:tc>
                <a:tc>
                  <a:txBody>
                    <a:bodyPr lIns="190500" tIns="161925" rIns="190500" bIns="161925"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Requisitos não funcionais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C"/>
                      </a:solidFill>
                      <a:prstDash val="solid"/>
                    </a:lnR>
                    <a:lnT w="9525">
                      <a:solidFill>
                        <a:srgbClr val="CCD6DC"/>
                      </a:solidFill>
                      <a:prstDash val="solid"/>
                    </a:lnT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142B3B"/>
                    </a:solidFill>
                  </a:tcPr>
                </a:tc>
                <a:tc>
                  <a:txBody>
                    <a:bodyPr lIns="190500" tIns="161925" rIns="190500" bIns="161925"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Regras de negócio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C"/>
                      </a:solidFill>
                      <a:prstDash val="solid"/>
                    </a:lnR>
                    <a:lnT w="9525">
                      <a:solidFill>
                        <a:srgbClr val="CCD6DC"/>
                      </a:solidFill>
                      <a:prstDash val="solid"/>
                    </a:lnT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142B3B"/>
                    </a:solidFill>
                  </a:tcPr>
                </a:tc>
              </a:tr>
              <a:tr h="5429250">
                <a:tc>
                  <a:txBody>
                    <a:bodyPr lIns="190500" tIns="161925" rIns="190500" bIns="161925"/>
                    <a:lstStyle/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RF035  Publicar vaga</a:t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Criar vaga com requisitos e etapas para uma empresa autorizada.</a:t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RF036  Consultar vagas</a:t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Listar e filtrar oportunidades abertas.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C"/>
                      </a:solidFill>
                      <a:prstDash val="solid"/>
                    </a:lnL>
                    <a:lnR w="9525">
                      <a:solidFill>
                        <a:srgbClr val="CCD6DC"/>
                      </a:solidFill>
                      <a:prstDash val="solid"/>
                    </a:lnR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0" tIns="161925" rIns="190500" bIns="161925"/>
                    <a:lstStyle/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RNF001  Autenticação protegida</a:t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Verificar a sessão no servidor antes de acessar rotas privadas.</a:t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RNF002  Autorização por papel</a:t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Validar o papel, o acesso à empresa e os vínculos dos recursos.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C"/>
                      </a:solidFill>
                      <a:prstDash val="solid"/>
                    </a:lnR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0" tIns="161925" rIns="190500" bIns="161925"/>
                    <a:lstStyle/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RN020  Publicação de vaga</a:t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Permitir publicação somente a recrutador ou administrador com acesso à empresa.</a:t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RN017  Controle por papel</a:t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Aplicar as permissões correspondentes ao papel do usuário.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C"/>
                      </a:solidFill>
                      <a:prstDash val="solid"/>
                    </a:lnR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o RF: o que a tela permite fazer. RNF: qualidade e r">
            <a:extLst xmlns:a="http://schemas.openxmlformats.org/drawingml/2006/main">
              <a:ext uri="{FF2B5EF4-FFF2-40B4-BE49-F238E27FC236}">
                <a16:creationId xmlns:a16="http://schemas.microsoft.com/office/drawing/2014/main" id="{8F8BF98E-0748-4240-8485-D023DED3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715375"/>
            <a:ext cx="1647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RF: o que a tela permite fazer. RNF: qualidade e restrições. RN: condições do domínio.</a:t>
            </a:r>
          </a:p>
        </p:txBody>
      </p:sp>
    </p:spTree>
    <p:extLst>
      <p:ext uri="{BB962C8B-B14F-4D97-AF65-F5344CB8AC3E}">
        <p14:creationId xmlns:p14="http://schemas.microsoft.com/office/powerpoint/2010/main" val="177250914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o Casos de uso da funcionalidade">
            <a:extLst xmlns:a="http://schemas.openxmlformats.org/drawingml/2006/main">
              <a:ext uri="{FF2B5EF4-FFF2-40B4-BE49-F238E27FC236}">
                <a16:creationId xmlns:a16="http://schemas.microsoft.com/office/drawing/2014/main" id="{3EAD7D44-EEA1-402B-81CD-341A6809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Casos de uso da funcionalidade</a:t>
            </a:r>
          </a:p>
        </p:txBody>
      </p:sp>
      <p:sp>
        <p:nvSpPr>
          <p:cNvPr id="2" name="Texto UC017  Publicar uma vaga">
            <a:extLst xmlns:a="http://schemas.openxmlformats.org/drawingml/2006/main">
              <a:ext uri="{FF2B5EF4-FFF2-40B4-BE49-F238E27FC236}">
                <a16:creationId xmlns:a16="http://schemas.microsoft.com/office/drawing/2014/main" id="{72B3FBFF-BD25-41F9-BE77-48E1FBF1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UC017  Publicar uma vaga</a:t>
            </a:r>
          </a:p>
        </p:txBody>
      </p:sp>
      <p:sp>
        <p:nvSpPr>
          <p:cNvPr id="3" name="Texto 30">
            <a:extLst xmlns:a="http://schemas.openxmlformats.org/drawingml/2006/main">
              <a:ext uri="{FF2B5EF4-FFF2-40B4-BE49-F238E27FC236}">
                <a16:creationId xmlns:a16="http://schemas.microsoft.com/office/drawing/2014/main" id="{68C4A176-9579-48DD-8CF4-F093BD42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CDC38-CB54-427C-BEF3-90259C327C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30da00d6f4253"/>
          <a:stretch xmlns:a="http://schemas.openxmlformats.org/drawingml/2006/main"/>
        </p:blipFill>
        <p:spPr>
          <a:xfrm xmlns:a="http://schemas.openxmlformats.org/drawingml/2006/main">
            <a:off x="4801973" y="2000250"/>
            <a:ext cx="8684054" cy="6572250"/>
          </a:xfrm>
          <a:prstGeom xmlns:a="http://schemas.openxmlformats.org/drawingml/2006/main" prst="rect">
            <a:avLst/>
          </a:prstGeom>
        </p:spPr>
      </p:pic>
      <p:sp>
        <p:nvSpPr>
          <p:cNvPr id="5" name="Texto Sessão autenticada como pré-condição dos fluxos ap">
            <a:extLst xmlns:a="http://schemas.openxmlformats.org/drawingml/2006/main">
              <a:ext uri="{FF2B5EF4-FFF2-40B4-BE49-F238E27FC236}">
                <a16:creationId xmlns:a16="http://schemas.microsoft.com/office/drawing/2014/main" id="{F75D23D9-F711-470A-A3BC-F197F796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905875"/>
            <a:ext cx="1619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Sessão autenticada como pré-condição dos fluxos apresentados.</a:t>
            </a:r>
          </a:p>
        </p:txBody>
      </p:sp>
    </p:spTree>
    <p:extLst>
      <p:ext uri="{BB962C8B-B14F-4D97-AF65-F5344CB8AC3E}">
        <p14:creationId xmlns:p14="http://schemas.microsoft.com/office/powerpoint/2010/main" val="8132961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o Classes da publicação de vaga">
            <a:extLst xmlns:a="http://schemas.openxmlformats.org/drawingml/2006/main">
              <a:ext uri="{FF2B5EF4-FFF2-40B4-BE49-F238E27FC236}">
                <a16:creationId xmlns:a16="http://schemas.microsoft.com/office/drawing/2014/main" id="{DB840379-49AD-40EC-9283-577EF5BE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Classes da publicação de vaga</a:t>
            </a:r>
          </a:p>
        </p:txBody>
      </p:sp>
      <p:sp>
        <p:nvSpPr>
          <p:cNvPr id="2" name="Texto UC017  Empresa, vaga e etapas">
            <a:extLst xmlns:a="http://schemas.openxmlformats.org/drawingml/2006/main">
              <a:ext uri="{FF2B5EF4-FFF2-40B4-BE49-F238E27FC236}">
                <a16:creationId xmlns:a16="http://schemas.microsoft.com/office/drawing/2014/main" id="{F6A4D8C0-BAEF-4CCE-9A2E-7EA6AFEB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UC017  Empresa, vaga e etapas</a:t>
            </a:r>
          </a:p>
        </p:txBody>
      </p:sp>
      <p:sp>
        <p:nvSpPr>
          <p:cNvPr id="3" name="Texto 31">
            <a:extLst xmlns:a="http://schemas.openxmlformats.org/drawingml/2006/main">
              <a:ext uri="{FF2B5EF4-FFF2-40B4-BE49-F238E27FC236}">
                <a16:creationId xmlns:a16="http://schemas.microsoft.com/office/drawing/2014/main" id="{41A58DDE-8187-42B1-BD13-45014CDE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F5C02-BAFF-4828-9118-A030A54296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146b27002f4e85"/>
          <a:stretch xmlns:a="http://schemas.openxmlformats.org/drawingml/2006/main"/>
        </p:blipFill>
        <p:spPr>
          <a:xfrm xmlns:a="http://schemas.openxmlformats.org/drawingml/2006/main">
            <a:off x="2269537" y="1857375"/>
            <a:ext cx="13748926" cy="752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60158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o Banco de dados da publicação">
            <a:extLst xmlns:a="http://schemas.openxmlformats.org/drawingml/2006/main">
              <a:ext uri="{FF2B5EF4-FFF2-40B4-BE49-F238E27FC236}">
                <a16:creationId xmlns:a16="http://schemas.microsoft.com/office/drawing/2014/main" id="{18B45711-6E08-48D7-A228-F7AC4D9C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Banco de dados da publicação</a:t>
            </a:r>
          </a:p>
        </p:txBody>
      </p:sp>
      <p:sp>
        <p:nvSpPr>
          <p:cNvPr id="2" name="Texto UC017  Chaves e vínculos">
            <a:extLst xmlns:a="http://schemas.openxmlformats.org/drawingml/2006/main">
              <a:ext uri="{FF2B5EF4-FFF2-40B4-BE49-F238E27FC236}">
                <a16:creationId xmlns:a16="http://schemas.microsoft.com/office/drawing/2014/main" id="{659D3946-1382-4BD6-834A-00A94E67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UC017  Chaves e vínculos</a:t>
            </a:r>
          </a:p>
        </p:txBody>
      </p:sp>
      <p:sp>
        <p:nvSpPr>
          <p:cNvPr id="3" name="Texto 32">
            <a:extLst xmlns:a="http://schemas.openxmlformats.org/drawingml/2006/main">
              <a:ext uri="{FF2B5EF4-FFF2-40B4-BE49-F238E27FC236}">
                <a16:creationId xmlns:a16="http://schemas.microsoft.com/office/drawing/2014/main" id="{BD40D816-CECB-4323-B53C-73A5E1B2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CA590-47D1-4BDC-81C7-3FAAF6A5EE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b9651dd6242a8"/>
          <a:stretch xmlns:a="http://schemas.openxmlformats.org/drawingml/2006/main"/>
        </p:blipFill>
        <p:spPr>
          <a:xfrm xmlns:a="http://schemas.openxmlformats.org/drawingml/2006/main">
            <a:off x="2760155" y="1857375"/>
            <a:ext cx="12767689" cy="752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66111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o Sequência completa: publicar vaga">
            <a:extLst xmlns:a="http://schemas.openxmlformats.org/drawingml/2006/main">
              <a:ext uri="{FF2B5EF4-FFF2-40B4-BE49-F238E27FC236}">
                <a16:creationId xmlns:a16="http://schemas.microsoft.com/office/drawing/2014/main" id="{C36A74A3-5A4F-44A6-A973-8A100ED3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Sequência completa: publicar vaga</a:t>
            </a:r>
          </a:p>
        </p:txBody>
      </p:sp>
      <p:sp>
        <p:nvSpPr>
          <p:cNvPr id="2" name="Texto UC017  Da autorização à confirmação">
            <a:extLst xmlns:a="http://schemas.openxmlformats.org/drawingml/2006/main">
              <a:ext uri="{FF2B5EF4-FFF2-40B4-BE49-F238E27FC236}">
                <a16:creationId xmlns:a16="http://schemas.microsoft.com/office/drawing/2014/main" id="{88834889-612D-436F-8E2B-710BF1A1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UC017  Da autorização à confirmação</a:t>
            </a:r>
          </a:p>
        </p:txBody>
      </p:sp>
      <p:sp>
        <p:nvSpPr>
          <p:cNvPr id="3" name="Texto 33">
            <a:extLst xmlns:a="http://schemas.openxmlformats.org/drawingml/2006/main">
              <a:ext uri="{FF2B5EF4-FFF2-40B4-BE49-F238E27FC236}">
                <a16:creationId xmlns:a16="http://schemas.microsoft.com/office/drawing/2014/main" id="{75039E94-C993-4207-8878-E0F8CF8E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A6FA3-1268-4411-9AA0-D682CF7051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446d20112649b8"/>
          <a:stretch xmlns:a="http://schemas.openxmlformats.org/drawingml/2006/main"/>
        </p:blipFill>
        <p:spPr>
          <a:xfrm xmlns:a="http://schemas.openxmlformats.org/drawingml/2006/main">
            <a:off x="2498447" y="1857375"/>
            <a:ext cx="13291105" cy="752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74804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o Autorizar a publicação da vaga">
            <a:extLst xmlns:a="http://schemas.openxmlformats.org/drawingml/2006/main">
              <a:ext uri="{FF2B5EF4-FFF2-40B4-BE49-F238E27FC236}">
                <a16:creationId xmlns:a16="http://schemas.microsoft.com/office/drawing/2014/main" id="{32A6BA17-7F87-4D98-A3D2-3DF41274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Autorizar a publicação da vaga</a:t>
            </a:r>
          </a:p>
        </p:txBody>
      </p:sp>
      <p:sp>
        <p:nvSpPr>
          <p:cNvPr id="2" name="Texto SQ02-A  Recorte da sequência e trecho corresponden">
            <a:extLst xmlns:a="http://schemas.openxmlformats.org/drawingml/2006/main">
              <a:ext uri="{FF2B5EF4-FFF2-40B4-BE49-F238E27FC236}">
                <a16:creationId xmlns:a16="http://schemas.microsoft.com/office/drawing/2014/main" id="{89E70D39-C1EF-4D5B-8DEF-81B1F1F7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SQ02-A  Recorte da sequência e trecho correspondente</a:t>
            </a:r>
          </a:p>
        </p:txBody>
      </p:sp>
      <p:sp>
        <p:nvSpPr>
          <p:cNvPr id="3" name="Texto 34">
            <a:extLst xmlns:a="http://schemas.openxmlformats.org/drawingml/2006/main">
              <a:ext uri="{FF2B5EF4-FFF2-40B4-BE49-F238E27FC236}">
                <a16:creationId xmlns:a16="http://schemas.microsoft.com/office/drawing/2014/main" id="{4C753381-A773-4590-BA31-99643102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4" name="Texto Interação">
            <a:extLst xmlns:a="http://schemas.openxmlformats.org/drawingml/2006/main">
              <a:ext uri="{FF2B5EF4-FFF2-40B4-BE49-F238E27FC236}">
                <a16:creationId xmlns:a16="http://schemas.microsoft.com/office/drawing/2014/main" id="{B9E4E742-7308-4D87-A992-0E2796D6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Interação</a:t>
            </a:r>
          </a:p>
        </p:txBody>
      </p:sp>
      <p:sp>
        <p:nvSpPr>
          <p:cNvPr id="5" name="Texto Implementação">
            <a:extLst xmlns:a="http://schemas.openxmlformats.org/drawingml/2006/main">
              <a:ext uri="{FF2B5EF4-FFF2-40B4-BE49-F238E27FC236}">
                <a16:creationId xmlns:a16="http://schemas.microsoft.com/office/drawing/2014/main" id="{B9445F3B-9EFB-4A60-B67A-2B93AE71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240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Implementação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C505D-860C-44B3-B75D-D1CF880292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83cf423094b18"/>
          <a:stretch xmlns:a="http://schemas.openxmlformats.org/drawingml/2006/main"/>
        </p:blipFill>
        <p:spPr>
          <a:xfrm xmlns:a="http://schemas.openxmlformats.org/drawingml/2006/main">
            <a:off x="971106" y="2571750"/>
            <a:ext cx="7392289" cy="576262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183CF-4193-4FED-A0C2-A81F76737B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1e442515d43c7"/>
          <a:stretch xmlns:a="http://schemas.openxmlformats.org/drawingml/2006/main"/>
        </p:blipFill>
        <p:spPr>
          <a:xfrm xmlns:a="http://schemas.openxmlformats.org/drawingml/2006/main">
            <a:off x="8953500" y="3381375"/>
            <a:ext cx="8572500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Texto Exigir recrutador ou administrador, validar dados ">
            <a:extLst xmlns:a="http://schemas.openxmlformats.org/drawingml/2006/main">
              <a:ext uri="{FF2B5EF4-FFF2-40B4-BE49-F238E27FC236}">
                <a16:creationId xmlns:a16="http://schemas.microsoft.com/office/drawing/2014/main" id="{AA6B3AFE-CEF1-4543-9DF0-3F896D91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591550"/>
            <a:ext cx="1643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Exigir recrutador ou administrador, validar dados e vínculo com a empresa.</a:t>
            </a:r>
          </a:p>
        </p:txBody>
      </p:sp>
    </p:spTree>
    <p:extLst>
      <p:ext uri="{BB962C8B-B14F-4D97-AF65-F5344CB8AC3E}">
        <p14:creationId xmlns:p14="http://schemas.microsoft.com/office/powerpoint/2010/main" val="151510022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o Gravar a vaga e suas etapas">
            <a:extLst xmlns:a="http://schemas.openxmlformats.org/drawingml/2006/main">
              <a:ext uri="{FF2B5EF4-FFF2-40B4-BE49-F238E27FC236}">
                <a16:creationId xmlns:a16="http://schemas.microsoft.com/office/drawing/2014/main" id="{0204229E-4CAF-46A5-AA6F-CE213FD9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Gravar a vaga e suas etapas</a:t>
            </a:r>
          </a:p>
        </p:txBody>
      </p:sp>
      <p:sp>
        <p:nvSpPr>
          <p:cNvPr id="2" name="Texto SQ02-B  Recorte da sequência e trecho corresponden">
            <a:extLst xmlns:a="http://schemas.openxmlformats.org/drawingml/2006/main">
              <a:ext uri="{FF2B5EF4-FFF2-40B4-BE49-F238E27FC236}">
                <a16:creationId xmlns:a16="http://schemas.microsoft.com/office/drawing/2014/main" id="{1AA9BB2E-C54F-4744-9D0B-C3CBE698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SQ02-B  Recorte da sequência e trecho correspondente</a:t>
            </a:r>
          </a:p>
        </p:txBody>
      </p:sp>
      <p:sp>
        <p:nvSpPr>
          <p:cNvPr id="3" name="Texto 35">
            <a:extLst xmlns:a="http://schemas.openxmlformats.org/drawingml/2006/main">
              <a:ext uri="{FF2B5EF4-FFF2-40B4-BE49-F238E27FC236}">
                <a16:creationId xmlns:a16="http://schemas.microsoft.com/office/drawing/2014/main" id="{9709E49B-47DF-480B-A4B2-22A0B1CB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4" name="Texto Interação">
            <a:extLst xmlns:a="http://schemas.openxmlformats.org/drawingml/2006/main">
              <a:ext uri="{FF2B5EF4-FFF2-40B4-BE49-F238E27FC236}">
                <a16:creationId xmlns:a16="http://schemas.microsoft.com/office/drawing/2014/main" id="{D4EC0ACE-6FD1-4D41-B9A5-808BFBBE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Interação</a:t>
            </a:r>
          </a:p>
        </p:txBody>
      </p:sp>
      <p:sp>
        <p:nvSpPr>
          <p:cNvPr id="5" name="Texto Implementação">
            <a:extLst xmlns:a="http://schemas.openxmlformats.org/drawingml/2006/main">
              <a:ext uri="{FF2B5EF4-FFF2-40B4-BE49-F238E27FC236}">
                <a16:creationId xmlns:a16="http://schemas.microsoft.com/office/drawing/2014/main" id="{3D80C120-CAC0-4A72-9DA4-C76EDF30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240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Implementação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20498-A1DF-44F6-B7CC-93BB430746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0fca4c60544910"/>
          <a:stretch xmlns:a="http://schemas.openxmlformats.org/drawingml/2006/main"/>
        </p:blipFill>
        <p:spPr>
          <a:xfrm xmlns:a="http://schemas.openxmlformats.org/drawingml/2006/main">
            <a:off x="971106" y="2571750"/>
            <a:ext cx="7392289" cy="576262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8B3D0F-A790-4AB7-A31C-241A5C373C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07fdbbbaf4935"/>
          <a:stretch xmlns:a="http://schemas.openxmlformats.org/drawingml/2006/main"/>
        </p:blipFill>
        <p:spPr>
          <a:xfrm xmlns:a="http://schemas.openxmlformats.org/drawingml/2006/main">
            <a:off x="9118644" y="2524125"/>
            <a:ext cx="8242211" cy="5810250"/>
          </a:xfrm>
          <a:prstGeom xmlns:a="http://schemas.openxmlformats.org/drawingml/2006/main" prst="rect">
            <a:avLst/>
          </a:prstGeom>
        </p:spPr>
      </p:pic>
      <p:sp>
        <p:nvSpPr>
          <p:cNvPr id="8" name="Texto Gravar vaga aberta e etapas do processo na mesma o">
            <a:extLst xmlns:a="http://schemas.openxmlformats.org/drawingml/2006/main">
              <a:ext uri="{FF2B5EF4-FFF2-40B4-BE49-F238E27FC236}">
                <a16:creationId xmlns:a16="http://schemas.microsoft.com/office/drawing/2014/main" id="{3D495B43-36BA-452D-B1BE-3897AA2F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591550"/>
            <a:ext cx="1643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Gravar vaga aberta e etapas do processo na mesma operação relacional.</a:t>
            </a:r>
          </a:p>
        </p:txBody>
      </p:sp>
    </p:spTree>
    <p:extLst>
      <p:ext uri="{BB962C8B-B14F-4D97-AF65-F5344CB8AC3E}">
        <p14:creationId xmlns:p14="http://schemas.microsoft.com/office/powerpoint/2010/main" val="52929531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o Confirmar a publicação na interface">
            <a:extLst xmlns:a="http://schemas.openxmlformats.org/drawingml/2006/main">
              <a:ext uri="{FF2B5EF4-FFF2-40B4-BE49-F238E27FC236}">
                <a16:creationId xmlns:a16="http://schemas.microsoft.com/office/drawing/2014/main" id="{A1863963-D5E6-482C-A384-EDFA3153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Confirmar a publicação na interface</a:t>
            </a:r>
          </a:p>
        </p:txBody>
      </p:sp>
      <p:sp>
        <p:nvSpPr>
          <p:cNvPr id="2" name="Texto SQ02-C  Recorte da sequência e trecho corresponden">
            <a:extLst xmlns:a="http://schemas.openxmlformats.org/drawingml/2006/main">
              <a:ext uri="{FF2B5EF4-FFF2-40B4-BE49-F238E27FC236}">
                <a16:creationId xmlns:a16="http://schemas.microsoft.com/office/drawing/2014/main" id="{2C8F2A4A-9065-472F-8558-326D0D5D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SQ02-C  Recorte da sequência e trecho correspondente</a:t>
            </a:r>
          </a:p>
        </p:txBody>
      </p:sp>
      <p:sp>
        <p:nvSpPr>
          <p:cNvPr id="3" name="Texto 36">
            <a:extLst xmlns:a="http://schemas.openxmlformats.org/drawingml/2006/main">
              <a:ext uri="{FF2B5EF4-FFF2-40B4-BE49-F238E27FC236}">
                <a16:creationId xmlns:a16="http://schemas.microsoft.com/office/drawing/2014/main" id="{A4118819-5FD4-49FD-BB45-BF281E2B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4" name="Texto Interação">
            <a:extLst xmlns:a="http://schemas.openxmlformats.org/drawingml/2006/main">
              <a:ext uri="{FF2B5EF4-FFF2-40B4-BE49-F238E27FC236}">
                <a16:creationId xmlns:a16="http://schemas.microsoft.com/office/drawing/2014/main" id="{2E11A243-E4AD-4415-BDB7-D762ECA4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Interação</a:t>
            </a:r>
          </a:p>
        </p:txBody>
      </p:sp>
      <p:sp>
        <p:nvSpPr>
          <p:cNvPr id="5" name="Texto Implementação">
            <a:extLst xmlns:a="http://schemas.openxmlformats.org/drawingml/2006/main">
              <a:ext uri="{FF2B5EF4-FFF2-40B4-BE49-F238E27FC236}">
                <a16:creationId xmlns:a16="http://schemas.microsoft.com/office/drawing/2014/main" id="{08AAD9FF-6281-4B92-8DC1-9FCE0D66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240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Implementação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8FE79-1964-4493-9245-CD80920B25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7c96e42e6447fa"/>
          <a:stretch xmlns:a="http://schemas.openxmlformats.org/drawingml/2006/main"/>
        </p:blipFill>
        <p:spPr>
          <a:xfrm xmlns:a="http://schemas.openxmlformats.org/drawingml/2006/main">
            <a:off x="971106" y="2571750"/>
            <a:ext cx="7392289" cy="576262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3341A-DD76-47A7-B5D5-B5A39C9CF3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e4e7f65bd4cbb"/>
          <a:stretch xmlns:a="http://schemas.openxmlformats.org/drawingml/2006/main"/>
        </p:blipFill>
        <p:spPr>
          <a:xfrm xmlns:a="http://schemas.openxmlformats.org/drawingml/2006/main">
            <a:off x="8953500" y="3106208"/>
            <a:ext cx="8572500" cy="4646083"/>
          </a:xfrm>
          <a:prstGeom xmlns:a="http://schemas.openxmlformats.org/drawingml/2006/main" prst="rect">
            <a:avLst/>
          </a:prstGeom>
        </p:spPr>
      </p:pic>
      <p:sp>
        <p:nvSpPr>
          <p:cNvPr id="8" name="Texto Depois do retorno da API, confirmar publicação e r">
            <a:extLst xmlns:a="http://schemas.openxmlformats.org/drawingml/2006/main">
              <a:ext uri="{FF2B5EF4-FFF2-40B4-BE49-F238E27FC236}">
                <a16:creationId xmlns:a16="http://schemas.microsoft.com/office/drawing/2014/main" id="{C50871F4-EBFA-426A-B60A-7D3CC109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591550"/>
            <a:ext cx="1643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Depois do retorno da API, confirmar publicação e recarregar a listagem.</a:t>
            </a:r>
          </a:p>
        </p:txBody>
      </p:sp>
    </p:spTree>
    <p:extLst>
      <p:ext uri="{BB962C8B-B14F-4D97-AF65-F5344CB8AC3E}">
        <p14:creationId xmlns:p14="http://schemas.microsoft.com/office/powerpoint/2010/main" val="168806662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o Demonstração prática">
            <a:extLst xmlns:a="http://schemas.openxmlformats.org/drawingml/2006/main">
              <a:ext uri="{FF2B5EF4-FFF2-40B4-BE49-F238E27FC236}">
                <a16:creationId xmlns:a16="http://schemas.microsoft.com/office/drawing/2014/main" id="{6476D5D7-57CA-4053-9081-22594636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Demonstração prática</a:t>
            </a:r>
          </a:p>
        </p:txBody>
      </p:sp>
      <p:sp>
        <p:nvSpPr>
          <p:cNvPr id="2" name="Texto Guilherme Alves de Campos  Publicação de vaga">
            <a:extLst xmlns:a="http://schemas.openxmlformats.org/drawingml/2006/main">
              <a:ext uri="{FF2B5EF4-FFF2-40B4-BE49-F238E27FC236}">
                <a16:creationId xmlns:a16="http://schemas.microsoft.com/office/drawing/2014/main" id="{6E84F593-D7A0-4D48-8E1F-2B6E420E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Guilherme Alves de Campos  Publicação de vaga</a:t>
            </a:r>
          </a:p>
        </p:txBody>
      </p:sp>
      <p:sp>
        <p:nvSpPr>
          <p:cNvPr id="3" name="Texto 37">
            <a:extLst xmlns:a="http://schemas.openxmlformats.org/drawingml/2006/main">
              <a:ext uri="{FF2B5EF4-FFF2-40B4-BE49-F238E27FC236}">
                <a16:creationId xmlns:a16="http://schemas.microsoft.com/office/drawing/2014/main" id="{B4A2936F-5305-40D1-B72D-CDE14FB0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4" name="Texto Preparação">
            <a:extLst xmlns:a="http://schemas.openxmlformats.org/drawingml/2006/main">
              <a:ext uri="{FF2B5EF4-FFF2-40B4-BE49-F238E27FC236}">
                <a16:creationId xmlns:a16="http://schemas.microsoft.com/office/drawing/2014/main" id="{B2D4D666-C8CD-4807-BA79-7739B69C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7762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Preparação</a:t>
            </a:r>
          </a:p>
        </p:txBody>
      </p:sp>
      <p:sp>
        <p:nvSpPr>
          <p:cNvPr id="5" name="Texto Deixar a conta de recrutador autenticada e vincula">
            <a:extLst xmlns:a="http://schemas.openxmlformats.org/drawingml/2006/main">
              <a:ext uri="{FF2B5EF4-FFF2-40B4-BE49-F238E27FC236}">
                <a16:creationId xmlns:a16="http://schemas.microsoft.com/office/drawing/2014/main" id="{0D938CFA-9610-43C5-A94E-404E454F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67000"/>
            <a:ext cx="77628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Deixar a conta de recrutador autenticada e vinculada à empresa de demonstração. Usar /recruiter com empresa cadastrada previamente.</a:t>
            </a:r>
          </a:p>
        </p:txBody>
      </p:sp>
      <p:sp>
        <p:nvSpPr>
          <p:cNvPr id="6" name="Texto Execução">
            <a:extLst xmlns:a="http://schemas.openxmlformats.org/drawingml/2006/main">
              <a:ext uri="{FF2B5EF4-FFF2-40B4-BE49-F238E27FC236}">
                <a16:creationId xmlns:a16="http://schemas.microsoft.com/office/drawing/2014/main" id="{C5CFF8BF-F3AC-4F91-9332-25D37D8B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86250"/>
            <a:ext cx="7762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Execução</a:t>
            </a:r>
          </a:p>
        </p:txBody>
      </p:sp>
      <p:sp>
        <p:nvSpPr>
          <p:cNvPr id="7" name="Texto Identificar no protótipo a empresa e os dados obri">
            <a:extLst xmlns:a="http://schemas.openxmlformats.org/drawingml/2006/main">
              <a:ext uri="{FF2B5EF4-FFF2-40B4-BE49-F238E27FC236}">
                <a16:creationId xmlns:a16="http://schemas.microsoft.com/office/drawing/2014/main" id="{D31FC911-B308-4CD7-B1C7-985A18A5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0125"/>
            <a:ext cx="77628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Identificar no protótipo a empresa e os dados obrigatórios da vaga. Publicar a vaga e mostrar a confirmação na interface.</a:t>
            </a:r>
          </a:p>
        </p:txBody>
      </p:sp>
      <p:sp>
        <p:nvSpPr>
          <p:cNvPr id="8" name="Texto Resultado esperado">
            <a:extLst xmlns:a="http://schemas.openxmlformats.org/drawingml/2006/main">
              <a:ext uri="{FF2B5EF4-FFF2-40B4-BE49-F238E27FC236}">
                <a16:creationId xmlns:a16="http://schemas.microsoft.com/office/drawing/2014/main" id="{ABED8A8D-09B0-4E2E-8F99-A2420F3B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429375"/>
            <a:ext cx="7762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Resultado esperado</a:t>
            </a:r>
          </a:p>
        </p:txBody>
      </p:sp>
      <p:sp>
        <p:nvSpPr>
          <p:cNvPr id="9" name="Texto O servidor exige papel de recrutador ou administra">
            <a:extLst xmlns:a="http://schemas.openxmlformats.org/drawingml/2006/main">
              <a:ext uri="{FF2B5EF4-FFF2-40B4-BE49-F238E27FC236}">
                <a16:creationId xmlns:a16="http://schemas.microsoft.com/office/drawing/2014/main" id="{028A737D-55F5-472A-AEFC-6F625DC7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953250"/>
            <a:ext cx="77628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O servidor exige papel de recrutador ou administrador e acesso à empresa. A vaga é persistida como aberta e recebe suas etapas de recrutamento.</a:t>
            </a:r>
          </a:p>
        </p:txBody>
      </p:sp>
      <p:sp>
        <p:nvSpPr>
          <p:cNvPr id="10" name="Texto Conferência">
            <a:extLst xmlns:a="http://schemas.openxmlformats.org/drawingml/2006/main">
              <a:ext uri="{FF2B5EF4-FFF2-40B4-BE49-F238E27FC236}">
                <a16:creationId xmlns:a16="http://schemas.microsoft.com/office/drawing/2014/main" id="{A909E02C-A5E4-46F9-8DDE-D9B9D883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431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Conferência</a:t>
            </a:r>
          </a:p>
        </p:txBody>
      </p:sp>
      <p:sp>
        <p:nvSpPr>
          <p:cNvPr id="11" name="Texto Localizar a vaga na listagem atualizada e observar">
            <a:extLst xmlns:a="http://schemas.openxmlformats.org/drawingml/2006/main">
              <a:ext uri="{FF2B5EF4-FFF2-40B4-BE49-F238E27FC236}">
                <a16:creationId xmlns:a16="http://schemas.microsoft.com/office/drawing/2014/main" id="{9EF1D22B-0BD8-437A-9C8A-76731FDE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0"/>
            <a:ext cx="75247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Localizar a vaga na listagem atualizada e observar as etapas associadas. Abrir /jobs e a página da vaga para preparar a continuidade da demonstração.</a:t>
            </a:r>
          </a:p>
        </p:txBody>
      </p:sp>
      <p:sp>
        <p:nvSpPr>
          <p:cNvPr id="12" name="Texto Continuidade">
            <a:extLst xmlns:a="http://schemas.openxmlformats.org/drawingml/2006/main">
              <a:ext uri="{FF2B5EF4-FFF2-40B4-BE49-F238E27FC236}">
                <a16:creationId xmlns:a16="http://schemas.microsoft.com/office/drawing/2014/main" id="{98ECCAEA-BF52-4234-937F-D261E7D0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8637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Continuidade</a:t>
            </a:r>
          </a:p>
        </p:txBody>
      </p:sp>
      <p:sp>
        <p:nvSpPr>
          <p:cNvPr id="13" name="Texto A vaga criada e sua primeira etapa já estão dispon">
            <a:extLst xmlns:a="http://schemas.openxmlformats.org/drawingml/2006/main">
              <a:ext uri="{FF2B5EF4-FFF2-40B4-BE49-F238E27FC236}">
                <a16:creationId xmlns:a16="http://schemas.microsoft.com/office/drawing/2014/main" id="{2A433398-F0D9-4C19-A6C6-AF646455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810250"/>
            <a:ext cx="75247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A vaga criada e sua primeira etapa já estão disponíveis para a candidatura do terceiro bloco.</a:t>
            </a:r>
          </a:p>
        </p:txBody>
      </p:sp>
    </p:spTree>
    <p:extLst>
      <p:ext uri="{BB962C8B-B14F-4D97-AF65-F5344CB8AC3E}">
        <p14:creationId xmlns:p14="http://schemas.microsoft.com/office/powerpoint/2010/main" val="20636721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o Paulo: candidatura à vaga">
            <a:extLst xmlns:a="http://schemas.openxmlformats.org/drawingml/2006/main">
              <a:ext uri="{FF2B5EF4-FFF2-40B4-BE49-F238E27FC236}">
                <a16:creationId xmlns:a16="http://schemas.microsoft.com/office/drawing/2014/main" id="{5596198B-7EA3-4D8D-88C5-155040FC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Paulo: candidatura à vaga</a:t>
            </a:r>
          </a:p>
        </p:txBody>
      </p:sp>
      <p:sp>
        <p:nvSpPr>
          <p:cNvPr id="2" name="Texto Paulo Henrique Leal dos Santos  UC022">
            <a:extLst xmlns:a="http://schemas.openxmlformats.org/drawingml/2006/main">
              <a:ext uri="{FF2B5EF4-FFF2-40B4-BE49-F238E27FC236}">
                <a16:creationId xmlns:a16="http://schemas.microsoft.com/office/drawing/2014/main" id="{929B78F8-12EE-4626-9DD8-75254B77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Paulo Henrique Leal dos Santos  UC022</a:t>
            </a:r>
          </a:p>
        </p:txBody>
      </p:sp>
      <p:sp>
        <p:nvSpPr>
          <p:cNvPr id="3" name="Texto 38">
            <a:extLst xmlns:a="http://schemas.openxmlformats.org/drawingml/2006/main">
              <a:ext uri="{FF2B5EF4-FFF2-40B4-BE49-F238E27FC236}">
                <a16:creationId xmlns:a16="http://schemas.microsoft.com/office/drawing/2014/main" id="{55286A75-1CD3-434D-B49C-22700237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93C7B-C69F-4F41-B9C2-02D6BEB018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b7b47733b34605"/>
          <a:stretch xmlns:a="http://schemas.openxmlformats.org/drawingml/2006/main"/>
        </p:blipFill>
        <p:spPr>
          <a:xfrm xmlns:a="http://schemas.openxmlformats.org/drawingml/2006/main">
            <a:off x="1270684" y="1924050"/>
            <a:ext cx="15746631" cy="7191375"/>
          </a:xfrm>
          <a:prstGeom xmlns:a="http://schemas.openxmlformats.org/drawingml/2006/main" prst="rect">
            <a:avLst/>
          </a:prstGeom>
        </p:spPr>
      </p:pic>
      <p:sp>
        <p:nvSpPr>
          <p:cNvPr id="5" name="Texto No protótipo: oportunidade aberta e comando de can">
            <a:extLst xmlns:a="http://schemas.openxmlformats.org/drawingml/2006/main">
              <a:ext uri="{FF2B5EF4-FFF2-40B4-BE49-F238E27FC236}">
                <a16:creationId xmlns:a16="http://schemas.microsoft.com/office/drawing/2014/main" id="{1862D9E4-6D4F-4BB5-8245-490A1860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172575"/>
            <a:ext cx="1633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No protótipo: oportunidade aberta e comando de candidatura com o perfil do usuário.</a:t>
            </a:r>
          </a:p>
        </p:txBody>
      </p:sp>
    </p:spTree>
    <p:extLst>
      <p:ext uri="{BB962C8B-B14F-4D97-AF65-F5344CB8AC3E}">
        <p14:creationId xmlns:p14="http://schemas.microsoft.com/office/powerpoint/2010/main" val="89731218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o Protótipo do painel de candidaturas">
            <a:extLst xmlns:a="http://schemas.openxmlformats.org/drawingml/2006/main">
              <a:ext uri="{FF2B5EF4-FFF2-40B4-BE49-F238E27FC236}">
                <a16:creationId xmlns:a16="http://schemas.microsoft.com/office/drawing/2014/main" id="{AF8B3859-B915-48CC-84D5-71399546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Protótipo do painel de candidaturas</a:t>
            </a:r>
          </a:p>
        </p:txBody>
      </p:sp>
      <p:sp>
        <p:nvSpPr>
          <p:cNvPr id="2" name="Texto Paulo Henrique Leal dos Santos  UC026">
            <a:extLst xmlns:a="http://schemas.openxmlformats.org/drawingml/2006/main">
              <a:ext uri="{FF2B5EF4-FFF2-40B4-BE49-F238E27FC236}">
                <a16:creationId xmlns:a16="http://schemas.microsoft.com/office/drawing/2014/main" id="{6FB629EE-3B30-418F-8795-DC426C64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Paulo Henrique Leal dos Santos  UC026</a:t>
            </a:r>
          </a:p>
        </p:txBody>
      </p:sp>
      <p:sp>
        <p:nvSpPr>
          <p:cNvPr id="3" name="Texto 39">
            <a:extLst xmlns:a="http://schemas.openxmlformats.org/drawingml/2006/main">
              <a:ext uri="{FF2B5EF4-FFF2-40B4-BE49-F238E27FC236}">
                <a16:creationId xmlns:a16="http://schemas.microsoft.com/office/drawing/2014/main" id="{A01FF75D-60C3-4152-8695-24B1D08D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4B0EF-0920-4D20-8E3C-EABACE4B89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1a3b7ce49b4de1"/>
          <a:stretch xmlns:a="http://schemas.openxmlformats.org/drawingml/2006/main"/>
        </p:blipFill>
        <p:spPr>
          <a:xfrm xmlns:a="http://schemas.openxmlformats.org/drawingml/2006/main">
            <a:off x="2720493" y="1924050"/>
            <a:ext cx="12847015" cy="7191375"/>
          </a:xfrm>
          <a:prstGeom xmlns:a="http://schemas.openxmlformats.org/drawingml/2006/main" prst="rect">
            <a:avLst/>
          </a:prstGeom>
        </p:spPr>
      </p:pic>
      <p:sp>
        <p:nvSpPr>
          <p:cNvPr id="5" name="Texto Dados de demonstração: candidato, situação da cand">
            <a:extLst xmlns:a="http://schemas.openxmlformats.org/drawingml/2006/main">
              <a:ext uri="{FF2B5EF4-FFF2-40B4-BE49-F238E27FC236}">
                <a16:creationId xmlns:a16="http://schemas.microsoft.com/office/drawing/2014/main" id="{F4E46E2C-989C-4D8B-B767-F185BF1D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172575"/>
            <a:ext cx="1633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Dados de demonstração: candidato, situação da candidatura e seletor do recrutador.</a:t>
            </a:r>
          </a:p>
        </p:txBody>
      </p:sp>
    </p:spTree>
    <p:extLst>
      <p:ext uri="{BB962C8B-B14F-4D97-AF65-F5344CB8AC3E}">
        <p14:creationId xmlns:p14="http://schemas.microsoft.com/office/powerpoint/2010/main" val="68315318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o Requisitos e regras na interface">
            <a:extLst xmlns:a="http://schemas.openxmlformats.org/drawingml/2006/main">
              <a:ext uri="{FF2B5EF4-FFF2-40B4-BE49-F238E27FC236}">
                <a16:creationId xmlns:a16="http://schemas.microsoft.com/office/drawing/2014/main" id="{E744915D-39E8-47D0-8023-E65B5B66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Requisitos e regras na interface</a:t>
            </a:r>
          </a:p>
        </p:txBody>
      </p:sp>
      <p:sp>
        <p:nvSpPr>
          <p:cNvPr id="2" name="Texto UC022 e UC026  Candidatar-se e acompanhar a seleçã">
            <a:extLst xmlns:a="http://schemas.openxmlformats.org/drawingml/2006/main">
              <a:ext uri="{FF2B5EF4-FFF2-40B4-BE49-F238E27FC236}">
                <a16:creationId xmlns:a16="http://schemas.microsoft.com/office/drawing/2014/main" id="{C02318C5-88C8-40DC-9340-EC63B371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UC022 e UC026  Candidatar-se e acompanhar a seleção</a:t>
            </a:r>
          </a:p>
        </p:txBody>
      </p:sp>
      <p:sp>
        <p:nvSpPr>
          <p:cNvPr id="3" name="Texto 40">
            <a:extLst xmlns:a="http://schemas.openxmlformats.org/drawingml/2006/main">
              <a:ext uri="{FF2B5EF4-FFF2-40B4-BE49-F238E27FC236}">
                <a16:creationId xmlns:a16="http://schemas.microsoft.com/office/drawing/2014/main" id="{2A4F72B9-941D-4EDE-B171-92808CCA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FF8F4-38A2-44CE-AE72-85CA29D8FDB1}"/>
              </a:ext>
            </a:extLst>
          </p:cNvPr>
          <p:cNvGraphicFramePr/>
          <p:nvPr/>
        </p:nvGraphicFramePr>
        <p:xfrm>
          <a:off xmlns:a="http://schemas.openxmlformats.org/drawingml/2006/main" x="838200" y="2076450"/>
          <a:ext xmlns:a="http://schemas.openxmlformats.org/drawingml/2006/main" cx="16611600" cy="619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19750"/>
                <a:gridCol w="5429250"/>
                <a:gridCol w="5562600"/>
              </a:tblGrid>
              <a:tr h="762000">
                <a:tc>
                  <a:txBody>
                    <a:bodyPr lIns="190500" tIns="161925" rIns="190500" bIns="161925"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Requisitos funcionais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C"/>
                      </a:solidFill>
                      <a:prstDash val="solid"/>
                    </a:lnL>
                    <a:lnR w="9525">
                      <a:solidFill>
                        <a:srgbClr val="CCD6DC"/>
                      </a:solidFill>
                      <a:prstDash val="solid"/>
                    </a:lnR>
                    <a:lnT w="9525">
                      <a:solidFill>
                        <a:srgbClr val="CCD6DC"/>
                      </a:solidFill>
                      <a:prstDash val="solid"/>
                    </a:lnT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142B3B"/>
                    </a:solidFill>
                  </a:tcPr>
                </a:tc>
                <a:tc>
                  <a:txBody>
                    <a:bodyPr lIns="190500" tIns="161925" rIns="190500" bIns="161925"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Requisitos não funcionais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C"/>
                      </a:solidFill>
                      <a:prstDash val="solid"/>
                    </a:lnR>
                    <a:lnT w="9525">
                      <a:solidFill>
                        <a:srgbClr val="CCD6DC"/>
                      </a:solidFill>
                      <a:prstDash val="solid"/>
                    </a:lnT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142B3B"/>
                    </a:solidFill>
                  </a:tcPr>
                </a:tc>
                <a:tc>
                  <a:txBody>
                    <a:bodyPr lIns="190500" tIns="161925" rIns="190500" bIns="161925"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Regras de negócio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C"/>
                      </a:solidFill>
                      <a:prstDash val="solid"/>
                    </a:lnR>
                    <a:lnT w="9525">
                      <a:solidFill>
                        <a:srgbClr val="CCD6DC"/>
                      </a:solidFill>
                      <a:prstDash val="solid"/>
                    </a:lnT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142B3B"/>
                    </a:solidFill>
                  </a:tcPr>
                </a:tc>
              </a:tr>
              <a:tr h="5429250">
                <a:tc>
                  <a:txBody>
                    <a:bodyPr lIns="190500" tIns="161925" rIns="190500" bIns="161925"/>
                    <a:lstStyle/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RF047  Candidatar-se a vaga</a:t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Registrar uma candidatura do usuário a uma vaga aberta, na etapa inicial.</a:t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RF048  Atualizar etapa de candidatura</a:t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Atualizar etapa, status e feedback e notificar o candidato associado.</a:t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RF044  Gerar notificação</a:t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Gerar a notificação ao destinatário após a operação correspondente.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C"/>
                      </a:solidFill>
                      <a:prstDash val="solid"/>
                    </a:lnL>
                    <a:lnR w="9525">
                      <a:solidFill>
                        <a:srgbClr val="CCD6DC"/>
                      </a:solidFill>
                      <a:prstDash val="solid"/>
                    </a:lnR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0" tIns="161925" rIns="190500" bIns="161925"/>
                    <a:lstStyle/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RNF002  Autorização por papel</a:t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Validar o papel, o acesso à empresa e os vínculos dos recursos.</a:t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RNF005  Separação público/privado</a:t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Retornar somente campos autorizados no perfil e no recrutamento.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C"/>
                      </a:solidFill>
                      <a:prstDash val="solid"/>
                    </a:lnR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0" tIns="161925" rIns="190500" bIns="161925"/>
                    <a:lstStyle/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RN026  Candidatura a vaga</a:t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Aceitar uma candidatura por usuário e vaga aberta. A atualização exige responsável autorizado.</a:t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RN022  Notificações</a:t>
                      </a:r>
                    </a:p>
                    <a:p>
                      <a:r>
                        <a:rPr sz="2175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Notificar somente o candidato associado. Falha da notificação não desfaz a atualização.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C"/>
                      </a:solidFill>
                      <a:prstDash val="solid"/>
                    </a:lnR>
                    <a:lnB w="9525">
                      <a:solidFill>
                        <a:srgbClr val="CC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o RF: o que a tela permite fazer. RNF: qualidade e r">
            <a:extLst xmlns:a="http://schemas.openxmlformats.org/drawingml/2006/main">
              <a:ext uri="{FF2B5EF4-FFF2-40B4-BE49-F238E27FC236}">
                <a16:creationId xmlns:a16="http://schemas.microsoft.com/office/drawing/2014/main" id="{722B269A-F492-4FF2-907D-FE1684F4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715375"/>
            <a:ext cx="1647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RF: o que a tela permite fazer. RNF: qualidade e restrições. RN: condições do domínio.</a:t>
            </a:r>
          </a:p>
        </p:txBody>
      </p:sp>
    </p:spTree>
    <p:extLst>
      <p:ext uri="{BB962C8B-B14F-4D97-AF65-F5344CB8AC3E}">
        <p14:creationId xmlns:p14="http://schemas.microsoft.com/office/powerpoint/2010/main" val="179844913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o Casos de uso da funcionalidade">
            <a:extLst xmlns:a="http://schemas.openxmlformats.org/drawingml/2006/main">
              <a:ext uri="{FF2B5EF4-FFF2-40B4-BE49-F238E27FC236}">
                <a16:creationId xmlns:a16="http://schemas.microsoft.com/office/drawing/2014/main" id="{A02073CE-A886-4EB9-BE78-5E446129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Casos de uso da funcionalidade</a:t>
            </a:r>
          </a:p>
        </p:txBody>
      </p:sp>
      <p:sp>
        <p:nvSpPr>
          <p:cNvPr id="2" name="Texto UC022 e UC026  Candidatar-se e acompanhar a seleçã">
            <a:extLst xmlns:a="http://schemas.openxmlformats.org/drawingml/2006/main">
              <a:ext uri="{FF2B5EF4-FFF2-40B4-BE49-F238E27FC236}">
                <a16:creationId xmlns:a16="http://schemas.microsoft.com/office/drawing/2014/main" id="{4FA92BF1-EA9F-4A6E-A484-06935AF9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UC022 e UC026  Candidatar-se e acompanhar a seleção</a:t>
            </a:r>
          </a:p>
        </p:txBody>
      </p:sp>
      <p:sp>
        <p:nvSpPr>
          <p:cNvPr id="3" name="Texto 41">
            <a:extLst xmlns:a="http://schemas.openxmlformats.org/drawingml/2006/main">
              <a:ext uri="{FF2B5EF4-FFF2-40B4-BE49-F238E27FC236}">
                <a16:creationId xmlns:a16="http://schemas.microsoft.com/office/drawing/2014/main" id="{8982A055-D6CF-4D03-AC38-84B58B61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E4842-A064-4AE9-8F0D-7141024EB8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31cfb13164e49"/>
          <a:stretch xmlns:a="http://schemas.openxmlformats.org/drawingml/2006/main"/>
        </p:blipFill>
        <p:spPr>
          <a:xfrm xmlns:a="http://schemas.openxmlformats.org/drawingml/2006/main">
            <a:off x="952500" y="2366854"/>
            <a:ext cx="7715250" cy="5839041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5718D-2823-45D8-A5B8-9024325138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2623362424a42"/>
          <a:stretch xmlns:a="http://schemas.openxmlformats.org/drawingml/2006/main"/>
        </p:blipFill>
        <p:spPr>
          <a:xfrm xmlns:a="http://schemas.openxmlformats.org/drawingml/2006/main">
            <a:off x="9525000" y="2366854"/>
            <a:ext cx="7715250" cy="5839041"/>
          </a:xfrm>
          <a:prstGeom xmlns:a="http://schemas.openxmlformats.org/drawingml/2006/main" prst="rect">
            <a:avLst/>
          </a:prstGeom>
        </p:spPr>
      </p:pic>
      <p:sp>
        <p:nvSpPr>
          <p:cNvPr id="6" name="Texto Sessão autenticada como pré-condição dos fluxos ap">
            <a:extLst xmlns:a="http://schemas.openxmlformats.org/drawingml/2006/main">
              <a:ext uri="{FF2B5EF4-FFF2-40B4-BE49-F238E27FC236}">
                <a16:creationId xmlns:a16="http://schemas.microsoft.com/office/drawing/2014/main" id="{094A64E7-49D0-446B-A60E-791773BB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905875"/>
            <a:ext cx="1619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Sessão autenticada como pré-condição dos fluxos apresentados.</a:t>
            </a:r>
          </a:p>
        </p:txBody>
      </p:sp>
    </p:spTree>
    <p:extLst>
      <p:ext uri="{BB962C8B-B14F-4D97-AF65-F5344CB8AC3E}">
        <p14:creationId xmlns:p14="http://schemas.microsoft.com/office/powerpoint/2010/main" val="76861794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o Classes da candidatura e do retorno">
            <a:extLst xmlns:a="http://schemas.openxmlformats.org/drawingml/2006/main">
              <a:ext uri="{FF2B5EF4-FFF2-40B4-BE49-F238E27FC236}">
                <a16:creationId xmlns:a16="http://schemas.microsoft.com/office/drawing/2014/main" id="{AC4F079F-4276-42E0-8BEB-F1F4C03A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Classes da candidatura e do retorno</a:t>
            </a:r>
          </a:p>
        </p:txBody>
      </p:sp>
      <p:sp>
        <p:nvSpPr>
          <p:cNvPr id="2" name="Texto UC022 e UC026  Vínculos e responsabilidades">
            <a:extLst xmlns:a="http://schemas.openxmlformats.org/drawingml/2006/main">
              <a:ext uri="{FF2B5EF4-FFF2-40B4-BE49-F238E27FC236}">
                <a16:creationId xmlns:a16="http://schemas.microsoft.com/office/drawing/2014/main" id="{3C652620-5C0E-4B7B-B686-496D36E2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UC022 e UC026  Vínculos e responsabilidades</a:t>
            </a:r>
          </a:p>
        </p:txBody>
      </p:sp>
      <p:sp>
        <p:nvSpPr>
          <p:cNvPr id="3" name="Texto 42">
            <a:extLst xmlns:a="http://schemas.openxmlformats.org/drawingml/2006/main">
              <a:ext uri="{FF2B5EF4-FFF2-40B4-BE49-F238E27FC236}">
                <a16:creationId xmlns:a16="http://schemas.microsoft.com/office/drawing/2014/main" id="{7CBDF35E-D885-400A-9882-42DE460A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C15F0-A06A-490A-B033-4E9F50B936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210a17c584bea"/>
          <a:stretch xmlns:a="http://schemas.openxmlformats.org/drawingml/2006/main"/>
        </p:blipFill>
        <p:spPr>
          <a:xfrm xmlns:a="http://schemas.openxmlformats.org/drawingml/2006/main">
            <a:off x="2269537" y="1857375"/>
            <a:ext cx="13748926" cy="752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57982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o Banco de dados da candidatura">
            <a:extLst xmlns:a="http://schemas.openxmlformats.org/drawingml/2006/main">
              <a:ext uri="{FF2B5EF4-FFF2-40B4-BE49-F238E27FC236}">
                <a16:creationId xmlns:a16="http://schemas.microsoft.com/office/drawing/2014/main" id="{23951586-2EE7-409D-BBCA-4512F7DF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Banco de dados da candidatura</a:t>
            </a:r>
          </a:p>
        </p:txBody>
      </p:sp>
      <p:sp>
        <p:nvSpPr>
          <p:cNvPr id="2" name="Texto UC022 e UC026  Integridade dos vínculos">
            <a:extLst xmlns:a="http://schemas.openxmlformats.org/drawingml/2006/main">
              <a:ext uri="{FF2B5EF4-FFF2-40B4-BE49-F238E27FC236}">
                <a16:creationId xmlns:a16="http://schemas.microsoft.com/office/drawing/2014/main" id="{760A9FE5-E73F-484D-899A-22297A1F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UC022 e UC026  Integridade dos vínculos</a:t>
            </a:r>
          </a:p>
        </p:txBody>
      </p:sp>
      <p:sp>
        <p:nvSpPr>
          <p:cNvPr id="3" name="Texto 43">
            <a:extLst xmlns:a="http://schemas.openxmlformats.org/drawingml/2006/main">
              <a:ext uri="{FF2B5EF4-FFF2-40B4-BE49-F238E27FC236}">
                <a16:creationId xmlns:a16="http://schemas.microsoft.com/office/drawing/2014/main" id="{3CD3E6A4-7562-407B-822B-BB2EEB2E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36FCB-1A18-467B-9832-C1672E84C3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fcd119bba842fd"/>
          <a:stretch xmlns:a="http://schemas.openxmlformats.org/drawingml/2006/main"/>
        </p:blipFill>
        <p:spPr>
          <a:xfrm xmlns:a="http://schemas.openxmlformats.org/drawingml/2006/main">
            <a:off x="3129124" y="1857375"/>
            <a:ext cx="12029753" cy="752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01254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o Sequência completa: candidatar-se">
            <a:extLst xmlns:a="http://schemas.openxmlformats.org/drawingml/2006/main">
              <a:ext uri="{FF2B5EF4-FFF2-40B4-BE49-F238E27FC236}">
                <a16:creationId xmlns:a16="http://schemas.microsoft.com/office/drawing/2014/main" id="{CC4EDB0F-6383-4DA4-B69D-946D0890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Sequência completa: candidatar-se</a:t>
            </a:r>
          </a:p>
        </p:txBody>
      </p:sp>
      <p:sp>
        <p:nvSpPr>
          <p:cNvPr id="2" name="Texto UC022  Da vaga aberta à etapa inicial">
            <a:extLst xmlns:a="http://schemas.openxmlformats.org/drawingml/2006/main">
              <a:ext uri="{FF2B5EF4-FFF2-40B4-BE49-F238E27FC236}">
                <a16:creationId xmlns:a16="http://schemas.microsoft.com/office/drawing/2014/main" id="{36263823-4D5D-4460-91FD-2C50BB39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UC022  Da vaga aberta à etapa inicial</a:t>
            </a:r>
          </a:p>
        </p:txBody>
      </p:sp>
      <p:sp>
        <p:nvSpPr>
          <p:cNvPr id="3" name="Texto 44">
            <a:extLst xmlns:a="http://schemas.openxmlformats.org/drawingml/2006/main">
              <a:ext uri="{FF2B5EF4-FFF2-40B4-BE49-F238E27FC236}">
                <a16:creationId xmlns:a16="http://schemas.microsoft.com/office/drawing/2014/main" id="{14B8AC5A-3AEA-479B-82CA-529EA11B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C7A97-29DA-4316-BE0D-E4F0B7D15C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255b5d7584266"/>
          <a:stretch xmlns:a="http://schemas.openxmlformats.org/drawingml/2006/main"/>
        </p:blipFill>
        <p:spPr>
          <a:xfrm xmlns:a="http://schemas.openxmlformats.org/drawingml/2006/main">
            <a:off x="2943643" y="1857375"/>
            <a:ext cx="12400715" cy="752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46978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o Sequência completa: atualizar candidatura">
            <a:extLst xmlns:a="http://schemas.openxmlformats.org/drawingml/2006/main">
              <a:ext uri="{FF2B5EF4-FFF2-40B4-BE49-F238E27FC236}">
                <a16:creationId xmlns:a16="http://schemas.microsoft.com/office/drawing/2014/main" id="{BD8678BB-3F7C-4CE5-B484-F54CB260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Sequência completa: atualizar candidatura</a:t>
            </a:r>
          </a:p>
        </p:txBody>
      </p:sp>
      <p:sp>
        <p:nvSpPr>
          <p:cNvPr id="2" name="Texto UC026  Situação e notificação ao candidato">
            <a:extLst xmlns:a="http://schemas.openxmlformats.org/drawingml/2006/main">
              <a:ext uri="{FF2B5EF4-FFF2-40B4-BE49-F238E27FC236}">
                <a16:creationId xmlns:a16="http://schemas.microsoft.com/office/drawing/2014/main" id="{19CFCCF2-FF1B-4E84-A40F-028B7B01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UC026  Situação e notificação ao candidato</a:t>
            </a:r>
          </a:p>
        </p:txBody>
      </p:sp>
      <p:sp>
        <p:nvSpPr>
          <p:cNvPr id="3" name="Texto 45">
            <a:extLst xmlns:a="http://schemas.openxmlformats.org/drawingml/2006/main">
              <a:ext uri="{FF2B5EF4-FFF2-40B4-BE49-F238E27FC236}">
                <a16:creationId xmlns:a16="http://schemas.microsoft.com/office/drawing/2014/main" id="{6BFF2B51-E3B4-4662-BAB1-1BFC1AD6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698E2-A627-4A2D-9D13-212C314842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138cb68a9e40a0"/>
          <a:stretch xmlns:a="http://schemas.openxmlformats.org/drawingml/2006/main"/>
        </p:blipFill>
        <p:spPr>
          <a:xfrm xmlns:a="http://schemas.openxmlformats.org/drawingml/2006/main">
            <a:off x="3054893" y="1857375"/>
            <a:ext cx="12178214" cy="752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79754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o Criar candidatura na primeira etapa">
            <a:extLst xmlns:a="http://schemas.openxmlformats.org/drawingml/2006/main">
              <a:ext uri="{FF2B5EF4-FFF2-40B4-BE49-F238E27FC236}">
                <a16:creationId xmlns:a16="http://schemas.microsoft.com/office/drawing/2014/main" id="{79CBFC57-B716-4CED-98D7-4BED921D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Criar candidatura na primeira etapa</a:t>
            </a:r>
          </a:p>
        </p:txBody>
      </p:sp>
      <p:sp>
        <p:nvSpPr>
          <p:cNvPr id="2" name="Texto SQ03-A  Recorte da sequência e trecho corresponden">
            <a:extLst xmlns:a="http://schemas.openxmlformats.org/drawingml/2006/main">
              <a:ext uri="{FF2B5EF4-FFF2-40B4-BE49-F238E27FC236}">
                <a16:creationId xmlns:a16="http://schemas.microsoft.com/office/drawing/2014/main" id="{69765D7D-5A4C-4493-93E0-E7252C57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SQ03-A  Recorte da sequência e trecho correspondente</a:t>
            </a:r>
          </a:p>
        </p:txBody>
      </p:sp>
      <p:sp>
        <p:nvSpPr>
          <p:cNvPr id="3" name="Texto 46">
            <a:extLst xmlns:a="http://schemas.openxmlformats.org/drawingml/2006/main">
              <a:ext uri="{FF2B5EF4-FFF2-40B4-BE49-F238E27FC236}">
                <a16:creationId xmlns:a16="http://schemas.microsoft.com/office/drawing/2014/main" id="{5206E0D0-2B15-4720-ABFA-E7BEF857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  <p:sp>
        <p:nvSpPr>
          <p:cNvPr id="4" name="Texto Interação">
            <a:extLst xmlns:a="http://schemas.openxmlformats.org/drawingml/2006/main">
              <a:ext uri="{FF2B5EF4-FFF2-40B4-BE49-F238E27FC236}">
                <a16:creationId xmlns:a16="http://schemas.microsoft.com/office/drawing/2014/main" id="{1E218122-F6A8-45B3-90B4-C629F548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Interação</a:t>
            </a:r>
          </a:p>
        </p:txBody>
      </p:sp>
      <p:sp>
        <p:nvSpPr>
          <p:cNvPr id="5" name="Texto Implementação">
            <a:extLst xmlns:a="http://schemas.openxmlformats.org/drawingml/2006/main">
              <a:ext uri="{FF2B5EF4-FFF2-40B4-BE49-F238E27FC236}">
                <a16:creationId xmlns:a16="http://schemas.microsoft.com/office/drawing/2014/main" id="{D7ABF3A6-F149-410F-BEF5-CFF06FEE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240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Implementação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B8D56-EDCA-436B-A218-CADC8E3A36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cd85bfcdaf4635"/>
          <a:stretch xmlns:a="http://schemas.openxmlformats.org/drawingml/2006/main"/>
        </p:blipFill>
        <p:spPr>
          <a:xfrm xmlns:a="http://schemas.openxmlformats.org/drawingml/2006/main">
            <a:off x="971106" y="2571750"/>
            <a:ext cx="7392289" cy="576262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15E89-F8C6-4C87-9CDB-D0797B5ED6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f1cd41fe34690"/>
          <a:stretch xmlns:a="http://schemas.openxmlformats.org/drawingml/2006/main"/>
        </p:blipFill>
        <p:spPr>
          <a:xfrm xmlns:a="http://schemas.openxmlformats.org/drawingml/2006/main">
            <a:off x="8953500" y="2563812"/>
            <a:ext cx="8572500" cy="5730875"/>
          </a:xfrm>
          <a:prstGeom xmlns:a="http://schemas.openxmlformats.org/drawingml/2006/main" prst="rect">
            <a:avLst/>
          </a:prstGeom>
        </p:spPr>
      </p:pic>
      <p:sp>
        <p:nvSpPr>
          <p:cNvPr id="8" name="Texto Aceitar apenas vaga aberta e relacionar candidatur">
            <a:extLst xmlns:a="http://schemas.openxmlformats.org/drawingml/2006/main">
              <a:ext uri="{FF2B5EF4-FFF2-40B4-BE49-F238E27FC236}">
                <a16:creationId xmlns:a16="http://schemas.microsoft.com/office/drawing/2014/main" id="{C275076C-52B2-417A-BCE0-9D75CCE4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591550"/>
            <a:ext cx="1643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Aceitar apenas vaga aberta e relacionar candidatura ao usuário e à primeira etapa.</a:t>
            </a:r>
          </a:p>
        </p:txBody>
      </p:sp>
    </p:spTree>
    <p:extLst>
      <p:ext uri="{BB962C8B-B14F-4D97-AF65-F5344CB8AC3E}">
        <p14:creationId xmlns:p14="http://schemas.microsoft.com/office/powerpoint/2010/main" val="88630303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o Conferir a candidatura e a etapa escolhida">
            <a:extLst xmlns:a="http://schemas.openxmlformats.org/drawingml/2006/main">
              <a:ext uri="{FF2B5EF4-FFF2-40B4-BE49-F238E27FC236}">
                <a16:creationId xmlns:a16="http://schemas.microsoft.com/office/drawing/2014/main" id="{D8CDA043-F066-4655-9FB5-9C14EA95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Conferir a candidatura e a etapa escolhida</a:t>
            </a:r>
          </a:p>
        </p:txBody>
      </p:sp>
      <p:sp>
        <p:nvSpPr>
          <p:cNvPr id="2" name="Texto SQ03-B  Recorte da sequência e trecho corresponden">
            <a:extLst xmlns:a="http://schemas.openxmlformats.org/drawingml/2006/main">
              <a:ext uri="{FF2B5EF4-FFF2-40B4-BE49-F238E27FC236}">
                <a16:creationId xmlns:a16="http://schemas.microsoft.com/office/drawing/2014/main" id="{03776318-8054-48B1-8AD2-CE4413EE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SQ03-B  Recorte da sequência e trecho correspondente</a:t>
            </a:r>
          </a:p>
        </p:txBody>
      </p:sp>
      <p:sp>
        <p:nvSpPr>
          <p:cNvPr id="3" name="Texto 47">
            <a:extLst xmlns:a="http://schemas.openxmlformats.org/drawingml/2006/main">
              <a:ext uri="{FF2B5EF4-FFF2-40B4-BE49-F238E27FC236}">
                <a16:creationId xmlns:a16="http://schemas.microsoft.com/office/drawing/2014/main" id="{1F6BF038-3F0B-4F44-8152-6A348A2F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47</a:t>
            </a:r>
          </a:p>
        </p:txBody>
      </p:sp>
      <p:sp>
        <p:nvSpPr>
          <p:cNvPr id="4" name="Texto Interação">
            <a:extLst xmlns:a="http://schemas.openxmlformats.org/drawingml/2006/main">
              <a:ext uri="{FF2B5EF4-FFF2-40B4-BE49-F238E27FC236}">
                <a16:creationId xmlns:a16="http://schemas.microsoft.com/office/drawing/2014/main" id="{3FA05538-BEE0-48FA-917F-D45284EF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Interação</a:t>
            </a:r>
          </a:p>
        </p:txBody>
      </p:sp>
      <p:sp>
        <p:nvSpPr>
          <p:cNvPr id="5" name="Texto Implementação">
            <a:extLst xmlns:a="http://schemas.openxmlformats.org/drawingml/2006/main">
              <a:ext uri="{FF2B5EF4-FFF2-40B4-BE49-F238E27FC236}">
                <a16:creationId xmlns:a16="http://schemas.microsoft.com/office/drawing/2014/main" id="{36750CB2-4E99-43A9-B522-D4D48F3F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240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Implementação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2A0E6-8C2D-43E9-85CF-E747205BA4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9b9d8e7ff74139"/>
          <a:stretch xmlns:a="http://schemas.openxmlformats.org/drawingml/2006/main"/>
        </p:blipFill>
        <p:spPr>
          <a:xfrm xmlns:a="http://schemas.openxmlformats.org/drawingml/2006/main">
            <a:off x="971106" y="2571750"/>
            <a:ext cx="7392289" cy="576262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EF118-53AE-42CE-AA03-6D26CBA945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5ee12ec924830"/>
          <a:stretch xmlns:a="http://schemas.openxmlformats.org/drawingml/2006/main"/>
        </p:blipFill>
        <p:spPr>
          <a:xfrm xmlns:a="http://schemas.openxmlformats.org/drawingml/2006/main">
            <a:off x="9274878" y="2524125"/>
            <a:ext cx="7929743" cy="5810250"/>
          </a:xfrm>
          <a:prstGeom xmlns:a="http://schemas.openxmlformats.org/drawingml/2006/main" prst="rect">
            <a:avLst/>
          </a:prstGeom>
        </p:spPr>
      </p:pic>
      <p:sp>
        <p:nvSpPr>
          <p:cNvPr id="8" name="Texto Autorizar a empresa e impedir candidatura ou etapa">
            <a:extLst xmlns:a="http://schemas.openxmlformats.org/drawingml/2006/main">
              <a:ext uri="{FF2B5EF4-FFF2-40B4-BE49-F238E27FC236}">
                <a16:creationId xmlns:a16="http://schemas.microsoft.com/office/drawing/2014/main" id="{F0DC477F-A71B-4700-A4C8-46363C88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591550"/>
            <a:ext cx="1643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Autorizar a empresa e impedir candidatura ou etapa pertencente a outra vaga.</a:t>
            </a:r>
          </a:p>
        </p:txBody>
      </p:sp>
    </p:spTree>
    <p:extLst>
      <p:ext uri="{BB962C8B-B14F-4D97-AF65-F5344CB8AC3E}">
        <p14:creationId xmlns:p14="http://schemas.microsoft.com/office/powerpoint/2010/main" val="49328910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o Atualizar a candidatura e avisar o candidato">
            <a:extLst xmlns:a="http://schemas.openxmlformats.org/drawingml/2006/main">
              <a:ext uri="{FF2B5EF4-FFF2-40B4-BE49-F238E27FC236}">
                <a16:creationId xmlns:a16="http://schemas.microsoft.com/office/drawing/2014/main" id="{9AD33558-6340-4DA2-A1B9-BFFCE5CA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Atualizar a candidatura e avisar o candidato</a:t>
            </a:r>
          </a:p>
        </p:txBody>
      </p:sp>
      <p:sp>
        <p:nvSpPr>
          <p:cNvPr id="2" name="Texto SQ03-C  Recorte da sequência e trecho corresponden">
            <a:extLst xmlns:a="http://schemas.openxmlformats.org/drawingml/2006/main">
              <a:ext uri="{FF2B5EF4-FFF2-40B4-BE49-F238E27FC236}">
                <a16:creationId xmlns:a16="http://schemas.microsoft.com/office/drawing/2014/main" id="{8066AD4D-0BA3-4919-9D9F-672EB0A3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SQ03-C  Recorte da sequência e trecho correspondente</a:t>
            </a:r>
          </a:p>
        </p:txBody>
      </p:sp>
      <p:sp>
        <p:nvSpPr>
          <p:cNvPr id="3" name="Texto 48">
            <a:extLst xmlns:a="http://schemas.openxmlformats.org/drawingml/2006/main">
              <a:ext uri="{FF2B5EF4-FFF2-40B4-BE49-F238E27FC236}">
                <a16:creationId xmlns:a16="http://schemas.microsoft.com/office/drawing/2014/main" id="{8F4514AB-CADF-48F6-8977-33699E67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4" name="Texto Interação">
            <a:extLst xmlns:a="http://schemas.openxmlformats.org/drawingml/2006/main">
              <a:ext uri="{FF2B5EF4-FFF2-40B4-BE49-F238E27FC236}">
                <a16:creationId xmlns:a16="http://schemas.microsoft.com/office/drawing/2014/main" id="{5E1579DF-8572-436F-8F3E-631CD625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Interação</a:t>
            </a:r>
          </a:p>
        </p:txBody>
      </p:sp>
      <p:sp>
        <p:nvSpPr>
          <p:cNvPr id="5" name="Texto Implementação">
            <a:extLst xmlns:a="http://schemas.openxmlformats.org/drawingml/2006/main">
              <a:ext uri="{FF2B5EF4-FFF2-40B4-BE49-F238E27FC236}">
                <a16:creationId xmlns:a16="http://schemas.microsoft.com/office/drawing/2014/main" id="{2C02202C-05E4-4CC7-8974-5D240A09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240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Implementação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910AB-D8D1-450C-83CF-9E6907675B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ccb873ab94d08"/>
          <a:stretch xmlns:a="http://schemas.openxmlformats.org/drawingml/2006/main"/>
        </p:blipFill>
        <p:spPr>
          <a:xfrm xmlns:a="http://schemas.openxmlformats.org/drawingml/2006/main">
            <a:off x="971106" y="2571750"/>
            <a:ext cx="7392289" cy="576262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8DB46-BDB9-4D0E-8B35-6BFA30E500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8052559d24d62"/>
          <a:stretch xmlns:a="http://schemas.openxmlformats.org/drawingml/2006/main"/>
        </p:blipFill>
        <p:spPr>
          <a:xfrm xmlns:a="http://schemas.openxmlformats.org/drawingml/2006/main">
            <a:off x="9294819" y="2524125"/>
            <a:ext cx="7889862" cy="5810250"/>
          </a:xfrm>
          <a:prstGeom xmlns:a="http://schemas.openxmlformats.org/drawingml/2006/main" prst="rect">
            <a:avLst/>
          </a:prstGeom>
        </p:spPr>
      </p:pic>
      <p:sp>
        <p:nvSpPr>
          <p:cNvPr id="8" name="Texto Persistir etapa e situação e depois solicitar noti">
            <a:extLst xmlns:a="http://schemas.openxmlformats.org/drawingml/2006/main">
              <a:ext uri="{FF2B5EF4-FFF2-40B4-BE49-F238E27FC236}">
                <a16:creationId xmlns:a16="http://schemas.microsoft.com/office/drawing/2014/main" id="{9D63AD04-CD9E-4163-92FA-75C6FD43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591550"/>
            <a:ext cx="1643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Persistir etapa e situação e depois solicitar notificação ao candidato. Falha do aviso é registrada e não desfaz a atualização.</a:t>
            </a:r>
          </a:p>
        </p:txBody>
      </p:sp>
    </p:spTree>
    <p:extLst>
      <p:ext uri="{BB962C8B-B14F-4D97-AF65-F5344CB8AC3E}">
        <p14:creationId xmlns:p14="http://schemas.microsoft.com/office/powerpoint/2010/main" val="64371459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o Demonstração prática">
            <a:extLst xmlns:a="http://schemas.openxmlformats.org/drawingml/2006/main">
              <a:ext uri="{FF2B5EF4-FFF2-40B4-BE49-F238E27FC236}">
                <a16:creationId xmlns:a16="http://schemas.microsoft.com/office/drawing/2014/main" id="{F8B5A0F7-8A4E-46F5-842C-4F79FD7C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Demonstração prática</a:t>
            </a:r>
          </a:p>
        </p:txBody>
      </p:sp>
      <p:sp>
        <p:nvSpPr>
          <p:cNvPr id="2" name="Texto Paulo Henrique Leal dos Santos  Candidatura, acomp">
            <a:extLst xmlns:a="http://schemas.openxmlformats.org/drawingml/2006/main">
              <a:ext uri="{FF2B5EF4-FFF2-40B4-BE49-F238E27FC236}">
                <a16:creationId xmlns:a16="http://schemas.microsoft.com/office/drawing/2014/main" id="{CBEC2F5B-30D3-4E57-A442-86651989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Paulo Henrique Leal dos Santos  Candidatura, acompanhamento e retorno ao candidato</a:t>
            </a:r>
          </a:p>
        </p:txBody>
      </p:sp>
      <p:sp>
        <p:nvSpPr>
          <p:cNvPr id="3" name="Texto 49">
            <a:extLst xmlns:a="http://schemas.openxmlformats.org/drawingml/2006/main">
              <a:ext uri="{FF2B5EF4-FFF2-40B4-BE49-F238E27FC236}">
                <a16:creationId xmlns:a16="http://schemas.microsoft.com/office/drawing/2014/main" id="{3E1D1689-69E8-479B-B03D-DC186D01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sp>
        <p:nvSpPr>
          <p:cNvPr id="4" name="Texto Preparação">
            <a:extLst xmlns:a="http://schemas.openxmlformats.org/drawingml/2006/main">
              <a:ext uri="{FF2B5EF4-FFF2-40B4-BE49-F238E27FC236}">
                <a16:creationId xmlns:a16="http://schemas.microsoft.com/office/drawing/2014/main" id="{3FCC443F-45AB-4FEE-A36C-87767D3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7762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Preparação</a:t>
            </a:r>
          </a:p>
        </p:txBody>
      </p:sp>
      <p:sp>
        <p:nvSpPr>
          <p:cNvPr id="5" name="Texto Usar a vaga criada no bloco anterior e uma conta d">
            <a:extLst xmlns:a="http://schemas.openxmlformats.org/drawingml/2006/main">
              <a:ext uri="{FF2B5EF4-FFF2-40B4-BE49-F238E27FC236}">
                <a16:creationId xmlns:a16="http://schemas.microsoft.com/office/drawing/2014/main" id="{CDF333FD-CD09-48EE-B80D-80131AA4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67000"/>
            <a:ext cx="77628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Usar a vaga criada no bloco anterior e uma conta de candidato que ainda não se candidatou a ela. Manter duas sessões separadas, candidato e recrutador, para evitar pausas de autenticação.</a:t>
            </a:r>
          </a:p>
        </p:txBody>
      </p:sp>
      <p:sp>
        <p:nvSpPr>
          <p:cNvPr id="6" name="Texto Execução">
            <a:extLst xmlns:a="http://schemas.openxmlformats.org/drawingml/2006/main">
              <a:ext uri="{FF2B5EF4-FFF2-40B4-BE49-F238E27FC236}">
                <a16:creationId xmlns:a16="http://schemas.microsoft.com/office/drawing/2014/main" id="{A0F02D73-07D6-4B75-95A6-07EE9F60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86250"/>
            <a:ext cx="7762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Execução</a:t>
            </a:r>
          </a:p>
        </p:txBody>
      </p:sp>
      <p:sp>
        <p:nvSpPr>
          <p:cNvPr id="7" name="Texto Na sessão do candidato, abrir a vaga e acionar Can">
            <a:extLst xmlns:a="http://schemas.openxmlformats.org/drawingml/2006/main">
              <a:ext uri="{FF2B5EF4-FFF2-40B4-BE49-F238E27FC236}">
                <a16:creationId xmlns:a16="http://schemas.microsoft.com/office/drawing/2014/main" id="{290FCC4B-2D47-48ED-9D3E-5C7B7BB1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0125"/>
            <a:ext cx="77628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Na sessão do candidato, abrir a vaga e acionar Candidatar-se com Stacklyst. Mostrar a confirmação da candidatura na etapa inicial.</a:t>
            </a:r>
          </a:p>
        </p:txBody>
      </p:sp>
      <p:sp>
        <p:nvSpPr>
          <p:cNvPr id="8" name="Texto Resultado esperado">
            <a:extLst xmlns:a="http://schemas.openxmlformats.org/drawingml/2006/main">
              <a:ext uri="{FF2B5EF4-FFF2-40B4-BE49-F238E27FC236}">
                <a16:creationId xmlns:a16="http://schemas.microsoft.com/office/drawing/2014/main" id="{6AD19C14-DB6A-424F-9D0B-7F3C4D58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429375"/>
            <a:ext cx="7762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Resultado esperado</a:t>
            </a:r>
          </a:p>
        </p:txBody>
      </p:sp>
      <p:sp>
        <p:nvSpPr>
          <p:cNvPr id="9" name="Texto A candidatura referencia a vaga e o candidato e co">
            <a:extLst xmlns:a="http://schemas.openxmlformats.org/drawingml/2006/main">
              <a:ext uri="{FF2B5EF4-FFF2-40B4-BE49-F238E27FC236}">
                <a16:creationId xmlns:a16="http://schemas.microsoft.com/office/drawing/2014/main" id="{C0AFD976-5347-4FB0-BBD9-A4395123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953250"/>
            <a:ext cx="77628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A candidatura referencia a vaga e o candidato e começa na primeira etapa disponível. Uma candidatura repetida é rejeitada e vagas fechadas não aceitam inscrição.</a:t>
            </a:r>
          </a:p>
        </p:txBody>
      </p:sp>
      <p:sp>
        <p:nvSpPr>
          <p:cNvPr id="10" name="Texto Conferência">
            <a:extLst xmlns:a="http://schemas.openxmlformats.org/drawingml/2006/main">
              <a:ext uri="{FF2B5EF4-FFF2-40B4-BE49-F238E27FC236}">
                <a16:creationId xmlns:a16="http://schemas.microsoft.com/office/drawing/2014/main" id="{A5266149-2088-403D-8E67-2C09BB1F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431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Conferência</a:t>
            </a:r>
          </a:p>
        </p:txBody>
      </p:sp>
      <p:sp>
        <p:nvSpPr>
          <p:cNvPr id="11" name="Texto Na sessão do recrutador, carregar as candidaturas ">
            <a:extLst xmlns:a="http://schemas.openxmlformats.org/drawingml/2006/main">
              <a:ext uri="{FF2B5EF4-FFF2-40B4-BE49-F238E27FC236}">
                <a16:creationId xmlns:a16="http://schemas.microsoft.com/office/drawing/2014/main" id="{A1607B70-40D9-4E6C-9A8D-4A9607C9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0"/>
            <a:ext cx="75247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Na sessão do recrutador, carregar as candidaturas da vaga e localizar o mesmo candidato. No seletor da candidatura, alterar a situação de Inscrito para Em Análise e mostrar a confirmação. Voltar à sessão do candidato, atualizar a consulta e localizar a notificação da atualização.</a:t>
            </a:r>
          </a:p>
        </p:txBody>
      </p:sp>
      <p:sp>
        <p:nvSpPr>
          <p:cNvPr id="12" name="Texto Continuidade">
            <a:extLst xmlns:a="http://schemas.openxmlformats.org/drawingml/2006/main">
              <a:ext uri="{FF2B5EF4-FFF2-40B4-BE49-F238E27FC236}">
                <a16:creationId xmlns:a16="http://schemas.microsoft.com/office/drawing/2014/main" id="{398A588A-82FF-4182-BF06-A0AC5466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8637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Continuidade</a:t>
            </a:r>
          </a:p>
        </p:txBody>
      </p:sp>
      <p:sp>
        <p:nvSpPr>
          <p:cNvPr id="13" name="Texto Encerrar mostrando o percurso completo: estudar, d">
            <a:extLst xmlns:a="http://schemas.openxmlformats.org/drawingml/2006/main">
              <a:ext uri="{FF2B5EF4-FFF2-40B4-BE49-F238E27FC236}">
                <a16:creationId xmlns:a16="http://schemas.microsoft.com/office/drawing/2014/main" id="{7D25A6AC-0890-4C7D-8D18-887E9C9B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810250"/>
            <a:ext cx="75247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Encerrar mostrando o percurso completo: estudar, disponibilizar uma oportunidade, candidatar-se e receber o retorno do processo.</a:t>
            </a:r>
          </a:p>
        </p:txBody>
      </p:sp>
    </p:spTree>
    <p:extLst>
      <p:ext uri="{BB962C8B-B14F-4D97-AF65-F5344CB8AC3E}">
        <p14:creationId xmlns:p14="http://schemas.microsoft.com/office/powerpoint/2010/main" val="190029403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o Percurso demonstrado">
            <a:extLst xmlns:a="http://schemas.openxmlformats.org/drawingml/2006/main">
              <a:ext uri="{FF2B5EF4-FFF2-40B4-BE49-F238E27FC236}">
                <a16:creationId xmlns:a16="http://schemas.microsoft.com/office/drawing/2014/main" id="{787AB07D-F0A5-42A4-AAC2-CC0ECA92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Percurso demonstrado</a:t>
            </a:r>
          </a:p>
        </p:txBody>
      </p:sp>
      <p:sp>
        <p:nvSpPr>
          <p:cNvPr id="2" name="Texto Aprendizagem e seleção com continuidade">
            <a:extLst xmlns:a="http://schemas.openxmlformats.org/drawingml/2006/main">
              <a:ext uri="{FF2B5EF4-FFF2-40B4-BE49-F238E27FC236}">
                <a16:creationId xmlns:a16="http://schemas.microsoft.com/office/drawing/2014/main" id="{A0D2B8FA-33A7-4D3A-8C9A-6F8BD6CA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Aprendizagem e seleção com continuidade</a:t>
            </a:r>
          </a:p>
        </p:txBody>
      </p:sp>
      <p:sp>
        <p:nvSpPr>
          <p:cNvPr id="3" name="Texto 50">
            <a:extLst xmlns:a="http://schemas.openxmlformats.org/drawingml/2006/main">
              <a:ext uri="{FF2B5EF4-FFF2-40B4-BE49-F238E27FC236}">
                <a16:creationId xmlns:a16="http://schemas.microsoft.com/office/drawing/2014/main" id="{FC389EFD-9A0D-44D4-A807-9DC24826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4" name="Texto Aprendizagem">
            <a:extLst xmlns:a="http://schemas.openxmlformats.org/drawingml/2006/main">
              <a:ext uri="{FF2B5EF4-FFF2-40B4-BE49-F238E27FC236}">
                <a16:creationId xmlns:a16="http://schemas.microsoft.com/office/drawing/2014/main" id="{C699CE0B-9B8C-4B41-942F-A6E61A50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1619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Aprendizagem</a:t>
            </a:r>
          </a:p>
        </p:txBody>
      </p:sp>
      <p:sp>
        <p:nvSpPr>
          <p:cNvPr id="5" name="Texto A resposta é avaliada, o progresso é registrado e ">
            <a:extLst xmlns:a="http://schemas.openxmlformats.org/drawingml/2006/main">
              <a:ext uri="{FF2B5EF4-FFF2-40B4-BE49-F238E27FC236}">
                <a16:creationId xmlns:a16="http://schemas.microsoft.com/office/drawing/2014/main" id="{551C09FB-09B7-416C-AA31-17240B9F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61925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A resposta é avaliada, o progresso é registrado e a primeira conclusão válida pode conceder XP.</a:t>
            </a:r>
          </a:p>
        </p:txBody>
      </p:sp>
      <p:sp>
        <p:nvSpPr>
          <p:cNvPr id="6" name="Texto Oportunidade">
            <a:extLst xmlns:a="http://schemas.openxmlformats.org/drawingml/2006/main">
              <a:ext uri="{FF2B5EF4-FFF2-40B4-BE49-F238E27FC236}">
                <a16:creationId xmlns:a16="http://schemas.microsoft.com/office/drawing/2014/main" id="{D01A216D-3767-44EB-92A4-4C17FFF7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1619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Oportunidade</a:t>
            </a:r>
          </a:p>
        </p:txBody>
      </p:sp>
      <p:sp>
        <p:nvSpPr>
          <p:cNvPr id="7" name="Texto Um responsável autorizado publica a vaga e disponi">
            <a:extLst xmlns:a="http://schemas.openxmlformats.org/drawingml/2006/main">
              <a:ext uri="{FF2B5EF4-FFF2-40B4-BE49-F238E27FC236}">
                <a16:creationId xmlns:a16="http://schemas.microsoft.com/office/drawing/2014/main" id="{5502E9FF-4EE6-485B-8F24-1E098A71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00625"/>
            <a:ext cx="161925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Um responsável autorizado publica a vaga e disponibiliza as etapas da seleção.</a:t>
            </a:r>
          </a:p>
        </p:txBody>
      </p:sp>
      <p:sp>
        <p:nvSpPr>
          <p:cNvPr id="8" name="Texto Candidatura e retorno">
            <a:extLst xmlns:a="http://schemas.openxmlformats.org/drawingml/2006/main">
              <a:ext uri="{FF2B5EF4-FFF2-40B4-BE49-F238E27FC236}">
                <a16:creationId xmlns:a16="http://schemas.microsoft.com/office/drawing/2014/main" id="{7D126314-AD48-42E5-852B-454BBFBE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715125"/>
            <a:ext cx="1619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Candidatura e retorno</a:t>
            </a:r>
          </a:p>
        </p:txBody>
      </p:sp>
      <p:sp>
        <p:nvSpPr>
          <p:cNvPr id="9" name="Texto O candidato ingressa no processo e acompanha a atu">
            <a:extLst xmlns:a="http://schemas.openxmlformats.org/drawingml/2006/main">
              <a:ext uri="{FF2B5EF4-FFF2-40B4-BE49-F238E27FC236}">
                <a16:creationId xmlns:a16="http://schemas.microsoft.com/office/drawing/2014/main" id="{D975727C-6D92-48D2-86F8-D5961EA6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0"/>
            <a:ext cx="161925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O candidato ingressa no processo e acompanha a atualização feita pelo recrutador.</a:t>
            </a:r>
          </a:p>
        </p:txBody>
      </p:sp>
    </p:spTree>
    <p:extLst>
      <p:ext uri="{BB962C8B-B14F-4D97-AF65-F5344CB8AC3E}">
        <p14:creationId xmlns:p14="http://schemas.microsoft.com/office/powerpoint/2010/main" val="41711375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o Referências">
            <a:extLst xmlns:a="http://schemas.openxmlformats.org/drawingml/2006/main">
              <a:ext uri="{FF2B5EF4-FFF2-40B4-BE49-F238E27FC236}">
                <a16:creationId xmlns:a16="http://schemas.microsoft.com/office/drawing/2014/main" id="{0FC4DC12-8585-4995-82D3-D01D04B1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1666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Referências</a:t>
            </a:r>
          </a:p>
        </p:txBody>
      </p:sp>
      <p:sp>
        <p:nvSpPr>
          <p:cNvPr id="2" name="Texto Documentação, modelos e implementação">
            <a:extLst xmlns:a="http://schemas.openxmlformats.org/drawingml/2006/main">
              <a:ext uri="{FF2B5EF4-FFF2-40B4-BE49-F238E27FC236}">
                <a16:creationId xmlns:a16="http://schemas.microsoft.com/office/drawing/2014/main" id="{63A92127-D07C-4B66-A075-E3606556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57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Documentação, modelos e implementação</a:t>
            </a:r>
          </a:p>
        </p:txBody>
      </p:sp>
      <p:sp>
        <p:nvSpPr>
          <p:cNvPr id="3" name="Texto 51">
            <a:extLst xmlns:a="http://schemas.openxmlformats.org/drawingml/2006/main">
              <a:ext uri="{FF2B5EF4-FFF2-40B4-BE49-F238E27FC236}">
                <a16:creationId xmlns:a16="http://schemas.microsoft.com/office/drawing/2014/main" id="{295C673F-8E85-42DA-8B20-36EF9936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63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4" name="Texto Documentos do projeto">
            <a:extLst xmlns:a="http://schemas.openxmlformats.org/drawingml/2006/main">
              <a:ext uri="{FF2B5EF4-FFF2-40B4-BE49-F238E27FC236}">
                <a16:creationId xmlns:a16="http://schemas.microsoft.com/office/drawing/2014/main" id="{C8E67430-F34C-4873-B558-5330E4B2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1600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Documentos do projeto</a:t>
            </a:r>
          </a:p>
        </p:txBody>
      </p:sp>
      <p:sp>
        <p:nvSpPr>
          <p:cNvPr id="5" name="Texto 01 Documento de visão&#10;02 Atividades do negócio&#10;03 ">
            <a:extLst xmlns:a="http://schemas.openxmlformats.org/drawingml/2006/main">
              <a:ext uri="{FF2B5EF4-FFF2-40B4-BE49-F238E27FC236}">
                <a16:creationId xmlns:a16="http://schemas.microsoft.com/office/drawing/2014/main" id="{E71B684F-E723-41F2-AC63-A2D32A6B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19375"/>
            <a:ext cx="160020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01 Documento de visão</a:t>
            </a:r>
          </a:p>
          <a:p xmlns:a="http://schemas.openxmlformats.org/drawingml/2006/main">
            <a: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02 Atividades do negócio</a:t>
            </a:r>
          </a:p>
          <a:p xmlns:a="http://schemas.openxmlformats.org/drawingml/2006/main">
            <a: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03 Requisitos do sistema</a:t>
            </a:r>
          </a:p>
          <a:p xmlns:a="http://schemas.openxmlformats.org/drawingml/2006/main">
            <a: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04 Casos de uso</a:t>
            </a:r>
          </a:p>
        </p:txBody>
      </p:sp>
      <p:sp>
        <p:nvSpPr>
          <p:cNvPr id="6" name="Texto Modelagem e implementação">
            <a:extLst xmlns:a="http://schemas.openxmlformats.org/drawingml/2006/main">
              <a:ext uri="{FF2B5EF4-FFF2-40B4-BE49-F238E27FC236}">
                <a16:creationId xmlns:a16="http://schemas.microsoft.com/office/drawing/2014/main" id="{817A7EEE-8C41-4341-A00F-5F6727D6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29125"/>
            <a:ext cx="1600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Modelagem e implementação</a:t>
            </a:r>
          </a:p>
        </p:txBody>
      </p:sp>
      <p:sp>
        <p:nvSpPr>
          <p:cNvPr id="7" name="Texto Projeto Astah editável revisado&#10;Código-fonte do St">
            <a:extLst xmlns:a="http://schemas.openxmlformats.org/drawingml/2006/main">
              <a:ext uri="{FF2B5EF4-FFF2-40B4-BE49-F238E27FC236}">
                <a16:creationId xmlns:a16="http://schemas.microsoft.com/office/drawing/2014/main" id="{120660DC-DDE6-4F3C-BAAE-36BF7158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160020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Projeto Astah editável revisado</a:t>
            </a:r>
          </a:p>
          <a:p xmlns:a="http://schemas.openxmlformats.org/drawingml/2006/main">
            <a: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Código-fonte do Stacklyst e modelo de dados Prisma</a:t>
            </a:r>
          </a:p>
        </p:txBody>
      </p:sp>
      <p:sp>
        <p:nvSpPr>
          <p:cNvPr id="8" name="Texto Orientação do seminário">
            <a:extLst xmlns:a="http://schemas.openxmlformats.org/drawingml/2006/main">
              <a:ext uri="{FF2B5EF4-FFF2-40B4-BE49-F238E27FC236}">
                <a16:creationId xmlns:a16="http://schemas.microsoft.com/office/drawing/2014/main" id="{3438A1A4-16EC-4B19-A37C-F35E1C4F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62750"/>
            <a:ext cx="1600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Orientação do seminário</a:t>
            </a:r>
          </a:p>
        </p:txBody>
      </p:sp>
      <p:sp>
        <p:nvSpPr>
          <p:cNvPr id="9" name="Texto Sequência e critérios da professora Patrícia, conf">
            <a:extLst xmlns:a="http://schemas.openxmlformats.org/drawingml/2006/main">
              <a:ext uri="{FF2B5EF4-FFF2-40B4-BE49-F238E27FC236}">
                <a16:creationId xmlns:a16="http://schemas.microsoft.com/office/drawing/2014/main" id="{E49DB6B5-2352-4B36-8F91-6FF5C137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286625"/>
            <a:ext cx="160020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Sequência e critérios da professora Patrícia, conforme foto da lousa e explicação fornecida pelo grupo.</a:t>
            </a:r>
          </a:p>
        </p:txBody>
      </p:sp>
    </p:spTree>
    <p:extLst>
      <p:ext uri="{BB962C8B-B14F-4D97-AF65-F5344CB8AC3E}">
        <p14:creationId xmlns:p14="http://schemas.microsoft.com/office/powerpoint/2010/main" val="12393326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2026-10-20T19:31:13.4340000Z</dcterms:created>
  <dcterms:modified xsi:type="dcterms:W3CDTF">2026-10-20T19:31:13.4340000Z</dcterms:modified>
</coreProperties>
</file>