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Arial" charset="1" panose="020B0604020202020204"/>
      <p:regular r:id="rId50"/>
    </p:embeddedFont>
    <p:embeddedFont>
      <p:font typeface="Arial Bold" charset="1" panose="020B0704020202020204"/>
      <p:regular r:id="rId51"/>
    </p:embeddedFont>
    <p:embeddedFont>
      <p:font typeface="Arimo Bold" charset="1" panose="020B0704020202020204"/>
      <p:regular r:id="rId53"/>
    </p:embeddedFont>
    <p:embeddedFont>
      <p:font typeface="DM Sans Bold" charset="1" panose="00000000000000000000"/>
      <p:regular r:id="rId54"/>
    </p:embeddedFont>
    <p:embeddedFont>
      <p:font typeface="DM Sans" charset="1" panose="0000000000000000000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notesMasters/notesMaster1.xml" Type="http://schemas.openxmlformats.org/officeDocument/2006/relationships/notesMaster"/><Relationship Id="rId48" Target="theme/theme2.xml" Type="http://schemas.openxmlformats.org/officeDocument/2006/relationships/theme"/><Relationship Id="rId49" Target="notesSlides/notesSlide1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notesSlides/notesSlide2.xml" Type="http://schemas.openxmlformats.org/officeDocument/2006/relationships/notesSlide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notesSlides/notesSlide3.xml" Type="http://schemas.openxmlformats.org/officeDocument/2006/relationships/notesSlide"/><Relationship Id="rId57" Target="notesSlides/notesSlide4.xml" Type="http://schemas.openxmlformats.org/officeDocument/2006/relationships/notesSlide"/><Relationship Id="rId58" Target="notesSlides/notesSlide5.xml" Type="http://schemas.openxmlformats.org/officeDocument/2006/relationships/notesSlide"/><Relationship Id="rId59" Target="notesSlides/notesSlide6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7.xml" Type="http://schemas.openxmlformats.org/officeDocument/2006/relationships/notesSlide"/><Relationship Id="rId61" Target="notesSlides/notesSlide8.xml" Type="http://schemas.openxmlformats.org/officeDocument/2006/relationships/notesSlide"/><Relationship Id="rId62" Target="notesSlides/notesSlide9.xml" Type="http://schemas.openxmlformats.org/officeDocument/2006/relationships/notesSlide"/><Relationship Id="rId63" Target="notesSlides/notesSlide10.xml" Type="http://schemas.openxmlformats.org/officeDocument/2006/relationships/notesSlide"/><Relationship Id="rId64" Target="notesSlides/notesSlide11.xml" Type="http://schemas.openxmlformats.org/officeDocument/2006/relationships/notesSlide"/><Relationship Id="rId65" Target="notesSlides/notesSlide12.xml" Type="http://schemas.openxmlformats.org/officeDocument/2006/relationships/notesSlide"/><Relationship Id="rId66" Target="notesSlides/notesSlide13.xml" Type="http://schemas.openxmlformats.org/officeDocument/2006/relationships/notesSlide"/><Relationship Id="rId67" Target="notesSlides/notesSlide14.xml" Type="http://schemas.openxmlformats.org/officeDocument/2006/relationships/notesSlide"/><Relationship Id="rId68" Target="notesSlides/notesSlide15.xml" Type="http://schemas.openxmlformats.org/officeDocument/2006/relationships/notesSlide"/><Relationship Id="rId69" Target="notesSlides/notesSlide16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7.xml" Type="http://schemas.openxmlformats.org/officeDocument/2006/relationships/notesSlide"/><Relationship Id="rId71" Target="notesSlides/notesSlide18.xml" Type="http://schemas.openxmlformats.org/officeDocument/2006/relationships/notesSlide"/><Relationship Id="rId72" Target="notesSlides/notesSlide19.xml" Type="http://schemas.openxmlformats.org/officeDocument/2006/relationships/notesSlide"/><Relationship Id="rId73" Target="notesSlides/notesSlide20.xml" Type="http://schemas.openxmlformats.org/officeDocument/2006/relationships/notesSlide"/><Relationship Id="rId74" Target="notesSlides/notesSlide21.xml" Type="http://schemas.openxmlformats.org/officeDocument/2006/relationships/notesSlide"/><Relationship Id="rId75" Target="notesSlides/notesSlide22.xml" Type="http://schemas.openxmlformats.org/officeDocument/2006/relationships/notesSlide"/><Relationship Id="rId76" Target="notesSlides/notesSlide23.xml" Type="http://schemas.openxmlformats.org/officeDocument/2006/relationships/notesSlide"/><Relationship Id="rId77" Target="notesSlides/notesSlide24.xml" Type="http://schemas.openxmlformats.org/officeDocument/2006/relationships/notesSlide"/><Relationship Id="rId78" Target="notesSlides/notesSlide25.xml" Type="http://schemas.openxmlformats.org/officeDocument/2006/relationships/notesSlide"/><Relationship Id="rId79" Target="notesSlides/notesSlide26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7.xml" Type="http://schemas.openxmlformats.org/officeDocument/2006/relationships/notesSlide"/><Relationship Id="rId81" Target="notesSlides/notesSlide28.xml" Type="http://schemas.openxmlformats.org/officeDocument/2006/relationships/notesSlide"/><Relationship Id="rId82" Target="notesSlides/notesSlide29.xml" Type="http://schemas.openxmlformats.org/officeDocument/2006/relationships/notesSlide"/><Relationship Id="rId83" Target="notesSlides/notesSlide30.xml" Type="http://schemas.openxmlformats.org/officeDocument/2006/relationships/notesSlide"/><Relationship Id="rId84" Target="notesSlides/notesSlide31.xml" Type="http://schemas.openxmlformats.org/officeDocument/2006/relationships/notesSlide"/><Relationship Id="rId85" Target="notesSlides/notesSlide32.xml" Type="http://schemas.openxmlformats.org/officeDocument/2006/relationships/notesSlide"/><Relationship Id="rId86" Target="notesSlides/notesSlide33.xml" Type="http://schemas.openxmlformats.org/officeDocument/2006/relationships/notesSlide"/><Relationship Id="rId87" Target="notesSlides/notesSlide34.xml" Type="http://schemas.openxmlformats.org/officeDocument/2006/relationships/notesSlide"/><Relationship Id="rId88" Target="notesSlides/notesSlide35.xml" Type="http://schemas.openxmlformats.org/officeDocument/2006/relationships/notesSlide"/><Relationship Id="rId89" Target="notesSlides/notesSlide36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37.xml" Type="http://schemas.openxmlformats.org/officeDocument/2006/relationships/notesSlide"/><Relationship Id="rId91" Target="notesSlides/notesSlide38.xml" Type="http://schemas.openxmlformats.org/officeDocument/2006/relationships/notesSlide"/><Relationship Id="rId92" Target="notesSlides/notesSlide39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Seminário de Laboratório de Engenharia de Software. A base documental é a orientação de 28/09/2026. A rastreabilidade técnica usa o commit 9256a4f.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Comunidades foram retiradas por solicitação da equipe. UC058 e UC059 não têm cadastro independente no código conferido. UC057 é uma operação automática. Os casos remanescentes mantêm os IDs do Astah.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Comunidades foram retiradas por solicitação da equipe. UC058 e UC059 não têm cadastro independente no código conferido. UC057 é uma operação automática. Os casos remanescentes mantêm os IDs do Astah.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UC00 do projeto Stacklyst-seminario.asta.</a:t>
            </a:r>
          </a:p>
          <a:p>
            <a:r>
              <a:rPr lang="en-US"/>
              <a:t>Fonte da imagem: diagramas/Stacklyst-seminario/01 Casos de uso/UC00 Visao geral do sistema.png.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AN01 do projeto Stacklyst-seminario.asta.</a:t>
            </a:r>
          </a:p>
          <a:p>
            <a:r>
              <a:rPr lang="en-US"/>
              <a:t>Fonte da imagem: diagramas/Stacklyst-seminario/04 Atividades do negocio/AN01 Estudar programação.png.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AN08A do projeto Stacklyst-seminario.asta.</a:t>
            </a:r>
          </a:p>
          <a:p>
            <a:r>
              <a:rPr lang="en-US"/>
              <a:t>Fonte da imagem: diagramas/Stacklyst-seminario/04 Atividades do negocio/AN08A Divulgar oportunidade de trabalho.png.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AN08B do projeto Stacklyst-seminario.asta.</a:t>
            </a:r>
          </a:p>
          <a:p>
            <a:r>
              <a:rPr lang="en-US"/>
              <a:t>Fonte da imagem: diagramas/Stacklyst-seminario/04 Atividades do negocio/AN08B Candidatar-se e acompanhar a seleção.png.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AN09 do projeto Stacklyst-seminario.asta.</a:t>
            </a:r>
          </a:p>
          <a:p>
            <a:r>
              <a:rPr lang="en-US"/>
              <a:t>Fonte da imagem: diagramas/Stacklyst-seminario/04 Atividades do negocio/AN09 Descobrir e participar de um evento.png.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CL00 do projeto Stacklyst-seminario.asta.</a:t>
            </a:r>
          </a:p>
          <a:p>
            <a:r>
              <a:rPr lang="en-US"/>
              <a:t>Fonte da imagem: diagramas/Stacklyst-seminario/02 Classes de dominio/CL00 Classes e responsabilidades principais.png.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CL03 do projeto Stacklyst-seminario.asta.</a:t>
            </a:r>
          </a:p>
          <a:p>
            <a:r>
              <a:rPr lang="en-US"/>
              <a:t>Fonte da imagem: diagramas/Stacklyst-seminario/02 Classes de dominio/CL03 Pratica e progresso.png.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CL08 do projeto Stacklyst-seminario.asta.</a:t>
            </a:r>
          </a:p>
          <a:p>
            <a:r>
              <a:rPr lang="en-US"/>
              <a:t>Fonte da imagem: diagramas/Stacklyst-seminario/02 Classes de dominio/CL08 Vagas e empresas.png.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CL09 do projeto Stacklyst-seminario.asta.</a:t>
            </a:r>
          </a:p>
          <a:p>
            <a:r>
              <a:rPr lang="en-US"/>
              <a:t>Fonte da imagem: diagramas/Stacklyst-seminario/02 Classes de dominio/CL09 Eventos.png.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MR00 do projeto Stacklyst-seminario.asta.</a:t>
            </a:r>
          </a:p>
          <a:p>
            <a:r>
              <a:rPr lang="en-US"/>
              <a:t>Fonte da imagem: diagramas/Stacklyst-seminario/00 Vistas gerais simplificadas/Entidades centrais/MR00 Visao geral simplificada - entidades centrais.png.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MR08 do projeto Stacklyst-seminario.asta.</a:t>
            </a:r>
          </a:p>
          <a:p>
            <a:r>
              <a:rPr lang="en-US"/>
              <a:t>Fonte da imagem: diagramas/Stacklyst-seminario/03 Modelo relacional - entidades PK FK/MR08 Vagas e empresas.png.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src/app/lesson/[lessonId]/page.tsx; linhas 59–64, 76–83. Carrega a lição, valida o acesso e entrega conteúdo e progresso à interface.</a:t>
            </a:r>
          </a:p>
          <a:p>
            <a:r>
              <a:rPr lang="en-US"/>
              <a:t>Fonte da imagem: diagramas/Stacklyst-seminario/06 Evidencias do seminario/EV-UC005 Estudar lição.png.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src/app/api/lessons/[lessonId]/attempt/route.ts; linhas 21–40. Avalia a resposta no servidor. Testar código não concede XP nem conclui a etapa.</a:t>
            </a:r>
          </a:p>
          <a:p>
            <a:r>
              <a:rPr lang="en-US"/>
              <a:t>Fonte da imagem: diagramas/Stacklyst-seminario/06 Evidencias do seminario/EV-UC006 Resolver exercício.png.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src/app/api/jobs/route.ts; linhas 67–80, 89–94. Exige papel de recrutador ou administrador e vínculo autorizado com a empresa.</a:t>
            </a:r>
          </a:p>
          <a:p>
            <a:r>
              <a:rPr lang="en-US"/>
              <a:t>Fonte da imagem: diagramas/Stacklyst-seminario/06 Evidencias do seminario/EV-UC017 Publicar vaga.png.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src/services/job.service.ts; linhas 269–291. Verifica a vaga aberta e cria uma candidatura vinculada ao usuário e à etapa inicial.</a:t>
            </a:r>
          </a:p>
          <a:p>
            <a:r>
              <a:rPr lang="en-US"/>
              <a:t>Fonte da imagem: diagramas/Stacklyst-seminario/06 Evidencias do seminario/EV-UC022 Candidatar-se a vaga.png.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src/app/api/events/[id]/participate/route.ts; linhas 6–16, 19–29. POST confirma a inscrição. DELETE cancela a participação do usuário autenticado.</a:t>
            </a:r>
          </a:p>
          <a:p>
            <a:r>
              <a:rPr lang="en-US"/>
              <a:t>Fonte da imagem: diagramas/Stacklyst-seminario/06 Evidencias do seminario/EV-UC023 Inscrever-se ou cancelar participação em evento.png.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src/app/api/jobs/[id]/route.ts; linhas 30–46, 48–54. Confere a empresa, a candidatura e a etapa antes de atualizar o processo.</a:t>
            </a:r>
          </a:p>
          <a:p>
            <a:r>
              <a:rPr lang="en-US"/>
              <a:t>Fonte da imagem: diagramas/Stacklyst-seminario/06 Evidencias do seminario/EV-UC026 Atualizar etapa de candidatura.png.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src/services/post.service.ts; linhas 25–38, 40–46. A criação grava a publicação e concede XP na mesma transação.</a:t>
            </a:r>
          </a:p>
          <a:p>
            <a:r>
              <a:rPr lang="en-US"/>
              <a:t>Fonte da imagem: diagramas/Stacklyst-seminario/06 Evidencias do seminario/EV-UC013 Criar publicação.png.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src/app/api/leaderboard/route.ts; linhas 31–55. O servidor consulta e ordena os usuários. O caso de uso é consulta, sem manutenção manual do ranking.</a:t>
            </a:r>
          </a:p>
          <a:p>
            <a:r>
              <a:rPr lang="en-US"/>
              <a:t>Fonte da imagem: diagramas/Stacklyst-seminario/06 Evidencias do seminario/EV-UC011 Consultar ranking de XP.png.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src/app/api/jobs/[id]/applications/route.ts; linhas 1–13. A rota exige papel autorizado. JobService também valida a responsabilidade pela empresa.</a:t>
            </a:r>
          </a:p>
          <a:p>
            <a:r>
              <a:rPr lang="en-US"/>
              <a:t>Fonte da imagem: diagramas/Stacklyst-seminario/06 Evidencias do seminario/EV-UC056 Consultar candidaturas de uma vaga.png.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Fonte do codigo: src/services/job.service.ts; linhas 309–333. A atualização avisa o candidato associado à candidatura. O código não envia um alerta geral por intenção de vaga.</a:t>
            </a:r>
          </a:p>
          <a:p>
            <a:r>
              <a:rPr lang="en-US"/>
              <a:t>Fonte da imagem: diagramas/Stacklyst-seminario/06 Evidencias do seminario/EV-AUTO01 Notificacao automatica da candidatura.png.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Síntese para a apresentação. Processos de negócio retratam atividades humanas antes da plataforma. Casos de uso são objetivos dos atores no Stacklyst. Classes e serviços mostram responsabilidades. O código é a evidência de implementação.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Material de apoio para perguntas e detalhamento. O conjunto de slides contém todas as vistas CL00–CL12 e as sete atividades de negócio revistas.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CL01 do projeto Stacklyst-seminario.asta.</a:t>
            </a:r>
          </a:p>
          <a:p>
            <a:r>
              <a:rPr lang="en-US"/>
              <a:t>Fonte da imagem: diagramas/Stacklyst-seminario/02 Classes de dominio/CL01 Identidade e gamificacao.png.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CL02 do projeto Stacklyst-seminario.asta.</a:t>
            </a:r>
          </a:p>
          <a:p>
            <a:r>
              <a:rPr lang="en-US"/>
              <a:t>Fonte da imagem: diagramas/Stacklyst-seminario/02 Classes de dominio/CL02 Grafo de conhecimento.png.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CL04 do projeto Stacklyst-seminario.asta.</a:t>
            </a:r>
          </a:p>
          <a:p>
            <a:r>
              <a:rPr lang="en-US"/>
              <a:t>Fonte da imagem: diagramas/Stacklyst-seminario/02 Classes de dominio/CL04 Quiz e historico.png.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CL05 do projeto Stacklyst-seminario.asta.</a:t>
            </a:r>
          </a:p>
          <a:p>
            <a:r>
              <a:rPr lang="en-US"/>
              <a:t>Fonte da imagem: diagramas/Stacklyst-seminario/02 Classes de dominio/CL05 Duelos.png.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CL06 do projeto Stacklyst-seminario.asta.</a:t>
            </a:r>
          </a:p>
          <a:p>
            <a:r>
              <a:rPr lang="en-US"/>
              <a:t>Fonte da imagem: diagramas/Stacklyst-seminario/02 Classes de dominio/CL06 Publicacoes e moderacao.png.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CL07 do projeto Stacklyst-seminario.asta.</a:t>
            </a:r>
          </a:p>
          <a:p>
            <a:r>
              <a:rPr lang="en-US"/>
              <a:t>Fonte da imagem: diagramas/Stacklyst-seminario/02 Classes de dominio/CL07 Mensagens privadas.png.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CL10 do projeto Stacklyst-seminario.asta.</a:t>
            </a:r>
          </a:p>
          <a:p>
            <a:r>
              <a:rPr lang="en-US"/>
              <a:t>Fonte da imagem: diagramas/Stacklyst-seminario/02 Classes de dominio/CL10 Suporte mobile.png.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CL11 do projeto Stacklyst-seminario.asta.</a:t>
            </a:r>
          </a:p>
          <a:p>
            <a:r>
              <a:rPr lang="en-US"/>
              <a:t>Fonte da imagem: diagramas/Stacklyst-seminario/02 Classes de dominio/CL11 Catalogo e contratos TypeScript.png.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CL12 do projeto Stacklyst-seminario.asta.</a:t>
            </a:r>
          </a:p>
          <a:p>
            <a:r>
              <a:rPr lang="en-US"/>
              <a:t>Fonte da imagem: diagramas/Stacklyst-seminario/02 Classes de dominio/CL12 Servicos e operacoes reais.png.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AN03 do projeto Stacklyst-seminario.asta.</a:t>
            </a:r>
          </a:p>
          <a:p>
            <a:r>
              <a:rPr lang="en-US"/>
              <a:t>Fonte da imagem: diagramas/Stacklyst-seminario/04 Atividades do negocio/AN03 Praticar exercícios de programação.png.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AN04 do projeto Stacklyst-seminario.asta.</a:t>
            </a:r>
          </a:p>
          <a:p>
            <a:r>
              <a:rPr lang="en-US"/>
              <a:t>Fonte da imagem: diagramas/Stacklyst-seminario/04 Atividades do negocio/AN04 Acompanhar a própria aprendizagem.png.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Diagrama AN06 do projeto Stacklyst-seminario.asta.</a:t>
            </a:r>
          </a:p>
          <a:p>
            <a:r>
              <a:rPr lang="en-US"/>
              <a:t>Fonte da imagem: diagramas/Stacklyst-seminario/04 Atividades do negocio/AN06 Buscar ajuda para uma dúvida.png. Exportacao PNG produzida pelo Astah UML.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Anotações das Orientações da Profª Patrícia, 28/09/2026. Livro fornecido pelo usuário: Gilleanes T. A. Guedes, UML 2 Uma abordagem prática, seções 4.1, 10.6, 10.22. Astah API oficial: https://members.change-vision.com/javadoc/astah-api/12_0_0/api/en/doc/javadoc/index-all.html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Relationship Id="rId4" Target="../media/image40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Relationship Id="rId4" Target="../media/image4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Relationship Id="rId4" Target="../media/image42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Relationship Id="rId4" Target="../media/image43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jpeg" Type="http://schemas.openxmlformats.org/officeDocument/2006/relationships/image"/><Relationship Id="rId4" Target="../media/image44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.jpeg" Type="http://schemas.openxmlformats.org/officeDocument/2006/relationships/image"/><Relationship Id="rId4" Target="../media/image45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.jpeg" Type="http://schemas.openxmlformats.org/officeDocument/2006/relationships/image"/><Relationship Id="rId4" Target="../media/image46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1.jpeg" Type="http://schemas.openxmlformats.org/officeDocument/2006/relationships/image"/><Relationship Id="rId4" Target="../media/image47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1.jpeg" Type="http://schemas.openxmlformats.org/officeDocument/2006/relationships/image"/><Relationship Id="rId4" Target="../media/image48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Relationship Id="rId3" Target="../media/image1.jpe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Relationship Id="rId3" Target="../media/image1.jpeg" Type="http://schemas.openxmlformats.org/officeDocument/2006/relationships/image"/><Relationship Id="rId4" Target="../media/image50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Relationship Id="rId3" Target="../media/image1.jpe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361640"/>
            <a:ext cx="16230600" cy="2400300"/>
            <a:chOff x="0" y="0"/>
            <a:chExt cx="21640800" cy="3200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08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755" r="0" b="-8175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640800" cy="323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594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Processos de negócio,</a:t>
              </a:r>
            </a:p>
            <a:p>
              <a:pPr algn="l">
                <a:lnSpc>
                  <a:spcPts val="7128"/>
                </a:lnSpc>
              </a:pPr>
              <a:r>
                <a:rPr lang="en-US" b="true" sz="594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modelos UML e implementação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972550"/>
            <a:ext cx="14859000" cy="685800"/>
            <a:chOff x="0" y="0"/>
            <a:chExt cx="198120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1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812000">
                  <a:moveTo>
                    <a:pt x="0" y="0"/>
                  </a:moveTo>
                  <a:lnTo>
                    <a:pt x="19812000" y="0"/>
                  </a:lnTo>
                  <a:lnTo>
                    <a:pt x="1981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8120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006C83"/>
                  </a:solidFill>
                  <a:latin typeface="Arial"/>
                  <a:ea typeface="Arial"/>
                  <a:cs typeface="Arial"/>
                  <a:sym typeface="Arial"/>
                </a:rPr>
                <a:t>Laboratório de Engenharia de Software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320164"/>
            <a:ext cx="1777379" cy="1374312"/>
          </a:xfrm>
          <a:custGeom>
            <a:avLst/>
            <a:gdLst/>
            <a:ahLst/>
            <a:cxnLst/>
            <a:rect r="r" b="b" t="t" l="l"/>
            <a:pathLst>
              <a:path h="1374312" w="1777379">
                <a:moveTo>
                  <a:pt x="0" y="0"/>
                </a:moveTo>
                <a:lnTo>
                  <a:pt x="1777379" y="0"/>
                </a:lnTo>
                <a:lnTo>
                  <a:pt x="1777379" y="1374312"/>
                </a:lnTo>
                <a:lnTo>
                  <a:pt x="0" y="1374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07070" y="732621"/>
            <a:ext cx="7402429" cy="225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32"/>
              </a:lnSpc>
            </a:pPr>
            <a:r>
              <a:rPr lang="en-US" b="true" sz="1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Stacklyst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6411278"/>
            <a:ext cx="8358188" cy="1293495"/>
            <a:chOff x="0" y="0"/>
            <a:chExt cx="11144250" cy="17246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44250" cy="1724660"/>
            </a:xfrm>
            <a:custGeom>
              <a:avLst/>
              <a:gdLst/>
              <a:ahLst/>
              <a:cxnLst/>
              <a:rect r="r" b="b" t="t" l="l"/>
              <a:pathLst>
                <a:path h="1724660" w="11144250">
                  <a:moveTo>
                    <a:pt x="0" y="0"/>
                  </a:moveTo>
                  <a:lnTo>
                    <a:pt x="11144250" y="0"/>
                  </a:lnTo>
                  <a:lnTo>
                    <a:pt x="11144250" y="1724660"/>
                  </a:lnTo>
                  <a:lnTo>
                    <a:pt x="0" y="1724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46" r="0" b="-8886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144250" cy="1743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trike="noStrike" u="non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Guilherme Alves de Campos</a:t>
              </a:r>
            </a:p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trike="noStrike" u="non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Paulo Henrique Leal dos Santos</a:t>
              </a:r>
            </a:p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trike="noStrike" u="non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Pedro Antonio Silvestre Tescaro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1556" y="3171825"/>
            <a:ext cx="7872412" cy="5164931"/>
            <a:chOff x="0" y="0"/>
            <a:chExt cx="10496550" cy="6886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96550" cy="6886575"/>
            </a:xfrm>
            <a:custGeom>
              <a:avLst/>
              <a:gdLst/>
              <a:ahLst/>
              <a:cxnLst/>
              <a:rect r="r" b="b" t="t" l="l"/>
              <a:pathLst>
                <a:path h="6886575" w="10496550">
                  <a:moveTo>
                    <a:pt x="0" y="295349"/>
                  </a:moveTo>
                  <a:cubicBezTo>
                    <a:pt x="0" y="132208"/>
                    <a:pt x="136779" y="0"/>
                    <a:pt x="305562" y="0"/>
                  </a:cubicBezTo>
                  <a:lnTo>
                    <a:pt x="10190988" y="0"/>
                  </a:lnTo>
                  <a:cubicBezTo>
                    <a:pt x="10359771" y="0"/>
                    <a:pt x="10496550" y="132208"/>
                    <a:pt x="10496550" y="295349"/>
                  </a:cubicBezTo>
                  <a:lnTo>
                    <a:pt x="10496550" y="6591226"/>
                  </a:lnTo>
                  <a:cubicBezTo>
                    <a:pt x="10496550" y="6754368"/>
                    <a:pt x="10359771" y="6886575"/>
                    <a:pt x="10190988" y="6886575"/>
                  </a:cubicBezTo>
                  <a:lnTo>
                    <a:pt x="305562" y="6886575"/>
                  </a:lnTo>
                  <a:cubicBezTo>
                    <a:pt x="136779" y="6886575"/>
                    <a:pt x="0" y="6754368"/>
                    <a:pt x="0" y="6591226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94031" y="3171825"/>
            <a:ext cx="7872412" cy="5164931"/>
            <a:chOff x="0" y="0"/>
            <a:chExt cx="10496550" cy="6886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96550" cy="6886575"/>
            </a:xfrm>
            <a:custGeom>
              <a:avLst/>
              <a:gdLst/>
              <a:ahLst/>
              <a:cxnLst/>
              <a:rect r="r" b="b" t="t" l="l"/>
              <a:pathLst>
                <a:path h="6886575" w="10496550">
                  <a:moveTo>
                    <a:pt x="0" y="316638"/>
                  </a:moveTo>
                  <a:cubicBezTo>
                    <a:pt x="0" y="141678"/>
                    <a:pt x="136779" y="0"/>
                    <a:pt x="305689" y="0"/>
                  </a:cubicBezTo>
                  <a:lnTo>
                    <a:pt x="10190861" y="0"/>
                  </a:lnTo>
                  <a:cubicBezTo>
                    <a:pt x="10359644" y="0"/>
                    <a:pt x="10496550" y="141678"/>
                    <a:pt x="10496550" y="316638"/>
                  </a:cubicBezTo>
                  <a:lnTo>
                    <a:pt x="10496550" y="6569937"/>
                  </a:lnTo>
                  <a:cubicBezTo>
                    <a:pt x="10496550" y="6744765"/>
                    <a:pt x="10359771" y="6886575"/>
                    <a:pt x="10190861" y="6886575"/>
                  </a:cubicBezTo>
                  <a:lnTo>
                    <a:pt x="305689" y="6886575"/>
                  </a:lnTo>
                  <a:cubicBezTo>
                    <a:pt x="136779" y="6886575"/>
                    <a:pt x="0" y="6744897"/>
                    <a:pt x="0" y="6569937"/>
                  </a:cubicBezTo>
                  <a:close/>
                </a:path>
              </a:pathLst>
            </a:custGeom>
            <a:solidFill>
              <a:srgbClr val="EFF6FF"/>
            </a:solidFill>
            <a:ln w="14288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57338" y="3757612"/>
            <a:ext cx="342900" cy="342900"/>
            <a:chOff x="0" y="0"/>
            <a:chExt cx="457200" cy="4572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9812" y="3936206"/>
            <a:ext cx="342900" cy="342900"/>
            <a:chOff x="0" y="0"/>
            <a:chExt cx="457200" cy="4572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83" r="0" b="-208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1556" y="1038225"/>
            <a:ext cx="172593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Objetivo do produto e necessidade do negócio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71688" y="3688556"/>
            <a:ext cx="37504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Problema central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7338" y="4436269"/>
            <a:ext cx="694372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Estudo disperso:</a:t>
            </a:r>
            <a:r>
              <a:rPr lang="en-US" sz="2137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Fragmentação entre teoria e prática de código.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7338" y="5379244"/>
            <a:ext cx="694372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Baixa constância:</a:t>
            </a:r>
            <a:r>
              <a:rPr lang="en-US" sz="2137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Dificuldade em manter rotina de estudos.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7338" y="6322219"/>
            <a:ext cx="694372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Isolamento:</a:t>
            </a:r>
            <a:r>
              <a:rPr lang="en-US" sz="2137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Interação limitada entre estudantes em formação.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7338" y="7265194"/>
            <a:ext cx="694372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Pouca visibilidade:</a:t>
            </a:r>
            <a:r>
              <a:rPr lang="en-US" sz="2137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Falta de clareza sobre a própria evolução.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44162" y="3867150"/>
            <a:ext cx="493186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Proposta do Stacklyst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9812" y="4614862"/>
            <a:ext cx="694372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1E293B"/>
                </a:solidFill>
                <a:latin typeface="DM Sans Bold"/>
                <a:ea typeface="DM Sans Bold"/>
                <a:cs typeface="DM Sans Bold"/>
                <a:sym typeface="DM Sans Bold"/>
              </a:rPr>
              <a:t>Prática ativa:</a:t>
            </a:r>
            <a:r>
              <a:rPr lang="en-US" sz="2137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Trilhas, lições interativas e execução remota.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9812" y="5557838"/>
            <a:ext cx="8358188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1E293B"/>
                </a:solidFill>
                <a:latin typeface="DM Sans Bold"/>
                <a:ea typeface="DM Sans Bold"/>
                <a:cs typeface="DM Sans Bold"/>
                <a:sym typeface="DM Sans Bold"/>
              </a:rPr>
              <a:t>Engajamento:</a:t>
            </a:r>
            <a:r>
              <a:rPr lang="en-US" sz="2137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XP, níveis, ofensiva, conquistas e faixas.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9812" y="6143625"/>
            <a:ext cx="694372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1E293B"/>
                </a:solidFill>
                <a:latin typeface="DM Sans Bold"/>
                <a:ea typeface="DM Sans Bold"/>
                <a:cs typeface="DM Sans Bold"/>
                <a:sym typeface="DM Sans Bold"/>
              </a:rPr>
              <a:t>Duelos abertos:</a:t>
            </a:r>
            <a:r>
              <a:rPr lang="en-US" sz="2137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Revisão humana em empates técnicos.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9812" y="7086600"/>
            <a:ext cx="694372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1E293B"/>
                </a:solidFill>
                <a:latin typeface="DM Sans Bold"/>
                <a:ea typeface="DM Sans Bold"/>
                <a:cs typeface="DM Sans Bold"/>
                <a:sym typeface="DM Sans Bold"/>
              </a:rPr>
              <a:t>Recrutamento ético:</a:t>
            </a:r>
            <a:r>
              <a:rPr lang="en-US" sz="2137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Desempenho público separado da contratação.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1556" y="4250531"/>
            <a:ext cx="5195964" cy="3186112"/>
            <a:chOff x="0" y="0"/>
            <a:chExt cx="6927952" cy="4248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27977" cy="4248150"/>
            </a:xfrm>
            <a:custGeom>
              <a:avLst/>
              <a:gdLst/>
              <a:ahLst/>
              <a:cxnLst/>
              <a:rect r="r" b="b" t="t" l="l"/>
              <a:pathLst>
                <a:path h="4248150" w="6927977">
                  <a:moveTo>
                    <a:pt x="0" y="306197"/>
                  </a:moveTo>
                  <a:cubicBezTo>
                    <a:pt x="0" y="137033"/>
                    <a:pt x="137033" y="0"/>
                    <a:pt x="306197" y="0"/>
                  </a:cubicBezTo>
                  <a:lnTo>
                    <a:pt x="6621780" y="0"/>
                  </a:lnTo>
                  <a:cubicBezTo>
                    <a:pt x="6790817" y="0"/>
                    <a:pt x="6927977" y="137033"/>
                    <a:pt x="6927977" y="306197"/>
                  </a:cubicBezTo>
                  <a:lnTo>
                    <a:pt x="6927977" y="3941953"/>
                  </a:lnTo>
                  <a:cubicBezTo>
                    <a:pt x="6927977" y="4110990"/>
                    <a:pt x="6790944" y="4248150"/>
                    <a:pt x="6621780" y="4248150"/>
                  </a:cubicBezTo>
                  <a:lnTo>
                    <a:pt x="306197" y="4248150"/>
                  </a:lnTo>
                  <a:cubicBezTo>
                    <a:pt x="137033" y="4248150"/>
                    <a:pt x="0" y="4111117"/>
                    <a:pt x="0" y="394195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46132" y="4250531"/>
            <a:ext cx="5195964" cy="3186112"/>
            <a:chOff x="0" y="0"/>
            <a:chExt cx="6927952" cy="424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27977" cy="4248150"/>
            </a:xfrm>
            <a:custGeom>
              <a:avLst/>
              <a:gdLst/>
              <a:ahLst/>
              <a:cxnLst/>
              <a:rect r="r" b="b" t="t" l="l"/>
              <a:pathLst>
                <a:path h="4248150" w="6927977">
                  <a:moveTo>
                    <a:pt x="0" y="306197"/>
                  </a:moveTo>
                  <a:cubicBezTo>
                    <a:pt x="0" y="137033"/>
                    <a:pt x="137033" y="0"/>
                    <a:pt x="306197" y="0"/>
                  </a:cubicBezTo>
                  <a:lnTo>
                    <a:pt x="6621780" y="0"/>
                  </a:lnTo>
                  <a:cubicBezTo>
                    <a:pt x="6790817" y="0"/>
                    <a:pt x="6927977" y="137033"/>
                    <a:pt x="6927977" y="306197"/>
                  </a:cubicBezTo>
                  <a:lnTo>
                    <a:pt x="6927977" y="3941953"/>
                  </a:lnTo>
                  <a:cubicBezTo>
                    <a:pt x="6927977" y="4110990"/>
                    <a:pt x="6790944" y="4248150"/>
                    <a:pt x="6621780" y="4248150"/>
                  </a:cubicBezTo>
                  <a:lnTo>
                    <a:pt x="306197" y="4248150"/>
                  </a:lnTo>
                  <a:cubicBezTo>
                    <a:pt x="137033" y="4248150"/>
                    <a:pt x="0" y="4111117"/>
                    <a:pt x="0" y="394195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70709" y="4250531"/>
            <a:ext cx="5195964" cy="3412939"/>
            <a:chOff x="0" y="0"/>
            <a:chExt cx="6927952" cy="4550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27976" cy="4550585"/>
            </a:xfrm>
            <a:custGeom>
              <a:avLst/>
              <a:gdLst/>
              <a:ahLst/>
              <a:cxnLst/>
              <a:rect r="r" b="b" t="t" l="l"/>
              <a:pathLst>
                <a:path h="4550585" w="6927976">
                  <a:moveTo>
                    <a:pt x="0" y="296003"/>
                  </a:moveTo>
                  <a:cubicBezTo>
                    <a:pt x="0" y="132526"/>
                    <a:pt x="137033" y="0"/>
                    <a:pt x="306070" y="0"/>
                  </a:cubicBezTo>
                  <a:lnTo>
                    <a:pt x="6621907" y="0"/>
                  </a:lnTo>
                  <a:cubicBezTo>
                    <a:pt x="6790944" y="0"/>
                    <a:pt x="6927976" y="132526"/>
                    <a:pt x="6927976" y="296003"/>
                  </a:cubicBezTo>
                  <a:lnTo>
                    <a:pt x="6927976" y="4254582"/>
                  </a:lnTo>
                  <a:cubicBezTo>
                    <a:pt x="6927976" y="4418059"/>
                    <a:pt x="6790944" y="4550585"/>
                    <a:pt x="6621907" y="4550585"/>
                  </a:cubicBezTo>
                  <a:lnTo>
                    <a:pt x="306070" y="4550585"/>
                  </a:lnTo>
                  <a:cubicBezTo>
                    <a:pt x="137033" y="4550585"/>
                    <a:pt x="0" y="4418059"/>
                    <a:pt x="0" y="425458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00188" y="4729162"/>
            <a:ext cx="400050" cy="400050"/>
            <a:chOff x="0" y="0"/>
            <a:chExt cx="533400" cy="533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024764" y="4729162"/>
            <a:ext cx="457200" cy="400050"/>
            <a:chOff x="0" y="0"/>
            <a:chExt cx="609600" cy="533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09600" cy="533400"/>
            </a:xfrm>
            <a:custGeom>
              <a:avLst/>
              <a:gdLst/>
              <a:ahLst/>
              <a:cxnLst/>
              <a:rect r="r" b="b" t="t" l="l"/>
              <a:pathLst>
                <a:path h="533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62" t="0" r="-156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549340" y="4557712"/>
            <a:ext cx="400050" cy="400050"/>
            <a:chOff x="0" y="0"/>
            <a:chExt cx="533400" cy="533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85" t="0" r="-178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1066800"/>
            <a:ext cx="172593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Fronteiras do escopo da primeira versão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188" y="5348287"/>
            <a:ext cx="556329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Núcleo implementado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0188" y="5929312"/>
            <a:ext cx="438157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Autenticação, trilhas, lições, exercícios, comunidade, ranking e matchmaking por linguagem.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24764" y="5348287"/>
            <a:ext cx="556329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Escopo parcial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24764" y="5929312"/>
            <a:ext cx="438157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Duelos abertos, avaliação humana, gestão de eventos, vagas e moderação administrativa.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49340" y="5176837"/>
            <a:ext cx="556329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Fora do escopo (V1)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49340" y="5757862"/>
            <a:ext cx="438157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Marketplace, pagamentos, videoconferência, certificações externas e convites diretos.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1556" y="3007519"/>
            <a:ext cx="16244888" cy="5614988"/>
            <a:chOff x="0" y="0"/>
            <a:chExt cx="21659850" cy="7486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59850" cy="7486650"/>
            </a:xfrm>
            <a:custGeom>
              <a:avLst/>
              <a:gdLst/>
              <a:ahLst/>
              <a:cxnLst/>
              <a:rect r="r" b="b" t="t" l="l"/>
              <a:pathLst>
                <a:path h="7486650" w="21659850">
                  <a:moveTo>
                    <a:pt x="0" y="0"/>
                  </a:moveTo>
                  <a:lnTo>
                    <a:pt x="21659850" y="0"/>
                  </a:lnTo>
                  <a:lnTo>
                    <a:pt x="21659850" y="7486650"/>
                  </a:lnTo>
                  <a:lnTo>
                    <a:pt x="0" y="7486650"/>
                  </a:lnTo>
                </a:path>
              </a:pathLst>
            </a:custGeom>
            <a:solidFill>
              <a:srgbClr val="F8FAFC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014662"/>
          <a:ext cx="16192500" cy="5524500"/>
        </p:xfrm>
        <a:graphic>
          <a:graphicData uri="http://schemas.openxmlformats.org/drawingml/2006/table">
            <a:tbl>
              <a:tblPr/>
              <a:tblGrid>
                <a:gridCol w="3076851"/>
                <a:gridCol w="6657936"/>
                <a:gridCol w="6457713"/>
              </a:tblGrid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Frente do Projeto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Especificação Registrada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Controle e Mitigação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F172A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Stack Web e Dados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Next.js 16.3, React 19, TypeScript 5, Prisma 7.9 e PostgreSQL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Validação Zod, JWT server-only e rate limit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F172A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Execução de Código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Integração isolada via Wandbox / Judge0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Timeout estrito sem conceder XP em falha externa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F172A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Riscos de Jogo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Prevenção de fraude em ranking e duelos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Idempotência server-side e revisão humana de empates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F172A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Cronograma e Custo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Ciclo de 16/06 a 12/09/2026 com custo direto R$ 0,00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Cotas gratuitas na Vercel e Supabase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066800"/>
            <a:ext cx="172593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Arquitetura, gestão de riscos e viabilidade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Escopo do sistema apresentado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7250" y="2171700"/>
            <a:ext cx="8229600" cy="1129968"/>
            <a:chOff x="0" y="0"/>
            <a:chExt cx="10972800" cy="15066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1506624"/>
            </a:xfrm>
            <a:custGeom>
              <a:avLst/>
              <a:gdLst/>
              <a:ahLst/>
              <a:cxnLst/>
              <a:rect r="r" b="b" t="t" l="l"/>
              <a:pathLst>
                <a:path h="150662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06624"/>
                  </a:lnTo>
                  <a:lnTo>
                    <a:pt x="0" y="1506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20" r="0" b="-849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972800" cy="153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88"/>
                </a:lnSpc>
              </a:pPr>
              <a:r>
                <a:rPr lang="en-US" b="true" sz="5490">
                  <a:solidFill>
                    <a:srgbClr val="006C8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 </a:t>
              </a:r>
              <a:r>
                <a:rPr lang="en-US" b="true" sz="5490">
                  <a:solidFill>
                    <a:srgbClr val="006C8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casos de uso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7250" y="4486275"/>
            <a:ext cx="15201900" cy="1314450"/>
            <a:chOff x="0" y="0"/>
            <a:chExt cx="20269200" cy="1752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2692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20269200">
                  <a:moveTo>
                    <a:pt x="0" y="0"/>
                  </a:moveTo>
                  <a:lnTo>
                    <a:pt x="20269200" y="0"/>
                  </a:lnTo>
                  <a:lnTo>
                    <a:pt x="20269200" y="1752600"/>
                  </a:lnTo>
                  <a:lnTo>
                    <a:pt x="0" y="175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348" r="0" b="-17534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0269200" cy="177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3240">
                  <a:solidFill>
                    <a:srgbClr val="142B3B"/>
                  </a:solidFill>
                  <a:latin typeface="Arial"/>
                  <a:ea typeface="Arial"/>
                  <a:cs typeface="Arial"/>
                  <a:sym typeface="Arial"/>
                </a:rPr>
                <a:t>Estudo, exercícios, duelos, publicações, mensagens, eventos, vagas e administração.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540" y="6890061"/>
            <a:ext cx="15430500" cy="1771650"/>
            <a:chOff x="0" y="0"/>
            <a:chExt cx="20574000" cy="2362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5740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2362200"/>
                  </a:lnTo>
                  <a:lnTo>
                    <a:pt x="0" y="236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708" r="0" b="-11970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0574000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48"/>
                </a:lnSpc>
              </a:pPr>
              <a:r>
                <a:rPr lang="en-US" sz="279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Candidatura à vaga e inscrição no evento são as operações implementadas. A notificação da candidatura acompanha a atualização feita pelo recrutador.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Visão geral de casos de uso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UC00  Agrupamentos das funcionalidades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52214" y="1760220"/>
            <a:ext cx="9983572" cy="7902159"/>
            <a:chOff x="0" y="0"/>
            <a:chExt cx="13311429" cy="105362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11378" cy="10536174"/>
            </a:xfrm>
            <a:custGeom>
              <a:avLst/>
              <a:gdLst/>
              <a:ahLst/>
              <a:cxnLst/>
              <a:rect r="r" b="b" t="t" l="l"/>
              <a:pathLst>
                <a:path h="10536174" w="13311378">
                  <a:moveTo>
                    <a:pt x="0" y="0"/>
                  </a:moveTo>
                  <a:lnTo>
                    <a:pt x="13311378" y="0"/>
                  </a:lnTo>
                  <a:lnTo>
                    <a:pt x="13311378" y="10536174"/>
                  </a:lnTo>
                  <a:lnTo>
                    <a:pt x="0" y="10536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Estudar programação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AN01  Processo atual e responsabilidades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59678" y="1828800"/>
            <a:ext cx="12768634" cy="7738110"/>
            <a:chOff x="0" y="0"/>
            <a:chExt cx="17024845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24858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7024858">
                  <a:moveTo>
                    <a:pt x="0" y="0"/>
                  </a:moveTo>
                  <a:lnTo>
                    <a:pt x="17024858" y="0"/>
                  </a:lnTo>
                  <a:lnTo>
                    <a:pt x="17024858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Divulgar oportunidade de trabalho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AN08A  Processo atual e responsabilidades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934757" y="1828800"/>
            <a:ext cx="12418476" cy="7738110"/>
            <a:chOff x="0" y="0"/>
            <a:chExt cx="16557968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58006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6558006">
                  <a:moveTo>
                    <a:pt x="0" y="0"/>
                  </a:moveTo>
                  <a:lnTo>
                    <a:pt x="16558006" y="0"/>
                  </a:lnTo>
                  <a:lnTo>
                    <a:pt x="16558006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Candidatar-se e acompanhar a seleção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AN08B  Processo atual e responsabilidades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39332" y="1828800"/>
            <a:ext cx="12209336" cy="7738110"/>
            <a:chOff x="0" y="0"/>
            <a:chExt cx="16279114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79113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6279113">
                  <a:moveTo>
                    <a:pt x="0" y="0"/>
                  </a:moveTo>
                  <a:lnTo>
                    <a:pt x="16279113" y="0"/>
                  </a:lnTo>
                  <a:lnTo>
                    <a:pt x="16279113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Descobrir e participar de um evento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AN09  Processo atual e responsabilidades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39332" y="1828800"/>
            <a:ext cx="12209336" cy="7738110"/>
            <a:chOff x="0" y="0"/>
            <a:chExt cx="16279114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79113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6279113">
                  <a:moveTo>
                    <a:pt x="0" y="0"/>
                  </a:moveTo>
                  <a:lnTo>
                    <a:pt x="16279113" y="0"/>
                  </a:lnTo>
                  <a:lnTo>
                    <a:pt x="16279113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t="0" r="-2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Classes e responsabilidades principais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CL00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51005" y="1828800"/>
            <a:ext cx="13185981" cy="7738110"/>
            <a:chOff x="0" y="0"/>
            <a:chExt cx="17581308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581372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7581372">
                  <a:moveTo>
                    <a:pt x="0" y="0"/>
                  </a:moveTo>
                  <a:lnTo>
                    <a:pt x="17581372" y="0"/>
                  </a:lnTo>
                  <a:lnTo>
                    <a:pt x="17581372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Pratica e progresso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CL03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09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96341" y="1956959"/>
            <a:ext cx="10026872" cy="8081286"/>
            <a:chOff x="0" y="0"/>
            <a:chExt cx="13369163" cy="107750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69162" cy="10775061"/>
            </a:xfrm>
            <a:custGeom>
              <a:avLst/>
              <a:gdLst/>
              <a:ahLst/>
              <a:cxnLst/>
              <a:rect r="r" b="b" t="t" l="l"/>
              <a:pathLst>
                <a:path h="10775061" w="13369162">
                  <a:moveTo>
                    <a:pt x="0" y="0"/>
                  </a:moveTo>
                  <a:lnTo>
                    <a:pt x="13369162" y="0"/>
                  </a:lnTo>
                  <a:lnTo>
                    <a:pt x="13369162" y="10775061"/>
                  </a:lnTo>
                  <a:lnTo>
                    <a:pt x="0" y="10775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Vagas e empresas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CL08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7220" y="1846174"/>
            <a:ext cx="17053560" cy="7702525"/>
            <a:chOff x="0" y="0"/>
            <a:chExt cx="22738080" cy="102700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38080" cy="10269982"/>
            </a:xfrm>
            <a:custGeom>
              <a:avLst/>
              <a:gdLst/>
              <a:ahLst/>
              <a:cxnLst/>
              <a:rect r="r" b="b" t="t" l="l"/>
              <a:pathLst>
                <a:path h="10269982" w="22738080">
                  <a:moveTo>
                    <a:pt x="0" y="0"/>
                  </a:moveTo>
                  <a:lnTo>
                    <a:pt x="22738080" y="0"/>
                  </a:lnTo>
                  <a:lnTo>
                    <a:pt x="22738080" y="10269982"/>
                  </a:lnTo>
                  <a:lnTo>
                    <a:pt x="0" y="10269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84" r="0" b="-784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Eventos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CL09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77792" y="1839954"/>
            <a:ext cx="13053574" cy="8001276"/>
            <a:chOff x="0" y="0"/>
            <a:chExt cx="17404766" cy="10668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04714" cy="10668381"/>
            </a:xfrm>
            <a:custGeom>
              <a:avLst/>
              <a:gdLst/>
              <a:ahLst/>
              <a:cxnLst/>
              <a:rect r="r" b="b" t="t" l="l"/>
              <a:pathLst>
                <a:path h="10668381" w="17404714">
                  <a:moveTo>
                    <a:pt x="0" y="0"/>
                  </a:moveTo>
                  <a:lnTo>
                    <a:pt x="17404714" y="0"/>
                  </a:lnTo>
                  <a:lnTo>
                    <a:pt x="17404714" y="10668381"/>
                  </a:lnTo>
                  <a:lnTo>
                    <a:pt x="0" y="10668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" r="0" b="-13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DER do núcleo do Stacklyst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MR00  Chaves e relacionamentos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41915" y="1847155"/>
            <a:ext cx="7604169" cy="8074085"/>
            <a:chOff x="0" y="0"/>
            <a:chExt cx="10138893" cy="1076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38918" cy="10765409"/>
            </a:xfrm>
            <a:custGeom>
              <a:avLst/>
              <a:gdLst/>
              <a:ahLst/>
              <a:cxnLst/>
              <a:rect r="r" b="b" t="t" l="l"/>
              <a:pathLst>
                <a:path h="10765409" w="10138918">
                  <a:moveTo>
                    <a:pt x="0" y="0"/>
                  </a:moveTo>
                  <a:lnTo>
                    <a:pt x="10138918" y="0"/>
                  </a:lnTo>
                  <a:lnTo>
                    <a:pt x="10138918" y="10765409"/>
                  </a:lnTo>
                  <a:lnTo>
                    <a:pt x="0" y="10765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DER de vagas e candidaturas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MR08  Chaves e relacionamentos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7220" y="2616965"/>
            <a:ext cx="17053560" cy="6161770"/>
            <a:chOff x="0" y="0"/>
            <a:chExt cx="22738080" cy="82156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38080" cy="8215757"/>
            </a:xfrm>
            <a:custGeom>
              <a:avLst/>
              <a:gdLst/>
              <a:ahLst/>
              <a:cxnLst/>
              <a:rect r="r" b="b" t="t" l="l"/>
              <a:pathLst>
                <a:path h="8215757" w="22738080">
                  <a:moveTo>
                    <a:pt x="0" y="0"/>
                  </a:moveTo>
                  <a:lnTo>
                    <a:pt x="22738080" y="0"/>
                  </a:lnTo>
                  <a:lnTo>
                    <a:pt x="22738080" y="8215757"/>
                  </a:lnTo>
                  <a:lnTo>
                    <a:pt x="0" y="8215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Estudar lição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UC005  Caso de uso e código correspondente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Carrega a lição, valida o acesso e entrega conteúdo e progresso à interface.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17820" y="2530945"/>
            <a:ext cx="12115800" cy="6116641"/>
            <a:chOff x="0" y="0"/>
            <a:chExt cx="16154400" cy="81555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54400" cy="8155559"/>
            </a:xfrm>
            <a:custGeom>
              <a:avLst/>
              <a:gdLst/>
              <a:ahLst/>
              <a:cxnLst/>
              <a:rect r="r" b="b" t="t" l="l"/>
              <a:pathLst>
                <a:path h="8155559" w="16154400">
                  <a:moveTo>
                    <a:pt x="0" y="0"/>
                  </a:moveTo>
                  <a:lnTo>
                    <a:pt x="16154400" y="0"/>
                  </a:lnTo>
                  <a:lnTo>
                    <a:pt x="16154400" y="8155559"/>
                  </a:lnTo>
                  <a:lnTo>
                    <a:pt x="0" y="8155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Resolver exercício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UC006  Caso de uso e código correspondente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Avalia a resposta no servidor. Testar código não concede XP nem conclui a etapa.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17820" y="2069135"/>
            <a:ext cx="12115800" cy="7040261"/>
            <a:chOff x="0" y="0"/>
            <a:chExt cx="16154400" cy="93870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54400" cy="9387078"/>
            </a:xfrm>
            <a:custGeom>
              <a:avLst/>
              <a:gdLst/>
              <a:ahLst/>
              <a:cxnLst/>
              <a:rect r="r" b="b" t="t" l="l"/>
              <a:pathLst>
                <a:path h="9387078" w="16154400">
                  <a:moveTo>
                    <a:pt x="0" y="0"/>
                  </a:moveTo>
                  <a:lnTo>
                    <a:pt x="16154400" y="0"/>
                  </a:lnTo>
                  <a:lnTo>
                    <a:pt x="16154400" y="9387078"/>
                  </a:lnTo>
                  <a:lnTo>
                    <a:pt x="0" y="9387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Publicar vaga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UC017  Caso de uso e código correspondente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Exige papel de recrutador ou administrador e vínculo autorizado com a empresa.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912596" y="1897380"/>
            <a:ext cx="11126248" cy="7383780"/>
            <a:chOff x="0" y="0"/>
            <a:chExt cx="14834997" cy="9845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834997" cy="9845040"/>
            </a:xfrm>
            <a:custGeom>
              <a:avLst/>
              <a:gdLst/>
              <a:ahLst/>
              <a:cxnLst/>
              <a:rect r="r" b="b" t="t" l="l"/>
              <a:pathLst>
                <a:path h="9845040" w="14834997">
                  <a:moveTo>
                    <a:pt x="0" y="0"/>
                  </a:moveTo>
                  <a:lnTo>
                    <a:pt x="14834997" y="0"/>
                  </a:lnTo>
                  <a:lnTo>
                    <a:pt x="14834997" y="9845040"/>
                  </a:lnTo>
                  <a:lnTo>
                    <a:pt x="0" y="9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Candidatar-se a vaga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UC022  Caso de uso e código correspondente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Verifica a vaga aberta e cria uma candidatura vinculada ao usuário e à etapa inicial.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42371" y="1897380"/>
            <a:ext cx="10466699" cy="7383780"/>
            <a:chOff x="0" y="0"/>
            <a:chExt cx="13955598" cy="9845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55649" cy="9845040"/>
            </a:xfrm>
            <a:custGeom>
              <a:avLst/>
              <a:gdLst/>
              <a:ahLst/>
              <a:cxnLst/>
              <a:rect r="r" b="b" t="t" l="l"/>
              <a:pathLst>
                <a:path h="9845040" w="13955649">
                  <a:moveTo>
                    <a:pt x="0" y="0"/>
                  </a:moveTo>
                  <a:lnTo>
                    <a:pt x="13955649" y="0"/>
                  </a:lnTo>
                  <a:lnTo>
                    <a:pt x="13955649" y="9845040"/>
                  </a:lnTo>
                  <a:lnTo>
                    <a:pt x="0" y="9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Inscrever-se ou cancelar participação em evento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UC023  Caso de uso e código correspondente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POST confirma a inscrição. DELETE cancela a participação do usuário autenticado.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30772" y="1897380"/>
            <a:ext cx="10289896" cy="7383780"/>
            <a:chOff x="0" y="0"/>
            <a:chExt cx="13719861" cy="9845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19811" cy="9845040"/>
            </a:xfrm>
            <a:custGeom>
              <a:avLst/>
              <a:gdLst/>
              <a:ahLst/>
              <a:cxnLst/>
              <a:rect r="r" b="b" t="t" l="l"/>
              <a:pathLst>
                <a:path h="9845040" w="13719811">
                  <a:moveTo>
                    <a:pt x="0" y="0"/>
                  </a:moveTo>
                  <a:lnTo>
                    <a:pt x="13719811" y="0"/>
                  </a:lnTo>
                  <a:lnTo>
                    <a:pt x="13719811" y="9845040"/>
                  </a:lnTo>
                  <a:lnTo>
                    <a:pt x="0" y="9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Atualizar etapa de candidatura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UC026  Caso de uso e código correspondente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19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Confere a empresa, a candidatura e a etapa antes de atualizar o processo.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21092" y="1897380"/>
            <a:ext cx="10509247" cy="7383780"/>
            <a:chOff x="0" y="0"/>
            <a:chExt cx="14012329" cy="9845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012290" cy="9845040"/>
            </a:xfrm>
            <a:custGeom>
              <a:avLst/>
              <a:gdLst/>
              <a:ahLst/>
              <a:cxnLst/>
              <a:rect r="r" b="b" t="t" l="l"/>
              <a:pathLst>
                <a:path h="9845040" w="14012290">
                  <a:moveTo>
                    <a:pt x="0" y="0"/>
                  </a:moveTo>
                  <a:lnTo>
                    <a:pt x="14012290" y="0"/>
                  </a:lnTo>
                  <a:lnTo>
                    <a:pt x="14012290" y="9845040"/>
                  </a:lnTo>
                  <a:lnTo>
                    <a:pt x="0" y="9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Criar publicação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UC013  Caso de uso e código correspondente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 criação grava a publicação e concede XP na mesma transação.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984881" y="1897380"/>
            <a:ext cx="10981668" cy="7383780"/>
            <a:chOff x="0" y="0"/>
            <a:chExt cx="14642224" cy="9845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2212" cy="9845040"/>
            </a:xfrm>
            <a:custGeom>
              <a:avLst/>
              <a:gdLst/>
              <a:ahLst/>
              <a:cxnLst/>
              <a:rect r="r" b="b" t="t" l="l"/>
              <a:pathLst>
                <a:path h="9845040" w="14642212">
                  <a:moveTo>
                    <a:pt x="0" y="0"/>
                  </a:moveTo>
                  <a:lnTo>
                    <a:pt x="14642212" y="0"/>
                  </a:lnTo>
                  <a:lnTo>
                    <a:pt x="14642212" y="9845040"/>
                  </a:lnTo>
                  <a:lnTo>
                    <a:pt x="0" y="9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Consultar ranking de XP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UC011  Caso de uso e código correspondente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O servidor consulta e ordena os usuários. O caso de uso é consulta, sem manutenção manual do ranking.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06321" y="1897380"/>
            <a:ext cx="9738798" cy="7383780"/>
            <a:chOff x="0" y="0"/>
            <a:chExt cx="12985064" cy="9845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85115" cy="9845040"/>
            </a:xfrm>
            <a:custGeom>
              <a:avLst/>
              <a:gdLst/>
              <a:ahLst/>
              <a:cxnLst/>
              <a:rect r="r" b="b" t="t" l="l"/>
              <a:pathLst>
                <a:path h="9845040" w="12985115">
                  <a:moveTo>
                    <a:pt x="0" y="0"/>
                  </a:moveTo>
                  <a:lnTo>
                    <a:pt x="12985115" y="0"/>
                  </a:lnTo>
                  <a:lnTo>
                    <a:pt x="12985115" y="9845040"/>
                  </a:lnTo>
                  <a:lnTo>
                    <a:pt x="0" y="9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Consultar candidaturas de uma vaga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UC056  Caso de uso e código correspondente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 rota exige papel autorizado. JobService também valida a responsabilidade pela empresa.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17820" y="2923794"/>
            <a:ext cx="12115800" cy="5330952"/>
            <a:chOff x="0" y="0"/>
            <a:chExt cx="16154400" cy="71079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54400" cy="7107936"/>
            </a:xfrm>
            <a:custGeom>
              <a:avLst/>
              <a:gdLst/>
              <a:ahLst/>
              <a:cxnLst/>
              <a:rect r="r" b="b" t="t" l="l"/>
              <a:pathLst>
                <a:path h="7107936" w="16154400">
                  <a:moveTo>
                    <a:pt x="0" y="0"/>
                  </a:moveTo>
                  <a:lnTo>
                    <a:pt x="16154400" y="0"/>
                  </a:lnTo>
                  <a:lnTo>
                    <a:pt x="16154400" y="7107936"/>
                  </a:lnTo>
                  <a:lnTo>
                    <a:pt x="0" y="7107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Notificação automática da candidatura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Comportamento interno ligado a UC026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950" y="7258050"/>
            <a:ext cx="4114800" cy="2000250"/>
            <a:chOff x="0" y="0"/>
            <a:chExt cx="54864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69" t="0" r="-123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8640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 atualização avisa o candidato associado à candidatura. O código não envia um alerta geral por intenção de vaga.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06321" y="1897380"/>
            <a:ext cx="9738798" cy="7383780"/>
            <a:chOff x="0" y="0"/>
            <a:chExt cx="12985064" cy="9845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85115" cy="9845040"/>
            </a:xfrm>
            <a:custGeom>
              <a:avLst/>
              <a:gdLst/>
              <a:ahLst/>
              <a:cxnLst/>
              <a:rect r="r" b="b" t="t" l="l"/>
              <a:pathLst>
                <a:path h="9845040" w="12985115">
                  <a:moveTo>
                    <a:pt x="0" y="0"/>
                  </a:moveTo>
                  <a:lnTo>
                    <a:pt x="12985115" y="0"/>
                  </a:lnTo>
                  <a:lnTo>
                    <a:pt x="12985115" y="9845040"/>
                  </a:lnTo>
                  <a:lnTo>
                    <a:pt x="0" y="9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2885942"/>
            <a:ext cx="4229100" cy="3200657"/>
            <a:chOff x="0" y="0"/>
            <a:chExt cx="5638800" cy="4267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38800" cy="4267581"/>
            </a:xfrm>
            <a:custGeom>
              <a:avLst/>
              <a:gdLst/>
              <a:ahLst/>
              <a:cxnLst/>
              <a:rect r="r" b="b" t="t" l="l"/>
              <a:pathLst>
                <a:path h="4267581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4267581"/>
                  </a:lnTo>
                  <a:lnTo>
                    <a:pt x="0" y="426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Relação entre processo e implementação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1540" y="2286000"/>
            <a:ext cx="6858000" cy="685800"/>
            <a:chOff x="0" y="0"/>
            <a:chExt cx="91440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04"/>
                </a:lnSpc>
              </a:pPr>
              <a:r>
                <a:rPr lang="en-US" b="true" sz="3420">
                  <a:solidFill>
                    <a:srgbClr val="006C8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Processo de negócio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1540" y="3200400"/>
            <a:ext cx="14859000" cy="1028700"/>
            <a:chOff x="0" y="0"/>
            <a:chExt cx="19812000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12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812000">
                  <a:moveTo>
                    <a:pt x="0" y="0"/>
                  </a:moveTo>
                  <a:lnTo>
                    <a:pt x="19812000" y="0"/>
                  </a:lnTo>
                  <a:lnTo>
                    <a:pt x="19812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9812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970">
                  <a:solidFill>
                    <a:srgbClr val="142B3B"/>
                  </a:solidFill>
                  <a:latin typeface="Arial"/>
                  <a:ea typeface="Arial"/>
                  <a:cs typeface="Arial"/>
                  <a:sym typeface="Arial"/>
                </a:rPr>
                <a:t>A pessoa define o objetivo, pesquisa, pratica e acompanha o resultado.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540" y="5086350"/>
            <a:ext cx="8001000" cy="685800"/>
            <a:chOff x="0" y="0"/>
            <a:chExt cx="10668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6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6680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04"/>
                </a:lnSpc>
              </a:pPr>
              <a:r>
                <a:rPr lang="en-US" b="true" sz="3420">
                  <a:solidFill>
                    <a:srgbClr val="006C8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Comportamento do sistema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1540" y="6000750"/>
            <a:ext cx="15087600" cy="1257300"/>
            <a:chOff x="0" y="0"/>
            <a:chExt cx="20116800" cy="167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168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0116800" cy="1695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970">
                  <a:solidFill>
                    <a:srgbClr val="142B3B"/>
                  </a:solidFill>
                  <a:latin typeface="Arial"/>
                  <a:ea typeface="Arial"/>
                  <a:cs typeface="Arial"/>
                  <a:sym typeface="Arial"/>
                </a:rPr>
                <a:t>O caso de uso identifica a interação. O serviço executa a operação e registra o resultado.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1540" y="8549640"/>
            <a:ext cx="16002000" cy="685800"/>
            <a:chOff x="0" y="0"/>
            <a:chExt cx="213360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3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336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1"/>
                </a:lnSpc>
              </a:pPr>
              <a:r>
                <a:rPr lang="en-US" sz="26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Os diagramas e as capturas usam os mesmos nomes e referências.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Diagramas complementares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971800"/>
            <a:ext cx="16002000" cy="2514600"/>
            <a:chOff x="0" y="0"/>
            <a:chExt cx="21336000" cy="335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352800"/>
                  </a:lnTo>
                  <a:lnTo>
                    <a:pt x="0" y="3352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336000" cy="3381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6"/>
                </a:lnSpc>
              </a:pPr>
              <a:r>
                <a:rPr lang="en-US" b="true" sz="513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Classes por domínio e processos</a:t>
              </a:r>
            </a:p>
            <a:p>
              <a:pPr algn="l">
                <a:lnSpc>
                  <a:spcPts val="6156"/>
                </a:lnSpc>
              </a:pPr>
              <a:r>
                <a:rPr lang="en-US" b="true" sz="513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complementares de aprendizagem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7260" y="7086600"/>
            <a:ext cx="15430500" cy="800100"/>
            <a:chOff x="0" y="0"/>
            <a:chExt cx="20574000" cy="1066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74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574000" cy="1076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006C83"/>
                  </a:solidFill>
                  <a:latin typeface="Arial"/>
                  <a:ea typeface="Arial"/>
                  <a:cs typeface="Arial"/>
                  <a:sym typeface="Arial"/>
                </a:rPr>
                <a:t>Material de apoio para discussão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Identidade e gamificação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CL01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477225" y="1942881"/>
            <a:ext cx="10842974" cy="7567098"/>
            <a:chOff x="0" y="0"/>
            <a:chExt cx="14457299" cy="10089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57299" cy="10089515"/>
            </a:xfrm>
            <a:custGeom>
              <a:avLst/>
              <a:gdLst/>
              <a:ahLst/>
              <a:cxnLst/>
              <a:rect r="r" b="b" t="t" l="l"/>
              <a:pathLst>
                <a:path h="10089515" w="14457299">
                  <a:moveTo>
                    <a:pt x="0" y="0"/>
                  </a:moveTo>
                  <a:lnTo>
                    <a:pt x="14457299" y="0"/>
                  </a:lnTo>
                  <a:lnTo>
                    <a:pt x="14457299" y="10089515"/>
                  </a:lnTo>
                  <a:lnTo>
                    <a:pt x="0" y="10089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Grafo de conhecimento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CL02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3200" y="2274056"/>
            <a:ext cx="11511020" cy="7162552"/>
            <a:chOff x="0" y="0"/>
            <a:chExt cx="15348026" cy="9550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348077" cy="9550019"/>
            </a:xfrm>
            <a:custGeom>
              <a:avLst/>
              <a:gdLst/>
              <a:ahLst/>
              <a:cxnLst/>
              <a:rect r="r" b="b" t="t" l="l"/>
              <a:pathLst>
                <a:path h="9550019" w="15348077">
                  <a:moveTo>
                    <a:pt x="0" y="0"/>
                  </a:moveTo>
                  <a:lnTo>
                    <a:pt x="15348077" y="0"/>
                  </a:lnTo>
                  <a:lnTo>
                    <a:pt x="15348077" y="9550019"/>
                  </a:lnTo>
                  <a:lnTo>
                    <a:pt x="0" y="9550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Quiz e histórico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CL04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28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22253" y="2041398"/>
            <a:ext cx="11689213" cy="7370064"/>
            <a:chOff x="0" y="0"/>
            <a:chExt cx="15585618" cy="9826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85567" cy="9826752"/>
            </a:xfrm>
            <a:custGeom>
              <a:avLst/>
              <a:gdLst/>
              <a:ahLst/>
              <a:cxnLst/>
              <a:rect r="r" b="b" t="t" l="l"/>
              <a:pathLst>
                <a:path h="9826752" w="15585567">
                  <a:moveTo>
                    <a:pt x="0" y="0"/>
                  </a:moveTo>
                  <a:lnTo>
                    <a:pt x="15585567" y="0"/>
                  </a:lnTo>
                  <a:lnTo>
                    <a:pt x="15585567" y="9826752"/>
                  </a:lnTo>
                  <a:lnTo>
                    <a:pt x="0" y="9826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Duelos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CL05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29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08952" y="1828800"/>
            <a:ext cx="10172386" cy="8309610"/>
            <a:chOff x="0" y="0"/>
            <a:chExt cx="13563181" cy="11079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63219" cy="11079480"/>
            </a:xfrm>
            <a:custGeom>
              <a:avLst/>
              <a:gdLst/>
              <a:ahLst/>
              <a:cxnLst/>
              <a:rect r="r" b="b" t="t" l="l"/>
              <a:pathLst>
                <a:path h="11079480" w="13563219">
                  <a:moveTo>
                    <a:pt x="0" y="0"/>
                  </a:moveTo>
                  <a:lnTo>
                    <a:pt x="13563219" y="0"/>
                  </a:lnTo>
                  <a:lnTo>
                    <a:pt x="13563219" y="11079480"/>
                  </a:lnTo>
                  <a:lnTo>
                    <a:pt x="0" y="11079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492"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Publicações e moderação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CL06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50624" y="1828800"/>
            <a:ext cx="9986039" cy="7738110"/>
            <a:chOff x="0" y="0"/>
            <a:chExt cx="13314718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14680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3314680">
                  <a:moveTo>
                    <a:pt x="0" y="0"/>
                  </a:moveTo>
                  <a:lnTo>
                    <a:pt x="13314680" y="0"/>
                  </a:lnTo>
                  <a:lnTo>
                    <a:pt x="13314680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Mensagens privadas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CL07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31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12919" y="1828800"/>
            <a:ext cx="8380505" cy="7738110"/>
            <a:chOff x="0" y="0"/>
            <a:chExt cx="11174006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73968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1173968">
                  <a:moveTo>
                    <a:pt x="0" y="0"/>
                  </a:moveTo>
                  <a:lnTo>
                    <a:pt x="11173968" y="0"/>
                  </a:lnTo>
                  <a:lnTo>
                    <a:pt x="11173968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Suporte mobile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CL10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23731" y="1828800"/>
            <a:ext cx="10240547" cy="7738110"/>
            <a:chOff x="0" y="0"/>
            <a:chExt cx="13654062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54024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3654024">
                  <a:moveTo>
                    <a:pt x="0" y="0"/>
                  </a:moveTo>
                  <a:lnTo>
                    <a:pt x="13654024" y="0"/>
                  </a:lnTo>
                  <a:lnTo>
                    <a:pt x="13654024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Catalogo e contratos TypeScript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CL11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33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36516" y="2100224"/>
            <a:ext cx="11438182" cy="7592416"/>
            <a:chOff x="0" y="0"/>
            <a:chExt cx="15250909" cy="10123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50922" cy="10123170"/>
            </a:xfrm>
            <a:custGeom>
              <a:avLst/>
              <a:gdLst/>
              <a:ahLst/>
              <a:cxnLst/>
              <a:rect r="r" b="b" t="t" l="l"/>
              <a:pathLst>
                <a:path h="10123170" w="15250922">
                  <a:moveTo>
                    <a:pt x="0" y="0"/>
                  </a:moveTo>
                  <a:lnTo>
                    <a:pt x="15250922" y="0"/>
                  </a:lnTo>
                  <a:lnTo>
                    <a:pt x="15250922" y="10123170"/>
                  </a:lnTo>
                  <a:lnTo>
                    <a:pt x="0" y="10123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10" r="-3" b="-1310"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Serviços e operações reais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CL12  Operações e dados sob responsabilidade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34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99428" y="1722977"/>
            <a:ext cx="8090011" cy="8165821"/>
            <a:chOff x="0" y="0"/>
            <a:chExt cx="10786682" cy="108877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86745" cy="10887710"/>
            </a:xfrm>
            <a:custGeom>
              <a:avLst/>
              <a:gdLst/>
              <a:ahLst/>
              <a:cxnLst/>
              <a:rect r="r" b="b" t="t" l="l"/>
              <a:pathLst>
                <a:path h="10887710" w="10786745">
                  <a:moveTo>
                    <a:pt x="0" y="0"/>
                  </a:moveTo>
                  <a:lnTo>
                    <a:pt x="10786745" y="0"/>
                  </a:lnTo>
                  <a:lnTo>
                    <a:pt x="10786745" y="10887710"/>
                  </a:lnTo>
                  <a:lnTo>
                    <a:pt x="0" y="10887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5"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Praticar exercícios de programação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AN03  Processo atual e responsabilidades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35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60012" y="1828800"/>
            <a:ext cx="13367976" cy="7738110"/>
            <a:chOff x="0" y="0"/>
            <a:chExt cx="17823967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23942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7823942">
                  <a:moveTo>
                    <a:pt x="0" y="0"/>
                  </a:moveTo>
                  <a:lnTo>
                    <a:pt x="17823942" y="0"/>
                  </a:lnTo>
                  <a:lnTo>
                    <a:pt x="17823942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Acompanhar a própria aprendizagem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AN04  Processo atual e responsabilidades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36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60012" y="1857375"/>
            <a:ext cx="13367976" cy="7738110"/>
            <a:chOff x="0" y="0"/>
            <a:chExt cx="17823967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23942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7823942">
                  <a:moveTo>
                    <a:pt x="0" y="0"/>
                  </a:moveTo>
                  <a:lnTo>
                    <a:pt x="17823942" y="0"/>
                  </a:lnTo>
                  <a:lnTo>
                    <a:pt x="17823942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Buscar ajuda para uma dúvida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2950" y="1211580"/>
            <a:ext cx="16573500" cy="548640"/>
            <a:chOff x="0" y="0"/>
            <a:chExt cx="2209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10" r="0" b="-538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09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AN06  Processo atual e responsabilidades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37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20028" y="1828800"/>
            <a:ext cx="12047944" cy="7738110"/>
            <a:chOff x="0" y="0"/>
            <a:chExt cx="16063925" cy="10317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63976" cy="10317480"/>
            </a:xfrm>
            <a:custGeom>
              <a:avLst/>
              <a:gdLst/>
              <a:ahLst/>
              <a:cxnLst/>
              <a:rect r="r" b="b" t="t" l="l"/>
              <a:pathLst>
                <a:path h="10317480" w="16063976">
                  <a:moveTo>
                    <a:pt x="0" y="0"/>
                  </a:moveTo>
                  <a:lnTo>
                    <a:pt x="16063976" y="0"/>
                  </a:lnTo>
                  <a:lnTo>
                    <a:pt x="16063976" y="10317480"/>
                  </a:lnTo>
                  <a:lnTo>
                    <a:pt x="0" y="1031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660" y="365760"/>
            <a:ext cx="16916400" cy="822960"/>
            <a:chOff x="0" y="0"/>
            <a:chExt cx="22555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5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387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Referências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30700" y="9692640"/>
            <a:ext cx="571500" cy="297180"/>
            <a:chOff x="0" y="0"/>
            <a:chExt cx="762000" cy="396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" cy="396240"/>
            </a:xfrm>
            <a:custGeom>
              <a:avLst/>
              <a:gdLst/>
              <a:ahLst/>
              <a:cxnLst/>
              <a:rect r="r" b="b" t="t" l="l"/>
              <a:pathLst>
                <a:path h="39624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96240"/>
                  </a:lnTo>
                  <a:lnTo>
                    <a:pt x="0" y="39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762000" cy="4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52"/>
                </a:lnSpc>
              </a:pPr>
              <a:r>
                <a:rPr lang="en-US" sz="1710">
                  <a:solidFill>
                    <a:srgbClr val="51626D"/>
                  </a:solidFill>
                  <a:latin typeface="Arial"/>
                  <a:ea typeface="Arial"/>
                  <a:cs typeface="Arial"/>
                  <a:sym typeface="Arial"/>
                </a:rPr>
                <a:t>38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171700"/>
            <a:ext cx="16002000" cy="685800"/>
            <a:chOff x="0" y="0"/>
            <a:chExt cx="213360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336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b="true" sz="324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Orientações da Profª Patrícia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017520"/>
            <a:ext cx="15887700" cy="914400"/>
            <a:chOff x="0" y="0"/>
            <a:chExt cx="211836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8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183600">
                  <a:moveTo>
                    <a:pt x="0" y="0"/>
                  </a:moveTo>
                  <a:lnTo>
                    <a:pt x="21183600" y="0"/>
                  </a:lnTo>
                  <a:lnTo>
                    <a:pt x="2118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552" r="0" b="-2885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18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1"/>
                </a:lnSpc>
              </a:pPr>
              <a:r>
                <a:rPr lang="en-US" sz="2610">
                  <a:solidFill>
                    <a:srgbClr val="142B3B"/>
                  </a:solidFill>
                  <a:latin typeface="Arial"/>
                  <a:ea typeface="Arial"/>
                  <a:cs typeface="Arial"/>
                  <a:sym typeface="Arial"/>
                </a:rPr>
                <a:t>Revisão de 28 de setembro de 2026, consolidada no documento fornecido.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4457700"/>
            <a:ext cx="16002000" cy="685800"/>
            <a:chOff x="0" y="0"/>
            <a:chExt cx="21336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1336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b="true" sz="324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Gilleanes T. A. Guedes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5303520"/>
            <a:ext cx="15887700" cy="914400"/>
            <a:chOff x="0" y="0"/>
            <a:chExt cx="211836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18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183600">
                  <a:moveTo>
                    <a:pt x="0" y="0"/>
                  </a:moveTo>
                  <a:lnTo>
                    <a:pt x="21183600" y="0"/>
                  </a:lnTo>
                  <a:lnTo>
                    <a:pt x="2118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552" r="0" b="-2885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18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1"/>
                </a:lnSpc>
              </a:pPr>
              <a:r>
                <a:rPr lang="en-US" sz="2610">
                  <a:solidFill>
                    <a:srgbClr val="142B3B"/>
                  </a:solidFill>
                  <a:latin typeface="Arial"/>
                  <a:ea typeface="Arial"/>
                  <a:cs typeface="Arial"/>
                  <a:sym typeface="Arial"/>
                </a:rPr>
                <a:t>UML 2 Uma abordagem prática. Classes, decisões e partições de atividade.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6743700"/>
            <a:ext cx="16002000" cy="685800"/>
            <a:chOff x="0" y="0"/>
            <a:chExt cx="213360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3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336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b="true" sz="3240">
                  <a:solidFill>
                    <a:srgbClr val="142B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Código e modelos do Stacklyst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7589520"/>
            <a:ext cx="15887700" cy="914400"/>
            <a:chOff x="0" y="0"/>
            <a:chExt cx="2118360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18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183600">
                  <a:moveTo>
                    <a:pt x="0" y="0"/>
                  </a:moveTo>
                  <a:lnTo>
                    <a:pt x="21183600" y="0"/>
                  </a:lnTo>
                  <a:lnTo>
                    <a:pt x="2118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552" r="0" b="-2885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118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1"/>
                </a:lnSpc>
              </a:pPr>
              <a:r>
                <a:rPr lang="en-US" sz="2610">
                  <a:solidFill>
                    <a:srgbClr val="142B3B"/>
                  </a:solidFill>
                  <a:latin typeface="Arial"/>
                  <a:ea typeface="Arial"/>
                  <a:cs typeface="Arial"/>
                  <a:sym typeface="Arial"/>
                </a:rPr>
                <a:t>Commit 9256a4f, schema Prisma e projeto Stacklyst-seminario.asta.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DAHYduen38M</dc:identifier>
  <dcterms:modified xsi:type="dcterms:W3CDTF">2011-08-01T06:04:30Z</dcterms:modified>
  <cp:revision>1</cp:revision>
  <dc:title>Stacklyst-seminario-Astah (1).pptx</dc:title>
</cp:coreProperties>
</file>